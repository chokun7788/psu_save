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407138af54084" /><Relationship Type="http://schemas.openxmlformats.org/officeDocument/2006/relationships/extended-properties" Target="/docProps/app.xml" Id="R5a4a15f9cafa4b25" /><Relationship Type="http://schemas.openxmlformats.org/officeDocument/2006/relationships/officeDocument" Target="/ppt/presentation.xml" Id="R27408945fe2d4f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c8ce2d4fb4d08"/>
  </p:sldMasterIdLst>
  <p:notesMasterIdLst>
    <p:notesMasterId xmlns:r="http://schemas.openxmlformats.org/officeDocument/2006/relationships" r:id="Rbdb1550835fa408b"/>
  </p:notesMasterIdLst>
  <p:sldIdLst>
    <p:sldId xmlns:r="http://schemas.openxmlformats.org/officeDocument/2006/relationships" id="256" r:id="Rc6f5d9961dee4485"/>
  </p:sldIdLst>
  <p:sldSz cx="30275784" cy="42806112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e3aaf031e4f9d" /><Relationship Type="http://schemas.openxmlformats.org/officeDocument/2006/relationships/slideMaster" Target="/ppt/slideMasters/slideMaster1.xml" Id="R1f3c8ce2d4fb4d08" /><Relationship Type="http://schemas.openxmlformats.org/officeDocument/2006/relationships/notesMaster" Target="/ppt/notesMasters/notesMaster1.xml" Id="Rbdb1550835fa408b" /><Relationship Type="http://schemas.openxmlformats.org/officeDocument/2006/relationships/presProps" Target="/ppt/presProps.xml" Id="Rdf8865d38cfa43f5" /><Relationship Type="http://schemas.openxmlformats.org/officeDocument/2006/relationships/tableStyles" Target="/ppt/tableStyles.xml" Id="Rcd6e7af7b4bf4e86" /><Relationship Type="http://schemas.openxmlformats.org/officeDocument/2006/relationships/slide" Target="/ppt/slides/slide1.xml" Id="Rc6f5d9961dee44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ecc84937a4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0febbf6cb405c" /><Relationship Type="http://schemas.openxmlformats.org/officeDocument/2006/relationships/notesMaster" Target="/ppt/notesMasters/notesMaster1.xml" Id="R2cd94a930694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Official A0 background supplied by the user: D:/Download New/SuperAI6_PosterA0-Template_PNG.png</a:t>
            </a:r>
          </a:p>
          <a:p xmlns:a="http://schemas.openxmlformats.org/drawingml/2006/main">
            <a:r>
              <a:t>PSU Esports Studio logo supplied by the user: C:/Users/Chokhun/Downloads/Sticker.pdf.png</a:t>
            </a:r>
          </a:p>
          <a:p xmlns:a="http://schemas.openxmlformats.org/drawingml/2006/main">
            <a:r>
              <a:t>Design references supplied by the user: D:/Download New/_Real-Time Conversational AI Pipeline Poster.pdf; C:/Users/Chokhun/AppData/Local/Temp/1.png; C:/Users/Chokhun/AppData/Local/Temp/codex-clipboard-83d3ecea-c793-438d-83d8-9c66c7f7bb4a.png</a:t>
            </a:r>
          </a:p>
          <a:p xmlns:a="http://schemas.openxmlformats.org/drawingml/2006/main">
            <a:r>
              <a:t>Live chatbot screenshot captured from the local PSU Esports website and API on 2026-08-28. Route: service_fee_query. Latency: 240 ms. Confidence: 0.97.</a:t>
            </a:r>
          </a:p>
          <a:p xmlns:a="http://schemas.openxmlformats.org/drawingml/2006/main">
            <a:r>
              <a:t>Project architecture and evaluation: project Flow 43, project docs, and daily logs dated 2026-08-27 to 2026-08-28.</a:t>
            </a:r>
          </a:p>
          <a:p xmlns:a="http://schemas.openxmlformats.org/drawingml/2006/main">
            <a:r>
              <a:t>PSU Esports Studio official website: https://esports.phuket.psu.ac.th/</a:t>
            </a:r>
          </a:p>
          <a:p xmlns:a="http://schemas.openxmlformats.org/drawingml/2006/main">
            <a:r>
              <a:t>Typhoon model card: https://huggingface.co/typhoon-ai/typhoon2.5-qwen3-4b</a:t>
            </a:r>
          </a:p>
          <a:p xmlns:a="http://schemas.openxmlformats.org/drawingml/2006/main">
            <a:r>
              <a:t>BGE-M3 paper: https://arxiv.org/abs/2402.03216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69b391f69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ee4e093a741c1" /><Relationship Type="http://schemas.openxmlformats.org/officeDocument/2006/relationships/slideLayout" Target="/ppt/slideLayouts/slideLayout1.xml" Id="R038a77ef880449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8a77ef880449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6203b6258465c" /><Relationship Type="http://schemas.openxmlformats.org/officeDocument/2006/relationships/image" Target="/ppt/media/image.png" Id="Rdb03ba5215584a2e" /><Relationship Type="http://schemas.openxmlformats.org/officeDocument/2006/relationships/image" Target="/ppt/media/image2.png" Id="R77c307af368442b5" /><Relationship Type="http://schemas.openxmlformats.org/officeDocument/2006/relationships/image" Target="/ppt/media/image.jpeg" Id="R6fe414aa44c14622" /><Relationship Type="http://schemas.openxmlformats.org/officeDocument/2006/relationships/notesSlide" Target="/ppt/notesSlides/notesSlide1.xml" Id="R5a4b310d68f64d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3ba5215584a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0275784" cy="42806112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307af368442b5"/>
          <a:stretch xmlns:a="http://schemas.openxmlformats.org/drawingml/2006/main"/>
        </p:blipFill>
        <p:spPr>
          <a:xfrm xmlns:a="http://schemas.openxmlformats.org/drawingml/2006/main">
            <a:off x="1476375" y="6564313"/>
            <a:ext cx="4953000" cy="1444625"/>
          </a:xfrm>
          <a:prstGeom xmlns:a="http://schemas.openxmlformats.org/drawingml/2006/main" prst="rect">
            <a:avLst/>
          </a:prstGeom>
        </p:spPr>
      </p:pic>
      <p:sp>
        <p:nvSpPr>
          <p:cNvPr id="3" name="channel">
            <a:extLst xmlns:a="http://schemas.openxmlformats.org/drawingml/2006/main">
              <a:ext uri="{FF2B5EF4-FFF2-40B4-BE49-F238E27FC236}">
                <a16:creationId xmlns:a16="http://schemas.microsoft.com/office/drawing/2014/main" id="{DDE67D19-94CC-4204-B879-3CDBA90D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2867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1C64AE"/>
                </a:solidFill>
              </a:defRPr>
            </a:pPr>
            <a:r>
              <a:rPr sz="3150" b="1">
                <a:solidFill>
                  <a:srgbClr val="1C64AE"/>
                </a:solidFill>
              </a:rPr>
              <a:t>LOCAL-FIRST WEBSITE CHATBOT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103A5CD-5405-43F7-84E0-8518FF16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143625"/>
            <a:ext cx="1714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9588E60-BC0E-4C8F-9E72-9E537EF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53150"/>
            <a:ext cx="2133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000" b="1">
                <a:solidFill>
                  <a:srgbClr val="092441"/>
                </a:solidFill>
              </a:defRPr>
            </a:pPr>
            <a:r>
              <a:rPr sz="6000" b="1">
                <a:solidFill>
                  <a:srgbClr val="092441"/>
                </a:solidFill>
              </a:rPr>
              <a:t>AI Chatbot for Multi-Route Hybrid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6000" b="1">
                <a:solidFill>
                  <a:srgbClr val="092441"/>
                </a:solidFill>
              </a:defRPr>
            </a:pPr>
            <a:r>
              <a:rPr sz="6000" b="1">
                <a:solidFill>
                  <a:srgbClr val="092441"/>
                </a:solidFill>
              </a:rPr>
              <a:t>Esports Knowledge Base</a:t>
            </a:r>
          </a:p>
        </p:txBody>
      </p:sp>
      <p:sp>
        <p:nvSpPr>
          <p:cNvPr id="6" name="tagline">
            <a:extLst xmlns:a="http://schemas.openxmlformats.org/drawingml/2006/main">
              <a:ext uri="{FF2B5EF4-FFF2-40B4-BE49-F238E27FC236}">
                <a16:creationId xmlns:a16="http://schemas.microsoft.com/office/drawing/2014/main" id="{FA5047DB-9433-42AA-80F0-B14FE4CE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210550"/>
            <a:ext cx="2133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450" b="1">
                <a:solidFill>
                  <a:srgbClr val="1C64AE"/>
                </a:solidFill>
              </a:defRPr>
            </a:pPr>
            <a:r>
              <a:rPr sz="3450" b="1">
                <a:solidFill>
                  <a:srgbClr val="1C64AE"/>
                </a:solidFill>
              </a:rPr>
              <a:t>Fast factual routes + semantic retrieval + gated local LLM assistance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259FD935-B05B-4FBF-BAC3-AF7CAA10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34450"/>
            <a:ext cx="2133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13283C"/>
                </a:solidFill>
              </a:defRPr>
            </a:pPr>
            <a:r>
              <a:rPr sz="3600" b="1">
                <a:solidFill>
                  <a:srgbClr val="13283C"/>
                </a:solidFill>
              </a:rPr>
              <a:t>Presented by Passawut Chutiparcharkijg</a:t>
            </a:r>
          </a:p>
        </p:txBody>
      </p:sp>
      <p:sp>
        <p:nvSpPr>
          <p:cNvPr id="8" name="host">
            <a:extLst xmlns:a="http://schemas.openxmlformats.org/drawingml/2006/main">
              <a:ext uri="{FF2B5EF4-FFF2-40B4-BE49-F238E27FC236}">
                <a16:creationId xmlns:a16="http://schemas.microsoft.com/office/drawing/2014/main" id="{92DC71C2-5918-4B7B-9D7E-15D41C79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639300"/>
            <a:ext cx="2133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0">
                <a:solidFill>
                  <a:srgbClr val="536A7F"/>
                </a:solidFill>
              </a:defRPr>
            </a:pPr>
            <a:r>
              <a:rPr sz="3300" b="0">
                <a:solidFill>
                  <a:srgbClr val="536A7F"/>
                </a:solidFill>
              </a:rPr>
              <a:t>Trainee ID 600584  |  PSU Esports Studio - Phuket</a:t>
            </a:r>
          </a:p>
        </p:txBody>
      </p:sp>
      <p:sp>
        <p:nvSpPr>
          <p:cNvPr id="9" name="overview-bar">
            <a:extLst xmlns:a="http://schemas.openxmlformats.org/drawingml/2006/main">
              <a:ext uri="{FF2B5EF4-FFF2-40B4-BE49-F238E27FC236}">
                <a16:creationId xmlns:a16="http://schemas.microsoft.com/office/drawing/2014/main" id="{2F9553BF-52DB-4D91-B7AD-B5DB299E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57275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10" name="overview-accent">
            <a:extLst xmlns:a="http://schemas.openxmlformats.org/drawingml/2006/main">
              <a:ext uri="{FF2B5EF4-FFF2-40B4-BE49-F238E27FC236}">
                <a16:creationId xmlns:a16="http://schemas.microsoft.com/office/drawing/2014/main" id="{9F974CA7-CE17-4F2D-94F9-44B0FC0D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57275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1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538357CA-7B17-44F3-B605-FD4E7AD6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63942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1. PROJECT OVERVIEW</a:t>
            </a:r>
          </a:p>
        </p:txBody>
      </p:sp>
      <p:sp>
        <p:nvSpPr>
          <p:cNvPr id="12" name="overview-purpose">
            <a:extLst xmlns:a="http://schemas.openxmlformats.org/drawingml/2006/main">
              <a:ext uri="{FF2B5EF4-FFF2-40B4-BE49-F238E27FC236}">
                <a16:creationId xmlns:a16="http://schemas.microsoft.com/office/drawing/2014/main" id="{4A21B98D-A627-4139-BD8E-5CB0AE5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5252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E86E21"/>
                </a:solidFill>
              </a:defRPr>
            </a:pPr>
            <a:r>
              <a:rPr sz="3750" b="1">
                <a:solidFill>
                  <a:srgbClr val="E86E21"/>
                </a:solidFill>
              </a:rPr>
              <a:t>PURPOSE</a:t>
            </a:r>
          </a:p>
        </p:txBody>
      </p:sp>
      <p:sp>
        <p:nvSpPr>
          <p:cNvPr id="13" name="overview-copy">
            <a:extLst xmlns:a="http://schemas.openxmlformats.org/drawingml/2006/main">
              <a:ext uri="{FF2B5EF4-FFF2-40B4-BE49-F238E27FC236}">
                <a16:creationId xmlns:a16="http://schemas.microsoft.com/office/drawing/2014/main" id="{D2B32844-8FF3-4BC3-A712-72640A0E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0"/>
            <a:ext cx="12096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3000" b="0">
                <a:solidFill>
                  <a:srgbClr val="13283C"/>
                </a:solidFill>
              </a:defRPr>
            </a:pPr>
            <a:r>
              <a:rPr sz="3000" b="0">
                <a:solidFill>
                  <a:srgbClr val="13283C"/>
                </a:solidFill>
              </a:rPr>
              <a:t>A local-first website assistant for PSU Esports Studio - Phuket.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3000" b="0">
                <a:solidFill>
                  <a:srgbClr val="13283C"/>
                </a:solidFill>
              </a:defRPr>
            </a:pPr>
            <a:r>
              <a:rPr sz="3000" b="0">
                <a:solidFill>
                  <a:srgbClr val="13283C"/>
                </a:solidFill>
              </a:rPr>
              <a:t>It answers FAQ questions directly, preserves conversation context,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3000" b="0">
                <a:solidFill>
                  <a:srgbClr val="13283C"/>
                </a:solidFill>
              </a:defRPr>
            </a:pPr>
            <a:r>
              <a:rPr sz="3000" b="0">
                <a:solidFill>
                  <a:srgbClr val="13283C"/>
                </a:solidFill>
              </a:rPr>
              <a:t>and grounds every response in verified evidence.</a:t>
            </a:r>
          </a:p>
        </p:txBody>
      </p:sp>
      <p:sp>
        <p:nvSpPr>
          <p:cNvPr id="14" name="success-title">
            <a:extLst xmlns:a="http://schemas.openxmlformats.org/drawingml/2006/main">
              <a:ext uri="{FF2B5EF4-FFF2-40B4-BE49-F238E27FC236}">
                <a16:creationId xmlns:a16="http://schemas.microsoft.com/office/drawing/2014/main" id="{3DC32A4D-3AE3-4D48-8A6C-12E9A5F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9065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148C75"/>
                </a:solidFill>
              </a:defRPr>
            </a:pPr>
            <a:r>
              <a:rPr sz="3300" b="1">
                <a:solidFill>
                  <a:srgbClr val="148C75"/>
                </a:solidFill>
              </a:rPr>
              <a:t>SUCCESS CRITERIA</a:t>
            </a:r>
          </a:p>
        </p:txBody>
      </p:sp>
      <p:sp>
        <p:nvSpPr>
          <p:cNvPr id="15" name="success-copy">
            <a:extLst xmlns:a="http://schemas.openxmlformats.org/drawingml/2006/main">
              <a:ext uri="{FF2B5EF4-FFF2-40B4-BE49-F238E27FC236}">
                <a16:creationId xmlns:a16="http://schemas.microsoft.com/office/drawing/2014/main" id="{5B9F4BC9-3377-422F-A3CE-FD5E909E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401800"/>
            <a:ext cx="1209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536A7F"/>
                </a:solidFill>
              </a:defRPr>
            </a:pPr>
            <a:r>
              <a:rPr sz="2850" b="1">
                <a:solidFill>
                  <a:srgbClr val="536A7F"/>
                </a:solidFill>
              </a:rPr>
              <a:t>Exact intent  |  Grounded facts  |  Safe clarification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536A7F"/>
                </a:solidFill>
              </a:defRPr>
            </a:pPr>
            <a:r>
              <a:rPr sz="2850" b="1">
                <a:solidFill>
                  <a:srgbClr val="536A7F"/>
                </a:solidFill>
              </a:rPr>
              <a:t>User-visible response &lt;= 10 seconds</a:t>
            </a:r>
          </a:p>
        </p:txBody>
      </p:sp>
      <p:sp>
        <p:nvSpPr>
          <p:cNvPr id="16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BF482673-6BE3-4069-9F3D-DA53EB7D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13823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C64AE"/>
                </a:solidFill>
              </a:defRPr>
            </a:pPr>
            <a:r>
              <a:rPr sz="3150" b="1">
                <a:solidFill>
                  <a:srgbClr val="1C64AE"/>
                </a:solidFill>
              </a:rPr>
              <a:t>LIVE CHATBOT DEMO</a:t>
            </a:r>
          </a:p>
        </p:txBody>
      </p:sp>
      <p:sp>
        <p:nvSpPr>
          <p:cNvPr id="17" name="demo-frame">
            <a:extLst xmlns:a="http://schemas.openxmlformats.org/drawingml/2006/main">
              <a:ext uri="{FF2B5EF4-FFF2-40B4-BE49-F238E27FC236}">
                <a16:creationId xmlns:a16="http://schemas.microsoft.com/office/drawing/2014/main" id="{4192C511-2001-4513-9317-58C779F5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1858625"/>
            <a:ext cx="8572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414aa44c14622"/>
          <a:srcRect xmlns:a="http://schemas.openxmlformats.org/drawingml/2006/main" l="0" t="23737" r="0" b="23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0" y="11953875"/>
            <a:ext cx="8382000" cy="2476500"/>
          </a:xfrm>
          <a:prstGeom xmlns:a="http://schemas.openxmlformats.org/drawingml/2006/main" prst="rect">
            <a:avLst/>
          </a:prstGeom>
        </p:spPr>
      </p:pic>
      <p:sp>
        <p:nvSpPr>
          <p:cNvPr id="19" name="demo-facts">
            <a:extLst xmlns:a="http://schemas.openxmlformats.org/drawingml/2006/main">
              <a:ext uri="{FF2B5EF4-FFF2-40B4-BE49-F238E27FC236}">
                <a16:creationId xmlns:a16="http://schemas.microsoft.com/office/drawing/2014/main" id="{CB70D16E-A782-4FAE-AC63-35E219C1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0" y="11858625"/>
            <a:ext cx="56007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9050">
            <a:solidFill>
              <a:srgbClr val="2687D7"/>
            </a:solidFill>
            <a:prstDash val="solid"/>
          </a:ln>
        </p:spPr>
      </p:sp>
      <p:sp>
        <p:nvSpPr>
          <p:cNvPr id="20" name="demo-question-label">
            <a:extLst xmlns:a="http://schemas.openxmlformats.org/drawingml/2006/main">
              <a:ext uri="{FF2B5EF4-FFF2-40B4-BE49-F238E27FC236}">
                <a16:creationId xmlns:a16="http://schemas.microsoft.com/office/drawing/2014/main" id="{4F399559-3303-4212-BD97-40D3A6A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2001500"/>
            <a:ext cx="502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C64AE"/>
                </a:solidFill>
              </a:defRPr>
            </a:pPr>
            <a:r>
              <a:rPr sz="2400" b="1">
                <a:solidFill>
                  <a:srgbClr val="1C64AE"/>
                </a:solidFill>
              </a:rPr>
              <a:t>QUESTION (THAI)</a:t>
            </a:r>
          </a:p>
        </p:txBody>
      </p:sp>
      <p:sp>
        <p:nvSpPr>
          <p:cNvPr id="21" name="demo-question">
            <a:extLst xmlns:a="http://schemas.openxmlformats.org/drawingml/2006/main">
              <a:ext uri="{FF2B5EF4-FFF2-40B4-BE49-F238E27FC236}">
                <a16:creationId xmlns:a16="http://schemas.microsoft.com/office/drawing/2014/main" id="{0453AF43-7857-4BA6-B453-8036CA06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2382500"/>
            <a:ext cx="502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3283C"/>
                </a:solidFill>
              </a:defRPr>
            </a:pPr>
            <a:r>
              <a:rPr sz="2550" b="1">
                <a:solidFill>
                  <a:srgbClr val="13283C"/>
                </a:solidFill>
              </a:rPr>
              <a:t>เล่น VR มีค่าบริการเท่าไหร่</a:t>
            </a:r>
          </a:p>
        </p:txBody>
      </p:sp>
      <p:sp>
        <p:nvSpPr>
          <p:cNvPr id="22" name="demo-route-label">
            <a:extLst xmlns:a="http://schemas.openxmlformats.org/drawingml/2006/main">
              <a:ext uri="{FF2B5EF4-FFF2-40B4-BE49-F238E27FC236}">
                <a16:creationId xmlns:a16="http://schemas.microsoft.com/office/drawing/2014/main" id="{3CD7AA17-1217-40CF-B258-57E26CB0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29730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48C75"/>
                </a:solidFill>
              </a:defRPr>
            </a:pPr>
            <a:r>
              <a:rPr sz="2250" b="1">
                <a:solidFill>
                  <a:srgbClr val="148C75"/>
                </a:solidFill>
              </a:rPr>
              <a:t>ROUTE</a:t>
            </a:r>
          </a:p>
        </p:txBody>
      </p:sp>
      <p:sp>
        <p:nvSpPr>
          <p:cNvPr id="23" name="demo-route">
            <a:extLst xmlns:a="http://schemas.openxmlformats.org/drawingml/2006/main">
              <a:ext uri="{FF2B5EF4-FFF2-40B4-BE49-F238E27FC236}">
                <a16:creationId xmlns:a16="http://schemas.microsoft.com/office/drawing/2014/main" id="{DCD9C429-3488-4474-B204-629C0267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129730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3283C"/>
                </a:solidFill>
              </a:defRPr>
            </a:pPr>
            <a:r>
              <a:rPr sz="2250" b="1">
                <a:solidFill>
                  <a:srgbClr val="13283C"/>
                </a:solidFill>
              </a:rPr>
              <a:t>service_fee_query</a:t>
            </a:r>
          </a:p>
        </p:txBody>
      </p:sp>
      <p:sp>
        <p:nvSpPr>
          <p:cNvPr id="24" name="demo-trace-label">
            <a:extLst xmlns:a="http://schemas.openxmlformats.org/drawingml/2006/main">
              <a:ext uri="{FF2B5EF4-FFF2-40B4-BE49-F238E27FC236}">
                <a16:creationId xmlns:a16="http://schemas.microsoft.com/office/drawing/2014/main" id="{3467055B-F4CF-452D-A89A-02542B4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3449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E86E21"/>
                </a:solidFill>
              </a:defRPr>
            </a:pPr>
            <a:r>
              <a:rPr sz="2250" b="1">
                <a:solidFill>
                  <a:srgbClr val="E86E21"/>
                </a:solidFill>
              </a:rPr>
              <a:t>TRACE</a:t>
            </a:r>
          </a:p>
        </p:txBody>
      </p:sp>
      <p:sp>
        <p:nvSpPr>
          <p:cNvPr id="25" name="demo-trace">
            <a:extLst xmlns:a="http://schemas.openxmlformats.org/drawingml/2006/main">
              <a:ext uri="{FF2B5EF4-FFF2-40B4-BE49-F238E27FC236}">
                <a16:creationId xmlns:a16="http://schemas.microsoft.com/office/drawing/2014/main" id="{77225DE5-5E33-4D20-BEA7-4D9A30A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134493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3283C"/>
                </a:solidFill>
              </a:defRPr>
            </a:pPr>
            <a:r>
              <a:rPr sz="2250" b="1">
                <a:solidFill>
                  <a:srgbClr val="13283C"/>
                </a:solidFill>
              </a:rPr>
              <a:t>240 ms  |  confidence 0.97</a:t>
            </a:r>
          </a:p>
        </p:txBody>
      </p:sp>
      <p:sp>
        <p:nvSpPr>
          <p:cNvPr id="26" name="demo-note">
            <a:extLst xmlns:a="http://schemas.openxmlformats.org/drawingml/2006/main">
              <a:ext uri="{FF2B5EF4-FFF2-40B4-BE49-F238E27FC236}">
                <a16:creationId xmlns:a16="http://schemas.microsoft.com/office/drawing/2014/main" id="{FEEA49E9-5A1C-493C-9376-FBEAE4A4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39255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536A7F"/>
                </a:solidFill>
              </a:defRPr>
            </a:pPr>
            <a:r>
              <a:rPr sz="2250" b="0">
                <a:solidFill>
                  <a:srgbClr val="536A7F"/>
                </a:solidFill>
              </a:rPr>
              <a:t>Verified source attached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250" b="0">
                <a:solidFill>
                  <a:srgbClr val="536A7F"/>
                </a:solidFill>
              </a:defRPr>
            </a:pPr>
            <a:r>
              <a:rPr sz="2250" b="0">
                <a:solidFill>
                  <a:srgbClr val="536A7F"/>
                </a:solidFill>
              </a:rPr>
              <a:t>No LLM call required</a:t>
            </a:r>
          </a:p>
        </p:txBody>
      </p:sp>
      <p:sp>
        <p:nvSpPr>
          <p:cNvPr id="27" name="profile-line">
            <a:extLst xmlns:a="http://schemas.openxmlformats.org/drawingml/2006/main">
              <a:ext uri="{FF2B5EF4-FFF2-40B4-BE49-F238E27FC236}">
                <a16:creationId xmlns:a16="http://schemas.microsoft.com/office/drawing/2014/main" id="{81C4F23E-C9EF-40E2-B796-667CC659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455420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1">
                <a:solidFill>
                  <a:srgbClr val="1C64AE"/>
                </a:solidFill>
              </a:defRPr>
            </a:pPr>
            <a:r>
              <a:rPr sz="2700" b="1">
                <a:solidFill>
                  <a:srgbClr val="1C64AE"/>
                </a:solidFill>
              </a:rPr>
              <a:t>42 GAMES  |  WEBSITE  |  LOCAL AI  |  MAX 2 LLM CALLS  |  TARGET &lt;= 10s</a:t>
            </a:r>
          </a:p>
        </p:txBody>
      </p:sp>
      <p:sp>
        <p:nvSpPr>
          <p:cNvPr id="28" name="models-bar">
            <a:extLst xmlns:a="http://schemas.openxmlformats.org/drawingml/2006/main">
              <a:ext uri="{FF2B5EF4-FFF2-40B4-BE49-F238E27FC236}">
                <a16:creationId xmlns:a16="http://schemas.microsoft.com/office/drawing/2014/main" id="{226F95C8-8C1A-4A7A-AC02-C02ED95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6656B7"/>
          </a:solidFill>
          <a:ln xmlns:a="http://schemas.openxmlformats.org/drawingml/2006/main" w="0">
            <a:solidFill>
              <a:srgbClr val="6656B7"/>
            </a:solidFill>
            <a:prstDash val="solid"/>
          </a:ln>
        </p:spPr>
      </p:sp>
      <p:sp>
        <p:nvSpPr>
          <p:cNvPr id="29" name="models-accent">
            <a:extLst xmlns:a="http://schemas.openxmlformats.org/drawingml/2006/main">
              <a:ext uri="{FF2B5EF4-FFF2-40B4-BE49-F238E27FC236}">
                <a16:creationId xmlns:a16="http://schemas.microsoft.com/office/drawing/2014/main" id="{3594C604-105D-4D1E-9C8C-F4048CF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33525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30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522ED73D-3075-479C-98D4-75E2AAA6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40192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2. CORE AI MODELS &amp; ANSWERING ROUTES</a:t>
            </a:r>
          </a:p>
        </p:txBody>
      </p:sp>
      <p:sp>
        <p:nvSpPr>
          <p:cNvPr id="31" name="deterministic-panel">
            <a:extLst xmlns:a="http://schemas.openxmlformats.org/drawingml/2006/main">
              <a:ext uri="{FF2B5EF4-FFF2-40B4-BE49-F238E27FC236}">
                <a16:creationId xmlns:a16="http://schemas.microsoft.com/office/drawing/2014/main" id="{5DABDD7E-760F-46FF-A05F-1C583555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35375"/>
            <a:ext cx="8382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32" name="deterministic-top-line">
            <a:extLst xmlns:a="http://schemas.openxmlformats.org/drawingml/2006/main">
              <a:ext uri="{FF2B5EF4-FFF2-40B4-BE49-F238E27FC236}">
                <a16:creationId xmlns:a16="http://schemas.microsoft.com/office/drawing/2014/main" id="{F80FDCB8-3D26-44A8-9669-0264B198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33" name="deterministic-eyebrow">
            <a:extLst xmlns:a="http://schemas.openxmlformats.org/drawingml/2006/main">
              <a:ext uri="{FF2B5EF4-FFF2-40B4-BE49-F238E27FC236}">
                <a16:creationId xmlns:a16="http://schemas.microsoft.com/office/drawing/2014/main" id="{60B27F2B-7F54-4B95-87DA-C1D11196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48C75"/>
                </a:solidFill>
              </a:defRPr>
            </a:pPr>
            <a:r>
              <a:rPr sz="3000" b="1">
                <a:solidFill>
                  <a:srgbClr val="148C75"/>
                </a:solidFill>
              </a:rPr>
              <a:t>DETERMINISTIC BACKBONE</a:t>
            </a:r>
          </a:p>
        </p:txBody>
      </p:sp>
      <p:sp>
        <p:nvSpPr>
          <p:cNvPr id="34" name="deterministic-model">
            <a:extLst xmlns:a="http://schemas.openxmlformats.org/drawingml/2006/main">
              <a:ext uri="{FF2B5EF4-FFF2-40B4-BE49-F238E27FC236}">
                <a16:creationId xmlns:a16="http://schemas.microsoft.com/office/drawing/2014/main" id="{62FFF14B-8668-4FE7-B58A-3516A84D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11642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FAST + STRUCTURED</a:t>
            </a:r>
          </a:p>
        </p:txBody>
      </p:sp>
      <p:sp>
        <p:nvSpPr>
          <p:cNvPr id="35" name="deterministic-body">
            <a:extLst xmlns:a="http://schemas.openxmlformats.org/drawingml/2006/main">
              <a:ext uri="{FF2B5EF4-FFF2-40B4-BE49-F238E27FC236}">
                <a16:creationId xmlns:a16="http://schemas.microsoft.com/office/drawing/2014/main" id="{3E979F2F-262A-453B-9E66-ABD89EB3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935575"/>
            <a:ext cx="7772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75" b="0">
                <a:solidFill>
                  <a:srgbClr val="13283C"/>
                </a:solidFill>
              </a:defRPr>
            </a:pPr>
            <a:r>
              <a:rPr sz="2775" b="0">
                <a:solidFill>
                  <a:srgbClr val="13283C"/>
                </a:solidFill>
              </a:rPr>
              <a:t>Exact facts and calculations: games, prices, zones, equipment, opening hours and fixed FAQ records.</a:t>
            </a:r>
          </a:p>
        </p:txBody>
      </p:sp>
      <p:sp>
        <p:nvSpPr>
          <p:cNvPr id="36" name="deterministic-footer">
            <a:extLst xmlns:a="http://schemas.openxmlformats.org/drawingml/2006/main">
              <a:ext uri="{FF2B5EF4-FFF2-40B4-BE49-F238E27FC236}">
                <a16:creationId xmlns:a16="http://schemas.microsoft.com/office/drawing/2014/main" id="{43365AE2-9230-4471-ABC3-646127B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383375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148C75"/>
                </a:solidFill>
              </a:defRPr>
            </a:pPr>
            <a:r>
              <a:rPr sz="2625" b="1">
                <a:solidFill>
                  <a:srgbClr val="148C75"/>
                </a:solidFill>
              </a:rPr>
              <a:t>NO LLM CALL  |  NO MODEL QUEUE</a:t>
            </a:r>
          </a:p>
        </p:txBody>
      </p:sp>
      <p:sp>
        <p:nvSpPr>
          <p:cNvPr id="37" name="bge-panel">
            <a:extLst xmlns:a="http://schemas.openxmlformats.org/drawingml/2006/main">
              <a:ext uri="{FF2B5EF4-FFF2-40B4-BE49-F238E27FC236}">
                <a16:creationId xmlns:a16="http://schemas.microsoft.com/office/drawing/2014/main" id="{B9D5C921-4ED3-41FC-84AB-A8C8D025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6335375"/>
            <a:ext cx="8382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2687D7"/>
            </a:solidFill>
            <a:prstDash val="solid"/>
          </a:ln>
        </p:spPr>
      </p:sp>
      <p:sp>
        <p:nvSpPr>
          <p:cNvPr id="38" name="bge-top-line">
            <a:extLst xmlns:a="http://schemas.openxmlformats.org/drawingml/2006/main">
              <a:ext uri="{FF2B5EF4-FFF2-40B4-BE49-F238E27FC236}">
                <a16:creationId xmlns:a16="http://schemas.microsoft.com/office/drawing/2014/main" id="{6C20EE40-C467-4586-B550-E279CE3C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7D7"/>
          </a:solidFill>
          <a:ln xmlns:a="http://schemas.openxmlformats.org/drawingml/2006/main" w="0">
            <a:solidFill>
              <a:srgbClr val="2687D7"/>
            </a:solidFill>
            <a:prstDash val="solid"/>
          </a:ln>
        </p:spPr>
      </p:sp>
      <p:sp>
        <p:nvSpPr>
          <p:cNvPr id="39" name="bge-eyebrow">
            <a:extLst xmlns:a="http://schemas.openxmlformats.org/drawingml/2006/main">
              <a:ext uri="{FF2B5EF4-FFF2-40B4-BE49-F238E27FC236}">
                <a16:creationId xmlns:a16="http://schemas.microsoft.com/office/drawing/2014/main" id="{D43AB25C-579C-4B0B-A568-37CF533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687D7"/>
                </a:solidFill>
              </a:defRPr>
            </a:pPr>
            <a:r>
              <a:rPr sz="3000" b="1">
                <a:solidFill>
                  <a:srgbClr val="2687D7"/>
                </a:solidFill>
              </a:rPr>
              <a:t>RETRIEVAL MODEL</a:t>
            </a:r>
          </a:p>
        </p:txBody>
      </p:sp>
      <p:sp>
        <p:nvSpPr>
          <p:cNvPr id="40" name="bge-model">
            <a:extLst xmlns:a="http://schemas.openxmlformats.org/drawingml/2006/main">
              <a:ext uri="{FF2B5EF4-FFF2-40B4-BE49-F238E27FC236}">
                <a16:creationId xmlns:a16="http://schemas.microsoft.com/office/drawing/2014/main" id="{663BC57C-1CB2-49A6-A9A2-AF54F1A1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11642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BGE-M3</a:t>
            </a:r>
          </a:p>
        </p:txBody>
      </p:sp>
      <p:sp>
        <p:nvSpPr>
          <p:cNvPr id="41" name="bge-body">
            <a:extLst xmlns:a="http://schemas.openxmlformats.org/drawingml/2006/main">
              <a:ext uri="{FF2B5EF4-FFF2-40B4-BE49-F238E27FC236}">
                <a16:creationId xmlns:a16="http://schemas.microsoft.com/office/drawing/2014/main" id="{7A45102D-C0DD-40BA-94ED-40F0E9E4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7935575"/>
            <a:ext cx="7772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75" b="0">
                <a:solidFill>
                  <a:srgbClr val="13283C"/>
                </a:solidFill>
              </a:defRPr>
            </a:pPr>
            <a:r>
              <a:rPr sz="2775" b="0">
                <a:solidFill>
                  <a:srgbClr val="13283C"/>
                </a:solidFill>
              </a:rPr>
              <a:t>Semantic retrieval for long documents, rules, news and newly added knowledge. Evidence is checked before use.</a:t>
            </a:r>
          </a:p>
        </p:txBody>
      </p:sp>
      <p:sp>
        <p:nvSpPr>
          <p:cNvPr id="42" name="bge-footer">
            <a:extLst xmlns:a="http://schemas.openxmlformats.org/drawingml/2006/main">
              <a:ext uri="{FF2B5EF4-FFF2-40B4-BE49-F238E27FC236}">
                <a16:creationId xmlns:a16="http://schemas.microsoft.com/office/drawing/2014/main" id="{99FFBA94-F3A5-41CD-98B0-E24567C8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19383375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2687D7"/>
                </a:solidFill>
              </a:defRPr>
            </a:pPr>
            <a:r>
              <a:rPr sz="2625" b="1">
                <a:solidFill>
                  <a:srgbClr val="2687D7"/>
                </a:solidFill>
              </a:rPr>
              <a:t>OPTIONAL RERANKER  |  SOURCE GUARD</a:t>
            </a:r>
          </a:p>
        </p:txBody>
      </p:sp>
      <p:sp>
        <p:nvSpPr>
          <p:cNvPr id="43" name="typhoon-panel">
            <a:extLst xmlns:a="http://schemas.openxmlformats.org/drawingml/2006/main">
              <a:ext uri="{FF2B5EF4-FFF2-40B4-BE49-F238E27FC236}">
                <a16:creationId xmlns:a16="http://schemas.microsoft.com/office/drawing/2014/main" id="{ECBA6123-EB5D-468E-AF12-962D32D5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6335375"/>
            <a:ext cx="8382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44" name="typhoon-top-line">
            <a:extLst xmlns:a="http://schemas.openxmlformats.org/drawingml/2006/main">
              <a:ext uri="{FF2B5EF4-FFF2-40B4-BE49-F238E27FC236}">
                <a16:creationId xmlns:a16="http://schemas.microsoft.com/office/drawing/2014/main" id="{0AAEABCB-6624-4DCC-95BD-68121238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6335375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45" name="typhoon-eyebrow">
            <a:extLst xmlns:a="http://schemas.openxmlformats.org/drawingml/2006/main">
              <a:ext uri="{FF2B5EF4-FFF2-40B4-BE49-F238E27FC236}">
                <a16:creationId xmlns:a16="http://schemas.microsoft.com/office/drawing/2014/main" id="{C0CBAF2B-EF80-4B19-AB83-437FE9C6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6602075"/>
            <a:ext cx="777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E86E21"/>
                </a:solidFill>
              </a:defRPr>
            </a:pPr>
            <a:r>
              <a:rPr sz="3000" b="1">
                <a:solidFill>
                  <a:srgbClr val="E86E21"/>
                </a:solidFill>
              </a:rPr>
              <a:t>LOCAL GENERATIVE MODEL</a:t>
            </a:r>
          </a:p>
        </p:txBody>
      </p:sp>
      <p:sp>
        <p:nvSpPr>
          <p:cNvPr id="46" name="typhoon-model">
            <a:extLst xmlns:a="http://schemas.openxmlformats.org/drawingml/2006/main">
              <a:ext uri="{FF2B5EF4-FFF2-40B4-BE49-F238E27FC236}">
                <a16:creationId xmlns:a16="http://schemas.microsoft.com/office/drawing/2014/main" id="{8BFEC990-280B-4D13-9EDB-08716E4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711642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575" b="1">
                <a:solidFill>
                  <a:srgbClr val="092441"/>
                </a:solidFill>
              </a:defRPr>
            </a:pPr>
            <a:r>
              <a:rPr sz="4575" b="1">
                <a:solidFill>
                  <a:srgbClr val="092441"/>
                </a:solidFill>
              </a:rPr>
              <a:t>Typhoon2.5 Qwen3 4B</a:t>
            </a:r>
          </a:p>
        </p:txBody>
      </p:sp>
      <p:sp>
        <p:nvSpPr>
          <p:cNvPr id="47" name="typhoon-body">
            <a:extLst xmlns:a="http://schemas.openxmlformats.org/drawingml/2006/main">
              <a:ext uri="{FF2B5EF4-FFF2-40B4-BE49-F238E27FC236}">
                <a16:creationId xmlns:a16="http://schemas.microsoft.com/office/drawing/2014/main" id="{96A47CC2-B71D-48ED-9FEF-2FABDCB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7935575"/>
            <a:ext cx="7772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75" b="0">
                <a:solidFill>
                  <a:srgbClr val="13283C"/>
                </a:solidFill>
              </a:defRPr>
            </a:pPr>
            <a:r>
              <a:rPr sz="2775" b="0">
                <a:solidFill>
                  <a:srgbClr val="13283C"/>
                </a:solidFill>
              </a:rPr>
              <a:t>Intent review, dependent-query planning, tool routing and evidence-constrained composition. It cannot create new PSU facts.</a:t>
            </a:r>
          </a:p>
        </p:txBody>
      </p:sp>
      <p:sp>
        <p:nvSpPr>
          <p:cNvPr id="48" name="typhoon-footer">
            <a:extLst xmlns:a="http://schemas.openxmlformats.org/drawingml/2006/main">
              <a:ext uri="{FF2B5EF4-FFF2-40B4-BE49-F238E27FC236}">
                <a16:creationId xmlns:a16="http://schemas.microsoft.com/office/drawing/2014/main" id="{09FEC582-180D-4604-A379-2FCA3EAE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19383375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625" b="1">
                <a:solidFill>
                  <a:srgbClr val="E86E21"/>
                </a:solidFill>
              </a:defRPr>
            </a:pPr>
            <a:r>
              <a:rPr sz="2625" b="1">
                <a:solidFill>
                  <a:srgbClr val="E86E21"/>
                </a:solidFill>
              </a:rPr>
              <a:t>MODEL ID: scb10x/typhoon2.5-qwen3-4b</a:t>
            </a:r>
          </a:p>
        </p:txBody>
      </p:sp>
      <p:sp>
        <p:nvSpPr>
          <p:cNvPr id="49" name="flow-bar">
            <a:extLst xmlns:a="http://schemas.openxmlformats.org/drawingml/2006/main">
              <a:ext uri="{FF2B5EF4-FFF2-40B4-BE49-F238E27FC236}">
                <a16:creationId xmlns:a16="http://schemas.microsoft.com/office/drawing/2014/main" id="{6D827CB7-BF62-4600-B420-351CF30F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31125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50" name="flow-accent">
            <a:extLst xmlns:a="http://schemas.openxmlformats.org/drawingml/2006/main">
              <a:ext uri="{FF2B5EF4-FFF2-40B4-BE49-F238E27FC236}">
                <a16:creationId xmlns:a16="http://schemas.microsoft.com/office/drawing/2014/main" id="{4CE3ADCD-B06B-4F9B-B51B-C72177E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31125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51" name="flow-title">
            <a:extLst xmlns:a="http://schemas.openxmlformats.org/drawingml/2006/main">
              <a:ext uri="{FF2B5EF4-FFF2-40B4-BE49-F238E27FC236}">
                <a16:creationId xmlns:a16="http://schemas.microsoft.com/office/drawing/2014/main" id="{609AF7BB-84E4-4B5E-BD49-A6EAB9A1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497800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3. HOW THE CHATBOT ANSWERS</a:t>
            </a:r>
          </a:p>
        </p:txBody>
      </p:sp>
      <p:sp>
        <p:nvSpPr>
          <p:cNvPr id="52" name="input-node">
            <a:extLst xmlns:a="http://schemas.openxmlformats.org/drawingml/2006/main">
              <a:ext uri="{FF2B5EF4-FFF2-40B4-BE49-F238E27FC236}">
                <a16:creationId xmlns:a16="http://schemas.microsoft.com/office/drawing/2014/main" id="{7AAFA540-6755-4A72-BF53-471C40CC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1C64AE"/>
            </a:solidFill>
            <a:prstDash val="solid"/>
          </a:ln>
        </p:spPr>
      </p:sp>
      <p:sp>
        <p:nvSpPr>
          <p:cNvPr id="53" name="input-title">
            <a:extLst xmlns:a="http://schemas.openxmlformats.org/drawingml/2006/main">
              <a:ext uri="{FF2B5EF4-FFF2-40B4-BE49-F238E27FC236}">
                <a16:creationId xmlns:a16="http://schemas.microsoft.com/office/drawing/2014/main" id="{9A299482-3F22-4AA7-B3B6-F6050D0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6460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1C64AE"/>
                </a:solidFill>
              </a:defRPr>
            </a:pPr>
            <a:r>
              <a:rPr sz="3300" b="1">
                <a:solidFill>
                  <a:srgbClr val="1C64AE"/>
                </a:solidFill>
              </a:rPr>
              <a:t>WEB CHAT + GUARD</a:t>
            </a:r>
          </a:p>
        </p:txBody>
      </p:sp>
      <p:sp>
        <p:nvSpPr>
          <p:cNvPr id="54" name="input-body">
            <a:extLst xmlns:a="http://schemas.openxmlformats.org/drawingml/2006/main">
              <a:ext uri="{FF2B5EF4-FFF2-40B4-BE49-F238E27FC236}">
                <a16:creationId xmlns:a16="http://schemas.microsoft.com/office/drawing/2014/main" id="{4D01588F-F807-4A64-9004-C6FD6DE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117050"/>
            <a:ext cx="7562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Request ID, admission control, session context and global deadline</a:t>
            </a:r>
          </a:p>
        </p:txBody>
      </p:sp>
      <p:sp>
        <p:nvSpPr>
          <p:cNvPr id="55" name="understand-node">
            <a:extLst xmlns:a="http://schemas.openxmlformats.org/drawingml/2006/main">
              <a:ext uri="{FF2B5EF4-FFF2-40B4-BE49-F238E27FC236}">
                <a16:creationId xmlns:a16="http://schemas.microsoft.com/office/drawing/2014/main" id="{4CA022F9-9822-4905-BE61-BCB1C321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FFF"/>
          </a:solidFill>
          <a:ln xmlns:a="http://schemas.openxmlformats.org/drawingml/2006/main" w="28575">
            <a:solidFill>
              <a:srgbClr val="6656B7"/>
            </a:solidFill>
            <a:prstDash val="solid"/>
          </a:ln>
        </p:spPr>
      </p:sp>
      <p:sp>
        <p:nvSpPr>
          <p:cNvPr id="56" name="understand-title">
            <a:extLst xmlns:a="http://schemas.openxmlformats.org/drawingml/2006/main">
              <a:ext uri="{FF2B5EF4-FFF2-40B4-BE49-F238E27FC236}">
                <a16:creationId xmlns:a16="http://schemas.microsoft.com/office/drawing/2014/main" id="{D3E473C4-2A37-47F6-BB62-374B2EE2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56460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6656B7"/>
                </a:solidFill>
              </a:defRPr>
            </a:pPr>
            <a:r>
              <a:rPr sz="3300" b="1">
                <a:solidFill>
                  <a:srgbClr val="6656B7"/>
                </a:solidFill>
              </a:rPr>
              <a:t>UNDERSTAND</a:t>
            </a:r>
          </a:p>
        </p:txBody>
      </p:sp>
      <p:sp>
        <p:nvSpPr>
          <p:cNvPr id="57" name="understand-body">
            <a:extLst xmlns:a="http://schemas.openxmlformats.org/drawingml/2006/main">
              <a:ext uri="{FF2B5EF4-FFF2-40B4-BE49-F238E27FC236}">
                <a16:creationId xmlns:a16="http://schemas.microsoft.com/office/drawing/2014/main" id="{5A7430BC-4CDA-4EAF-8ED8-9250441B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2117050"/>
            <a:ext cx="7562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Resolve references, split questions, detect intent, target and ambiguity</a:t>
            </a:r>
          </a:p>
        </p:txBody>
      </p:sp>
      <p:sp>
        <p:nvSpPr>
          <p:cNvPr id="58" name="route-node">
            <a:extLst xmlns:a="http://schemas.openxmlformats.org/drawingml/2006/main">
              <a:ext uri="{FF2B5EF4-FFF2-40B4-BE49-F238E27FC236}">
                <a16:creationId xmlns:a16="http://schemas.microsoft.com/office/drawing/2014/main" id="{F07DC855-214C-49DE-BDAA-7A7BB420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21431250"/>
            <a:ext cx="8096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59" name="route-title">
            <a:extLst xmlns:a="http://schemas.openxmlformats.org/drawingml/2006/main">
              <a:ext uri="{FF2B5EF4-FFF2-40B4-BE49-F238E27FC236}">
                <a16:creationId xmlns:a16="http://schemas.microsoft.com/office/drawing/2014/main" id="{78C5EEA5-61C3-4011-89B4-071A52EF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4050" y="21564600"/>
            <a:ext cx="7639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E86E21"/>
                </a:solidFill>
              </a:defRPr>
            </a:pPr>
            <a:r>
              <a:rPr sz="3300" b="1">
                <a:solidFill>
                  <a:srgbClr val="E86E21"/>
                </a:solidFill>
              </a:rPr>
              <a:t>SELECT ROUTE</a:t>
            </a:r>
          </a:p>
        </p:txBody>
      </p:sp>
      <p:sp>
        <p:nvSpPr>
          <p:cNvPr id="60" name="route-body">
            <a:extLst xmlns:a="http://schemas.openxmlformats.org/drawingml/2006/main">
              <a:ext uri="{FF2B5EF4-FFF2-40B4-BE49-F238E27FC236}">
                <a16:creationId xmlns:a16="http://schemas.microsoft.com/office/drawing/2014/main" id="{453A6168-3EA3-4A26-B962-07DA503C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2150" y="22117050"/>
            <a:ext cx="7562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Rank candidates, check tool preconditions and available evidence</a:t>
            </a:r>
          </a:p>
        </p:txBody>
      </p:sp>
      <p:cxnSp>
        <p:nvCxnSpPr>
          <p:cNvPr id="195" name=""/>
          <p:cNvCxnSpPr>
            <a:stCxn xmlns:a="http://schemas.openxmlformats.org/drawingml/2006/main" id="52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9525000" y="2214562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D6E4"/>
            </a:solidFill>
            <a:prstDash val="solid"/>
            <a:tailEnd type="arrow" w="med" len="med"/>
          </a:ln>
        </p:spPr>
      </p:cxnSp>
      <p:cxnSp>
        <p:nvCxnSpPr>
          <p:cNvPr id="196" name=""/>
          <p:cNvCxnSpPr>
            <a:stCxn xmlns:a="http://schemas.openxmlformats.org/drawingml/2006/main" id="55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19183350" y="2214562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8D6E4"/>
            </a:solidFill>
            <a:prstDash val="solid"/>
            <a:tailEnd type="arrow" w="med" len="med"/>
          </a:ln>
        </p:spPr>
      </p:cxnSp>
      <p:sp>
        <p:nvSpPr>
          <p:cNvPr id="63" name="fast-node">
            <a:extLst xmlns:a="http://schemas.openxmlformats.org/drawingml/2006/main">
              <a:ext uri="{FF2B5EF4-FFF2-40B4-BE49-F238E27FC236}">
                <a16:creationId xmlns:a16="http://schemas.microsoft.com/office/drawing/2014/main" id="{5E4403C6-207A-4077-8EDD-4462798F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9F7F3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64" name="fast-title">
            <a:extLst xmlns:a="http://schemas.openxmlformats.org/drawingml/2006/main">
              <a:ext uri="{FF2B5EF4-FFF2-40B4-BE49-F238E27FC236}">
                <a16:creationId xmlns:a16="http://schemas.microsoft.com/office/drawing/2014/main" id="{64FDFD18-9796-4D4D-82AA-3551568B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66010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148C75"/>
                </a:solidFill>
              </a:defRPr>
            </a:pPr>
            <a:r>
              <a:rPr sz="3300" b="1">
                <a:solidFill>
                  <a:srgbClr val="148C75"/>
                </a:solidFill>
              </a:rPr>
              <a:t>FAST / STRUCTURED</a:t>
            </a:r>
          </a:p>
        </p:txBody>
      </p:sp>
      <p:sp>
        <p:nvSpPr>
          <p:cNvPr id="65" name="fast-body">
            <a:extLst xmlns:a="http://schemas.openxmlformats.org/drawingml/2006/main">
              <a:ext uri="{FF2B5EF4-FFF2-40B4-BE49-F238E27FC236}">
                <a16:creationId xmlns:a16="http://schemas.microsoft.com/office/drawing/2014/main" id="{E1DFF031-E587-4944-B5D7-723F4AE2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212550"/>
            <a:ext cx="708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Use verified exact records</a:t>
            </a:r>
          </a:p>
        </p:txBody>
      </p:sp>
      <p:sp>
        <p:nvSpPr>
          <p:cNvPr id="66" name="rag-node">
            <a:extLst xmlns:a="http://schemas.openxmlformats.org/drawingml/2006/main">
              <a:ext uri="{FF2B5EF4-FFF2-40B4-BE49-F238E27FC236}">
                <a16:creationId xmlns:a16="http://schemas.microsoft.com/office/drawing/2014/main" id="{29F681F6-A0B7-46BD-9D01-8709BAA5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28575">
            <a:solidFill>
              <a:srgbClr val="2687D7"/>
            </a:solidFill>
            <a:prstDash val="solid"/>
          </a:ln>
        </p:spPr>
      </p:sp>
      <p:sp>
        <p:nvSpPr>
          <p:cNvPr id="67" name="rag-title">
            <a:extLst xmlns:a="http://schemas.openxmlformats.org/drawingml/2006/main">
              <a:ext uri="{FF2B5EF4-FFF2-40B4-BE49-F238E27FC236}">
                <a16:creationId xmlns:a16="http://schemas.microsoft.com/office/drawing/2014/main" id="{E7FCC896-8B14-41BF-A035-CA630554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366010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2687D7"/>
                </a:solidFill>
              </a:defRPr>
            </a:pPr>
            <a:r>
              <a:rPr sz="3300" b="1">
                <a:solidFill>
                  <a:srgbClr val="2687D7"/>
                </a:solidFill>
              </a:rPr>
              <a:t>SEMANTIC RAG</a:t>
            </a:r>
          </a:p>
        </p:txBody>
      </p:sp>
      <p:sp>
        <p:nvSpPr>
          <p:cNvPr id="68" name="rag-body">
            <a:extLst xmlns:a="http://schemas.openxmlformats.org/drawingml/2006/main">
              <a:ext uri="{FF2B5EF4-FFF2-40B4-BE49-F238E27FC236}">
                <a16:creationId xmlns:a16="http://schemas.microsoft.com/office/drawing/2014/main" id="{6263C867-F128-4606-A851-9A42FAE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4212550"/>
            <a:ext cx="708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BGE retrieve -&gt; optional rerank</a:t>
            </a:r>
          </a:p>
        </p:txBody>
      </p:sp>
      <p:sp>
        <p:nvSpPr>
          <p:cNvPr id="69" name="safe-node">
            <a:extLst xmlns:a="http://schemas.openxmlformats.org/drawingml/2006/main">
              <a:ext uri="{FF2B5EF4-FFF2-40B4-BE49-F238E27FC236}">
                <a16:creationId xmlns:a16="http://schemas.microsoft.com/office/drawing/2014/main" id="{BF110558-EA7B-4545-841F-8BB5F345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1700" y="23526750"/>
            <a:ext cx="762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758"/>
            </a:solidFill>
            <a:prstDash val="solid"/>
          </a:ln>
        </p:spPr>
      </p:sp>
      <p:sp>
        <p:nvSpPr>
          <p:cNvPr id="70" name="safe-title">
            <a:extLst xmlns:a="http://schemas.openxmlformats.org/drawingml/2006/main">
              <a:ext uri="{FF2B5EF4-FFF2-40B4-BE49-F238E27FC236}">
                <a16:creationId xmlns:a16="http://schemas.microsoft.com/office/drawing/2014/main" id="{0FC267A5-2D9B-45BB-A091-52B53E6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2366010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C64758"/>
                </a:solidFill>
              </a:defRPr>
            </a:pPr>
            <a:r>
              <a:rPr sz="3300" b="1">
                <a:solidFill>
                  <a:srgbClr val="C64758"/>
                </a:solidFill>
              </a:rPr>
              <a:t>SAFE OUTCOME</a:t>
            </a:r>
          </a:p>
        </p:txBody>
      </p:sp>
      <p:sp>
        <p:nvSpPr>
          <p:cNvPr id="71" name="safe-body">
            <a:extLst xmlns:a="http://schemas.openxmlformats.org/drawingml/2006/main">
              <a:ext uri="{FF2B5EF4-FFF2-40B4-BE49-F238E27FC236}">
                <a16:creationId xmlns:a16="http://schemas.microsoft.com/office/drawing/2014/main" id="{D0B3A5C6-AC78-4366-9902-C5ADFA2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0" y="24212550"/>
            <a:ext cx="708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Clarification or no-answer</a:t>
            </a:r>
          </a:p>
        </p:txBody>
      </p:sp>
      <p:cxnSp>
        <p:nvCxnSpPr>
          <p:cNvPr id="206" name=""/>
          <p:cNvCxnSpPr>
            <a:stCxn xmlns:a="http://schemas.openxmlformats.org/drawingml/2006/main" id="58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 flipH="1">
            <a:off x="5238750" y="22860000"/>
            <a:ext cx="195548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8C75"/>
            </a:solidFill>
            <a:prstDash val="solid"/>
            <a:tailEnd type="arrow" w="med" len="med"/>
          </a:ln>
        </p:spPr>
      </p:cxnSp>
      <p:cxnSp>
        <p:nvCxnSpPr>
          <p:cNvPr id="207" name=""/>
          <p:cNvCxnSpPr>
            <a:stCxn xmlns:a="http://schemas.openxmlformats.org/drawingml/2006/main" id="58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 flipH="1">
            <a:off x="15135225" y="22860000"/>
            <a:ext cx="965835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2687D7"/>
            </a:solidFill>
            <a:prstDash val="solid"/>
            <a:tailEnd type="arrow" w="med" len="med"/>
          </a:ln>
        </p:spPr>
      </p:cxnSp>
      <p:cxnSp>
        <p:nvCxnSpPr>
          <p:cNvPr id="208" name=""/>
          <p:cNvCxnSpPr>
            <a:stCxn xmlns:a="http://schemas.openxmlformats.org/drawingml/2006/main" id="5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24793575" y="22860000"/>
            <a:ext cx="2381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758"/>
            </a:solidFill>
            <a:prstDash val="solid"/>
            <a:tailEnd type="arrow" w="med" len="med"/>
          </a:ln>
        </p:spPr>
      </p:cxnSp>
      <p:sp>
        <p:nvSpPr>
          <p:cNvPr id="75" name="evidence-node">
            <a:extLst xmlns:a="http://schemas.openxmlformats.org/drawingml/2006/main">
              <a:ext uri="{FF2B5EF4-FFF2-40B4-BE49-F238E27FC236}">
                <a16:creationId xmlns:a16="http://schemas.microsoft.com/office/drawing/2014/main" id="{3367EB85-7A8E-41EC-B19C-289E28A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74625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48C75"/>
            </a:solidFill>
            <a:prstDash val="solid"/>
          </a:ln>
        </p:spPr>
      </p:sp>
      <p:sp>
        <p:nvSpPr>
          <p:cNvPr id="7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0371DA08-8F24-42E8-9069-1085B13F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07975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148C75"/>
                </a:solidFill>
              </a:defRPr>
            </a:pPr>
            <a:r>
              <a:rPr sz="3300" b="1">
                <a:solidFill>
                  <a:srgbClr val="148C75"/>
                </a:solidFill>
              </a:rPr>
              <a:t>EVIDENCE + DRAFT</a:t>
            </a:r>
          </a:p>
        </p:txBody>
      </p:sp>
      <p:sp>
        <p:nvSpPr>
          <p:cNvPr id="77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5F7EBF06-2BE8-4E75-94B0-7C7848DC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60425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Attach sources and build a factual draft</a:t>
            </a:r>
          </a:p>
        </p:txBody>
      </p:sp>
      <p:sp>
        <p:nvSpPr>
          <p:cNvPr id="78" name="composer-node">
            <a:extLst xmlns:a="http://schemas.openxmlformats.org/drawingml/2006/main">
              <a:ext uri="{FF2B5EF4-FFF2-40B4-BE49-F238E27FC236}">
                <a16:creationId xmlns:a16="http://schemas.microsoft.com/office/drawing/2014/main" id="{9055F172-6F46-4F07-9C92-A34090C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574625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28575">
            <a:solidFill>
              <a:srgbClr val="E86E21"/>
            </a:solidFill>
            <a:prstDash val="solid"/>
          </a:ln>
        </p:spPr>
      </p:sp>
      <p:sp>
        <p:nvSpPr>
          <p:cNvPr id="79" name="composer-title">
            <a:extLst xmlns:a="http://schemas.openxmlformats.org/drawingml/2006/main">
              <a:ext uri="{FF2B5EF4-FFF2-40B4-BE49-F238E27FC236}">
                <a16:creationId xmlns:a16="http://schemas.microsoft.com/office/drawing/2014/main" id="{47960669-9E57-49B8-A4ED-816425C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5707975"/>
            <a:ext cx="697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E86E21"/>
                </a:solidFill>
              </a:defRPr>
            </a:pPr>
            <a:r>
              <a:rPr sz="3300" b="1">
                <a:solidFill>
                  <a:srgbClr val="E86E21"/>
                </a:solidFill>
              </a:rPr>
              <a:t>OPTIONAL LLM ASSIST</a:t>
            </a:r>
          </a:p>
        </p:txBody>
      </p:sp>
      <p:sp>
        <p:nvSpPr>
          <p:cNvPr id="80" name="composer-body">
            <a:extLst xmlns:a="http://schemas.openxmlformats.org/drawingml/2006/main">
              <a:ext uri="{FF2B5EF4-FFF2-40B4-BE49-F238E27FC236}">
                <a16:creationId xmlns:a16="http://schemas.microsoft.com/office/drawing/2014/main" id="{F581092C-D43B-4EF5-8751-30113F13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6260425"/>
            <a:ext cx="689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Review, plan or compose only when useful; otherwise bypass</a:t>
            </a:r>
          </a:p>
        </p:txBody>
      </p:sp>
      <p:sp>
        <p:nvSpPr>
          <p:cNvPr id="81" name="final-node">
            <a:extLst xmlns:a="http://schemas.openxmlformats.org/drawingml/2006/main">
              <a:ext uri="{FF2B5EF4-FFF2-40B4-BE49-F238E27FC236}">
                <a16:creationId xmlns:a16="http://schemas.microsoft.com/office/drawing/2014/main" id="{18812236-49FE-497D-94CC-AB71EE95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0" y="25574625"/>
            <a:ext cx="7620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28575">
            <a:solidFill>
              <a:srgbClr val="C64758"/>
            </a:solidFill>
            <a:prstDash val="solid"/>
          </a:ln>
        </p:spPr>
      </p:sp>
      <p:sp>
        <p:nvSpPr>
          <p:cNvPr id="82" name="final-title">
            <a:extLst xmlns:a="http://schemas.openxmlformats.org/drawingml/2006/main">
              <a:ext uri="{FF2B5EF4-FFF2-40B4-BE49-F238E27FC236}">
                <a16:creationId xmlns:a16="http://schemas.microsoft.com/office/drawing/2014/main" id="{65D762CA-4DD1-4E7B-ACB0-9916FBCD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0" y="2570797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C64758"/>
                </a:solidFill>
              </a:defRPr>
            </a:pPr>
            <a:r>
              <a:rPr sz="3300" b="1">
                <a:solidFill>
                  <a:srgbClr val="C64758"/>
                </a:solidFill>
              </a:rPr>
              <a:t>VALIDATE + FINAL ANSWER</a:t>
            </a:r>
          </a:p>
        </p:txBody>
      </p:sp>
      <p:sp>
        <p:nvSpPr>
          <p:cNvPr id="83" name="final-body">
            <a:extLst xmlns:a="http://schemas.openxmlformats.org/drawingml/2006/main">
              <a:ext uri="{FF2B5EF4-FFF2-40B4-BE49-F238E27FC236}">
                <a16:creationId xmlns:a16="http://schemas.microsoft.com/office/drawing/2014/main" id="{3278E888-05FE-4059-B7F2-4D40E9F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0" y="26260425"/>
            <a:ext cx="708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Answer Contract -&gt; repair -&gt; Hard Veto -&gt; website response</a:t>
            </a:r>
          </a:p>
        </p:txBody>
      </p:sp>
      <p:cxnSp>
        <p:nvCxnSpPr>
          <p:cNvPr id="218" name=""/>
          <p:cNvCxnSpPr>
            <a:stCxn xmlns:a="http://schemas.openxmlformats.org/drawingml/2006/main" id="63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5238750" y="24907875"/>
            <a:ext cx="2095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8C75"/>
            </a:solidFill>
            <a:prstDash val="solid"/>
            <a:tailEnd type="arrow" w="med" len="med"/>
          </a:ln>
        </p:spPr>
      </p:cxnSp>
      <p:cxnSp>
        <p:nvCxnSpPr>
          <p:cNvPr id="219" name=""/>
          <p:cNvCxnSpPr>
            <a:stCxn xmlns:a="http://schemas.openxmlformats.org/drawingml/2006/main" id="66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 flipH="1">
            <a:off x="7334250" y="24907875"/>
            <a:ext cx="78009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2687D7"/>
            </a:solidFill>
            <a:prstDash val="solid"/>
            <a:tailEnd type="arrow" w="med" len="med"/>
          </a:ln>
        </p:spPr>
      </p:cxnSp>
      <p:cxnSp>
        <p:nvCxnSpPr>
          <p:cNvPr id="220" name=""/>
          <p:cNvCxnSpPr>
            <a:stCxn xmlns:a="http://schemas.openxmlformats.org/drawingml/2006/main" id="69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 flipH="1">
            <a:off x="23050500" y="24907875"/>
            <a:ext cx="19812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C64758"/>
            </a:solidFill>
            <a:prstDash val="solid"/>
            <a:tailEnd type="arrow" w="med" len="med"/>
          </a:ln>
        </p:spPr>
      </p:cxnSp>
      <p:cxnSp>
        <p:nvCxnSpPr>
          <p:cNvPr id="221" name=""/>
          <p:cNvCxnSpPr>
            <a:stCxn xmlns:a="http://schemas.openxmlformats.org/drawingml/2006/main" id="75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11049000" y="26289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E21"/>
            </a:solidFill>
            <a:prstDash val="solid"/>
            <a:tailEnd type="arrow" w="med" len="med"/>
          </a:ln>
        </p:spPr>
      </p:cxnSp>
      <p:cxnSp>
        <p:nvCxnSpPr>
          <p:cNvPr id="222" name=""/>
          <p:cNvCxnSpPr>
            <a:stCxn xmlns:a="http://schemas.openxmlformats.org/drawingml/2006/main" id="78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18859500" y="26289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86E21"/>
            </a:solidFill>
            <a:prstDash val="solid"/>
            <a:tailEnd type="arrow" w="med" len="med"/>
          </a:ln>
        </p:spPr>
      </p:cxnSp>
      <p:sp>
        <p:nvSpPr>
          <p:cNvPr id="89" name="safety-bar">
            <a:extLst xmlns:a="http://schemas.openxmlformats.org/drawingml/2006/main">
              <a:ext uri="{FF2B5EF4-FFF2-40B4-BE49-F238E27FC236}">
                <a16:creationId xmlns:a16="http://schemas.microsoft.com/office/drawing/2014/main" id="{32700A39-A205-4C3A-914E-A80C4016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90" name="safety-accent">
            <a:extLst xmlns:a="http://schemas.openxmlformats.org/drawingml/2006/main">
              <a:ext uri="{FF2B5EF4-FFF2-40B4-BE49-F238E27FC236}">
                <a16:creationId xmlns:a16="http://schemas.microsoft.com/office/drawing/2014/main" id="{15C23CF2-95D7-4CE9-ADCB-A2C4D7D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91" name="safety-title">
            <a:extLst xmlns:a="http://schemas.openxmlformats.org/drawingml/2006/main">
              <a:ext uri="{FF2B5EF4-FFF2-40B4-BE49-F238E27FC236}">
                <a16:creationId xmlns:a16="http://schemas.microsoft.com/office/drawing/2014/main" id="{A4A109A9-154B-4284-A585-9B39EA59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68917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4. SAFETY &amp; ANSWER QUALITY CONTROLS</a:t>
            </a:r>
          </a:p>
        </p:txBody>
      </p:sp>
      <p:sp>
        <p:nvSpPr>
          <p:cNvPr id="92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1DB79279-9E46-4FA8-B320-E8D28D66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4AE"/>
          </a:solidFill>
          <a:ln xmlns:a="http://schemas.openxmlformats.org/drawingml/2006/main" w="0">
            <a:solidFill>
              <a:srgbClr val="1C64AE"/>
            </a:solidFill>
            <a:prstDash val="solid"/>
          </a:ln>
        </p:spPr>
      </p:sp>
      <p:sp>
        <p:nvSpPr>
          <p:cNvPr id="93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8A19F447-C218-4B75-AEDC-55B74FFC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C64AE"/>
                </a:solidFill>
              </a:defRPr>
            </a:pPr>
            <a:r>
              <a:rPr sz="3150" b="1">
                <a:solidFill>
                  <a:srgbClr val="1C64AE"/>
                </a:solidFill>
              </a:rPr>
              <a:t>Boundary Guard</a:t>
            </a:r>
          </a:p>
        </p:txBody>
      </p:sp>
      <p:sp>
        <p:nvSpPr>
          <p:cNvPr id="94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351FCE71-D1BE-4CB7-8419-776C74A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346525"/>
            <a:ext cx="47910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Rejects out-of-domain requests and unsupported PSU scopes.</a:t>
            </a:r>
          </a:p>
        </p:txBody>
      </p:sp>
      <p:sp>
        <p:nvSpPr>
          <p:cNvPr id="95" name="ambiguity-line">
            <a:extLst xmlns:a="http://schemas.openxmlformats.org/drawingml/2006/main">
              <a:ext uri="{FF2B5EF4-FFF2-40B4-BE49-F238E27FC236}">
                <a16:creationId xmlns:a16="http://schemas.microsoft.com/office/drawing/2014/main" id="{9E95B072-BC78-418B-B88D-741B942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6B7"/>
          </a:solidFill>
          <a:ln xmlns:a="http://schemas.openxmlformats.org/drawingml/2006/main" w="0">
            <a:solidFill>
              <a:srgbClr val="6656B7"/>
            </a:solidFill>
            <a:prstDash val="solid"/>
          </a:ln>
        </p:spPr>
      </p:sp>
      <p:sp>
        <p:nvSpPr>
          <p:cNvPr id="96" name="ambiguity-title">
            <a:extLst xmlns:a="http://schemas.openxmlformats.org/drawingml/2006/main">
              <a:ext uri="{FF2B5EF4-FFF2-40B4-BE49-F238E27FC236}">
                <a16:creationId xmlns:a16="http://schemas.microsoft.com/office/drawing/2014/main" id="{0E5AFD58-A71A-4CFC-AD51-EDFDBCCA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6656B7"/>
                </a:solidFill>
              </a:defRPr>
            </a:pPr>
            <a:r>
              <a:rPr sz="3150" b="1">
                <a:solidFill>
                  <a:srgbClr val="6656B7"/>
                </a:solidFill>
              </a:rPr>
              <a:t>Ambiguity Gate</a:t>
            </a:r>
          </a:p>
        </p:txBody>
      </p:sp>
      <p:sp>
        <p:nvSpPr>
          <p:cNvPr id="97" name="ambiguity-body">
            <a:extLst xmlns:a="http://schemas.openxmlformats.org/drawingml/2006/main">
              <a:ext uri="{FF2B5EF4-FFF2-40B4-BE49-F238E27FC236}">
                <a16:creationId xmlns:a16="http://schemas.microsoft.com/office/drawing/2014/main" id="{08354B19-16A7-48FB-9E1B-0BAD416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46525"/>
            <a:ext cx="47910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Asks when a target, reference or intended item cannot be resolved.</a:t>
            </a:r>
          </a:p>
        </p:txBody>
      </p:sp>
      <p:sp>
        <p:nvSpPr>
          <p:cNvPr id="98" name="source-line">
            <a:extLst xmlns:a="http://schemas.openxmlformats.org/drawingml/2006/main">
              <a:ext uri="{FF2B5EF4-FFF2-40B4-BE49-F238E27FC236}">
                <a16:creationId xmlns:a16="http://schemas.microsoft.com/office/drawing/2014/main" id="{86539E67-F4F4-428D-AC04-FC280FD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99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E89199D9-0504-4E63-AC45-B2118A44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48C75"/>
                </a:solidFill>
              </a:defRPr>
            </a:pPr>
            <a:r>
              <a:rPr sz="3150" b="1">
                <a:solidFill>
                  <a:srgbClr val="148C75"/>
                </a:solidFill>
              </a:rPr>
              <a:t>Source Guard</a:t>
            </a:r>
          </a:p>
        </p:txBody>
      </p:sp>
      <p:sp>
        <p:nvSpPr>
          <p:cNvPr id="100" name="source-body">
            <a:extLst xmlns:a="http://schemas.openxmlformats.org/drawingml/2006/main">
              <a:ext uri="{FF2B5EF4-FFF2-40B4-BE49-F238E27FC236}">
                <a16:creationId xmlns:a16="http://schemas.microsoft.com/office/drawing/2014/main" id="{A6CFCFCA-BB2A-41A4-9EDA-70C8D1A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9346525"/>
            <a:ext cx="47910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Checks category, target, trust level and conflicting evidence.</a:t>
            </a:r>
          </a:p>
        </p:txBody>
      </p:sp>
      <p:sp>
        <p:nvSpPr>
          <p:cNvPr id="101" name="contract-line">
            <a:extLst xmlns:a="http://schemas.openxmlformats.org/drawingml/2006/main">
              <a:ext uri="{FF2B5EF4-FFF2-40B4-BE49-F238E27FC236}">
                <a16:creationId xmlns:a16="http://schemas.microsoft.com/office/drawing/2014/main" id="{CF669955-A765-4AB1-8DF4-69AF5658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02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7431CC12-85CA-4828-A340-AF69B800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86226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E86E21"/>
                </a:solidFill>
              </a:defRPr>
            </a:pPr>
            <a:r>
              <a:rPr sz="3150" b="1">
                <a:solidFill>
                  <a:srgbClr val="E86E21"/>
                </a:solidFill>
              </a:rPr>
              <a:t>Answer Contract</a:t>
            </a:r>
          </a:p>
        </p:txBody>
      </p:sp>
      <p:sp>
        <p:nvSpPr>
          <p:cNvPr id="103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7B0F38C8-ADDE-4B4C-967D-89DDAB2A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29346525"/>
            <a:ext cx="47910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Verifies required claims, supported facts and response completeness.</a:t>
            </a:r>
          </a:p>
        </p:txBody>
      </p:sp>
      <p:sp>
        <p:nvSpPr>
          <p:cNvPr id="104" name="veto-line">
            <a:extLst xmlns:a="http://schemas.openxmlformats.org/drawingml/2006/main">
              <a:ext uri="{FF2B5EF4-FFF2-40B4-BE49-F238E27FC236}">
                <a16:creationId xmlns:a16="http://schemas.microsoft.com/office/drawing/2014/main" id="{8BE25B33-D648-4AE4-B76D-DF83E198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28622625"/>
            <a:ext cx="114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105" name="veto-title">
            <a:extLst xmlns:a="http://schemas.openxmlformats.org/drawingml/2006/main">
              <a:ext uri="{FF2B5EF4-FFF2-40B4-BE49-F238E27FC236}">
                <a16:creationId xmlns:a16="http://schemas.microsoft.com/office/drawing/2014/main" id="{9CEF6BC0-82BB-43AD-A28C-68B21863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28622625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C64758"/>
                </a:solidFill>
              </a:defRPr>
            </a:pPr>
            <a:r>
              <a:rPr sz="3150" b="1">
                <a:solidFill>
                  <a:srgbClr val="C64758"/>
                </a:solidFill>
              </a:rPr>
              <a:t>Repair + Hard Veto</a:t>
            </a:r>
          </a:p>
        </p:txBody>
      </p:sp>
      <p:sp>
        <p:nvSpPr>
          <p:cNvPr id="106" name="veto-body">
            <a:extLst xmlns:a="http://schemas.openxmlformats.org/drawingml/2006/main">
              <a:ext uri="{FF2B5EF4-FFF2-40B4-BE49-F238E27FC236}">
                <a16:creationId xmlns:a16="http://schemas.microsoft.com/office/drawing/2014/main" id="{1431611C-7B79-40AF-849E-C1E3D24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29346525"/>
            <a:ext cx="4914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13283C"/>
                </a:solidFill>
              </a:defRPr>
            </a:pPr>
            <a:r>
              <a:rPr sz="2700" b="0">
                <a:solidFill>
                  <a:srgbClr val="13283C"/>
                </a:solidFill>
              </a:rPr>
              <a:t>Repairs within a fixed limit; blocks unsafe or unsupported output.</a:t>
            </a:r>
          </a:p>
        </p:txBody>
      </p:sp>
      <p:sp>
        <p:nvSpPr>
          <p:cNvPr id="107" name="safety-takeaway">
            <a:extLst xmlns:a="http://schemas.openxmlformats.org/drawingml/2006/main">
              <a:ext uri="{FF2B5EF4-FFF2-40B4-BE49-F238E27FC236}">
                <a16:creationId xmlns:a16="http://schemas.microsoft.com/office/drawing/2014/main" id="{37464716-F512-42B9-99B4-FDC05CC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0"/>
            <a:ext cx="274129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sp>
        <p:nvSpPr>
          <p:cNvPr id="108" name="safety-takeaway-text">
            <a:extLst xmlns:a="http://schemas.openxmlformats.org/drawingml/2006/main">
              <a:ext uri="{FF2B5EF4-FFF2-40B4-BE49-F238E27FC236}">
                <a16:creationId xmlns:a16="http://schemas.microsoft.com/office/drawing/2014/main" id="{C3D9A698-4537-4788-A925-0CF0B31A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337250"/>
            <a:ext cx="2665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092441"/>
                </a:solidFill>
              </a:defRPr>
            </a:pPr>
            <a:r>
              <a:rPr sz="3150" b="1">
                <a:solidFill>
                  <a:srgbClr val="092441"/>
                </a:solidFill>
              </a:rPr>
              <a:t>If evidence is insufficient, the system asks a clarifying question or returns no-answer instead of guessing.</a:t>
            </a:r>
          </a:p>
        </p:txBody>
      </p:sp>
      <p:sp>
        <p:nvSpPr>
          <p:cNvPr id="109" name="results-bar">
            <a:extLst xmlns:a="http://schemas.openxmlformats.org/drawingml/2006/main">
              <a:ext uri="{FF2B5EF4-FFF2-40B4-BE49-F238E27FC236}">
                <a16:creationId xmlns:a16="http://schemas.microsoft.com/office/drawing/2014/main" id="{87585B03-345A-4FF3-BD84-6B770E3F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0"/>
            <a:ext cx="27412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110" name="results-accent">
            <a:extLst xmlns:a="http://schemas.openxmlformats.org/drawingml/2006/main">
              <a:ext uri="{FF2B5EF4-FFF2-40B4-BE49-F238E27FC236}">
                <a16:creationId xmlns:a16="http://schemas.microsoft.com/office/drawing/2014/main" id="{68BF6881-BDD4-40D0-B9D8-3F2A342E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0"/>
            <a:ext cx="19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11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BF02A4D4-BDEA-486D-A2F1-8D95EC80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451675"/>
            <a:ext cx="2638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5. RESULTS &amp; PRODUCT READINESS</a:t>
            </a:r>
          </a:p>
        </p:txBody>
      </p:sp>
      <p:sp>
        <p:nvSpPr>
          <p:cNvPr id="112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BB32ED5-76BE-4C4F-8D07-CAF544F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C64AE"/>
                </a:solidFill>
              </a:defRPr>
            </a:pPr>
            <a:r>
              <a:rPr sz="5400" b="1">
                <a:solidFill>
                  <a:srgbClr val="1C64AE"/>
                </a:solidFill>
              </a:rPr>
              <a:t>1,600+</a:t>
            </a:r>
          </a:p>
        </p:txBody>
      </p:sp>
      <p:sp>
        <p:nvSpPr>
          <p:cNvPr id="113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8FE7D5D-7BC9-45CA-B9F1-B77435F7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EVALUATION CASES</a:t>
            </a:r>
          </a:p>
        </p:txBody>
      </p:sp>
      <p:sp>
        <p:nvSpPr>
          <p:cNvPr id="114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DD04739-F39F-4162-B359-0CFE921D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48C75"/>
                </a:solidFill>
              </a:defRPr>
            </a:pPr>
            <a:r>
              <a:rPr sz="5400" b="1">
                <a:solidFill>
                  <a:srgbClr val="148C75"/>
                </a:solidFill>
              </a:rPr>
              <a:t>94.75%</a:t>
            </a:r>
          </a:p>
        </p:txBody>
      </p:sp>
      <p:sp>
        <p:nvSpPr>
          <p:cNvPr id="115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3FE60B00-BEF6-4C25-A000-F51B4A7E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PASS RATE</a:t>
            </a:r>
          </a:p>
        </p:txBody>
      </p:sp>
      <p:sp>
        <p:nvSpPr>
          <p:cNvPr id="116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28B57D9-9007-47B6-92CF-46AAC9A3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E86E21"/>
                </a:solidFill>
              </a:defRPr>
            </a:pPr>
            <a:r>
              <a:rPr sz="5400" b="1">
                <a:solidFill>
                  <a:srgbClr val="E86E21"/>
                </a:solidFill>
              </a:rPr>
              <a:t>2.31 s</a:t>
            </a:r>
          </a:p>
        </p:txBody>
      </p:sp>
      <p:sp>
        <p:nvSpPr>
          <p:cNvPr id="117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2C6FE83-5304-48E2-9C6A-AF73D3E0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AVERAGE LATENCY</a:t>
            </a:r>
          </a:p>
        </p:txBody>
      </p:sp>
      <p:sp>
        <p:nvSpPr>
          <p:cNvPr id="118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20069868-225D-46A8-831E-7E2BFED6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3289875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C64758"/>
                </a:solidFill>
              </a:defRPr>
            </a:pPr>
            <a:r>
              <a:rPr sz="5400" b="1">
                <a:solidFill>
                  <a:srgbClr val="C64758"/>
                </a:solidFill>
              </a:rPr>
              <a:t>12.53 s</a:t>
            </a:r>
          </a:p>
        </p:txBody>
      </p:sp>
      <p:sp>
        <p:nvSpPr>
          <p:cNvPr id="119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7E17D4F2-7C7B-4DF6-98A3-86A35DD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41471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536A7F"/>
                </a:solidFill>
              </a:defRPr>
            </a:pPr>
            <a:r>
              <a:rPr sz="2925" b="1">
                <a:solidFill>
                  <a:srgbClr val="536A7F"/>
                </a:solidFill>
              </a:rPr>
              <a:t>P95 LATENCY</a:t>
            </a:r>
          </a:p>
        </p:txBody>
      </p:sp>
      <p:sp>
        <p:nvSpPr>
          <p:cNvPr id="120" name="finding">
            <a:extLst xmlns:a="http://schemas.openxmlformats.org/drawingml/2006/main">
              <a:ext uri="{FF2B5EF4-FFF2-40B4-BE49-F238E27FC236}">
                <a16:creationId xmlns:a16="http://schemas.microsoft.com/office/drawing/2014/main" id="{2CD876A8-6888-43DB-B22C-7253B7C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0"/>
            <a:ext cx="27412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9050">
            <a:solidFill>
              <a:srgbClr val="C8D6E4"/>
            </a:solidFill>
            <a:prstDash val="solid"/>
          </a:ln>
        </p:spPr>
      </p:sp>
      <p:sp>
        <p:nvSpPr>
          <p:cNvPr id="121" name="finding-text">
            <a:extLst xmlns:a="http://schemas.openxmlformats.org/drawingml/2006/main">
              <a:ext uri="{FF2B5EF4-FFF2-40B4-BE49-F238E27FC236}">
                <a16:creationId xmlns:a16="http://schemas.microsoft.com/office/drawing/2014/main" id="{F719F4A0-1B71-497A-B453-8B5A0639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0"/>
            <a:ext cx="2665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1">
                <a:solidFill>
                  <a:srgbClr val="13283C"/>
                </a:solidFill>
              </a:defRPr>
            </a:pPr>
            <a:r>
              <a:rPr sz="3150" b="1">
                <a:solidFill>
                  <a:srgbClr val="13283C"/>
                </a:solidFill>
              </a:rPr>
              <a:t>KEY FINDING   Average latency meets the 10-second goal, but P95 does not. Tail latency and concurrent-user queueing remain the main production risks.</a:t>
            </a:r>
          </a:p>
        </p:txBody>
      </p:sp>
      <p:sp>
        <p:nvSpPr>
          <p:cNvPr id="122" name="readiness-heading">
            <a:extLst xmlns:a="http://schemas.openxmlformats.org/drawingml/2006/main">
              <a:ext uri="{FF2B5EF4-FFF2-40B4-BE49-F238E27FC236}">
                <a16:creationId xmlns:a16="http://schemas.microsoft.com/office/drawing/2014/main" id="{340CD0E6-9001-4A23-8D45-9E0621B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52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450" b="1">
                <a:solidFill>
                  <a:srgbClr val="092441"/>
                </a:solidFill>
              </a:defRPr>
            </a:pPr>
            <a:r>
              <a:rPr sz="3450" b="1">
                <a:solidFill>
                  <a:srgbClr val="092441"/>
                </a:solidFill>
              </a:rPr>
              <a:t>CURRENT READINESS</a:t>
            </a:r>
          </a:p>
        </p:txBody>
      </p:sp>
      <p:sp>
        <p:nvSpPr>
          <p:cNvPr id="123" name="status-0">
            <a:extLst xmlns:a="http://schemas.openxmlformats.org/drawingml/2006/main">
              <a:ext uri="{FF2B5EF4-FFF2-40B4-BE49-F238E27FC236}">
                <a16:creationId xmlns:a16="http://schemas.microsoft.com/office/drawing/2014/main" id="{4B7D9109-0D1C-4743-9F3F-A95E71CF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8C75"/>
          </a:solidFill>
          <a:ln xmlns:a="http://schemas.openxmlformats.org/drawingml/2006/main" w="0">
            <a:solidFill>
              <a:srgbClr val="148C75"/>
            </a:solidFill>
            <a:prstDash val="solid"/>
          </a:ln>
        </p:spPr>
      </p:sp>
      <p:sp>
        <p:nvSpPr>
          <p:cNvPr id="124" name="status-0-text">
            <a:extLst xmlns:a="http://schemas.openxmlformats.org/drawingml/2006/main">
              <a:ext uri="{FF2B5EF4-FFF2-40B4-BE49-F238E27FC236}">
                <a16:creationId xmlns:a16="http://schemas.microsoft.com/office/drawing/2014/main" id="{5D5E7D51-9A08-4F11-8F4B-B7773A6C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FAQ CHATBOT  |  READY</a:t>
            </a:r>
          </a:p>
        </p:txBody>
      </p:sp>
      <p:sp>
        <p:nvSpPr>
          <p:cNvPr id="125" name="status-1">
            <a:extLst xmlns:a="http://schemas.openxmlformats.org/drawingml/2006/main">
              <a:ext uri="{FF2B5EF4-FFF2-40B4-BE49-F238E27FC236}">
                <a16:creationId xmlns:a16="http://schemas.microsoft.com/office/drawing/2014/main" id="{546BC173-E183-4C67-A716-4307D243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E21"/>
          </a:solidFill>
          <a:ln xmlns:a="http://schemas.openxmlformats.org/drawingml/2006/main" w="0">
            <a:solidFill>
              <a:srgbClr val="E86E21"/>
            </a:solidFill>
            <a:prstDash val="solid"/>
          </a:ln>
        </p:spPr>
      </p:sp>
      <p:sp>
        <p:nvSpPr>
          <p:cNvPr id="126" name="status-1-text">
            <a:extLst xmlns:a="http://schemas.openxmlformats.org/drawingml/2006/main">
              <a:ext uri="{FF2B5EF4-FFF2-40B4-BE49-F238E27FC236}">
                <a16:creationId xmlns:a16="http://schemas.microsoft.com/office/drawing/2014/main" id="{9419F457-007F-43A7-A5E4-5E7899CE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CHECK SLOT  |  WAITING WP API</a:t>
            </a:r>
          </a:p>
        </p:txBody>
      </p:sp>
      <p:sp>
        <p:nvSpPr>
          <p:cNvPr id="127" name="status-2">
            <a:extLst xmlns:a="http://schemas.openxmlformats.org/drawingml/2006/main">
              <a:ext uri="{FF2B5EF4-FFF2-40B4-BE49-F238E27FC236}">
                <a16:creationId xmlns:a16="http://schemas.microsoft.com/office/drawing/2014/main" id="{A8E98BBE-3E5D-4359-9AC4-25D8DAB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687D7"/>
          </a:solidFill>
          <a:ln xmlns:a="http://schemas.openxmlformats.org/drawingml/2006/main" w="0">
            <a:solidFill>
              <a:srgbClr val="2687D7"/>
            </a:solidFill>
            <a:prstDash val="solid"/>
          </a:ln>
        </p:spPr>
      </p:sp>
      <p:sp>
        <p:nvSpPr>
          <p:cNvPr id="128" name="status-2-text">
            <a:extLst xmlns:a="http://schemas.openxmlformats.org/drawingml/2006/main">
              <a:ext uri="{FF2B5EF4-FFF2-40B4-BE49-F238E27FC236}">
                <a16:creationId xmlns:a16="http://schemas.microsoft.com/office/drawing/2014/main" id="{7EF4643E-0D4D-4CC2-BC0E-D6EC140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ADMIN INPUT  |  DESIGNED</a:t>
            </a:r>
          </a:p>
        </p:txBody>
      </p:sp>
      <p:sp>
        <p:nvSpPr>
          <p:cNvPr id="129" name="status-3">
            <a:extLst xmlns:a="http://schemas.openxmlformats.org/drawingml/2006/main">
              <a:ext uri="{FF2B5EF4-FFF2-40B4-BE49-F238E27FC236}">
                <a16:creationId xmlns:a16="http://schemas.microsoft.com/office/drawing/2014/main" id="{F5021D9D-6E3D-4708-BD54-A3C9F383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36671250"/>
            <a:ext cx="600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64758"/>
          </a:solidFill>
          <a:ln xmlns:a="http://schemas.openxmlformats.org/drawingml/2006/main" w="0">
            <a:solidFill>
              <a:srgbClr val="C64758"/>
            </a:solidFill>
            <a:prstDash val="solid"/>
          </a:ln>
        </p:spPr>
      </p:sp>
      <p:sp>
        <p:nvSpPr>
          <p:cNvPr id="130" name="status-3-text">
            <a:extLst xmlns:a="http://schemas.openxmlformats.org/drawingml/2006/main">
              <a:ext uri="{FF2B5EF4-FFF2-40B4-BE49-F238E27FC236}">
                <a16:creationId xmlns:a16="http://schemas.microsoft.com/office/drawing/2014/main" id="{DA97655C-B681-4958-ADCE-17F2CB90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36747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BOOKING  |  FUTURE</a:t>
            </a:r>
          </a:p>
        </p:txBody>
      </p:sp>
      <p:sp>
        <p:nvSpPr>
          <p:cNvPr id="131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0D7B04B6-2BCB-405D-91DE-5DD121D9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E86E21"/>
                </a:solidFill>
              </a:defRPr>
            </a:pPr>
            <a:r>
              <a:rPr sz="3375" b="1">
                <a:solidFill>
                  <a:srgbClr val="E86E21"/>
                </a:solidFill>
              </a:rPr>
              <a:t>NEXT MILESTONES</a:t>
            </a:r>
          </a:p>
        </p:txBody>
      </p:sp>
      <p:sp>
        <p:nvSpPr>
          <p:cNvPr id="132" name="next-body">
            <a:extLst xmlns:a="http://schemas.openxmlformats.org/drawingml/2006/main">
              <a:ext uri="{FF2B5EF4-FFF2-40B4-BE49-F238E27FC236}">
                <a16:creationId xmlns:a16="http://schemas.microsoft.com/office/drawing/2014/main" id="{3B419909-5C01-4DBA-9039-73FC3AC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38125"/>
            <a:ext cx="1714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0">
                <a:solidFill>
                  <a:srgbClr val="13283C"/>
                </a:solidFill>
              </a:defRPr>
            </a:pPr>
            <a:r>
              <a:rPr sz="2925" b="0">
                <a:solidFill>
                  <a:srgbClr val="13283C"/>
                </a:solidFill>
              </a:rPr>
              <a:t>Reduce P95 below 10s  |  Multi-user load and session-isolation tests  |  Shared queue/worker  |  WordPress slot API  |  Dual-publish content workflow</a:t>
            </a:r>
          </a:p>
        </p:txBody>
      </p:sp>
      <p:sp>
        <p:nvSpPr>
          <p:cNvPr id="133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0EEB419B-95E4-44C3-9B56-34D727C6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78142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6656B7"/>
                </a:solidFill>
              </a:defRPr>
            </a:pPr>
            <a:r>
              <a:rPr sz="3375" b="1">
                <a:solidFill>
                  <a:srgbClr val="6656B7"/>
                </a:solidFill>
              </a:rPr>
              <a:t>SOURCES</a:t>
            </a:r>
          </a:p>
        </p:txBody>
      </p:sp>
      <p:sp>
        <p:nvSpPr>
          <p:cNvPr id="134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9D5CD330-7ED3-4ADA-81D4-0B4A68F2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38338125"/>
            <a:ext cx="9315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3283C"/>
                </a:solidFill>
              </a:defRPr>
            </a:pPr>
            <a:r>
              <a:rPr sz="2850" b="0">
                <a:solidFill>
                  <a:srgbClr val="13283C"/>
                </a:solidFill>
              </a:rPr>
              <a:t>PSU Esports Studio official website  |  Typhoon2.5-Qwen3-4B model card  |  BGE-M3 paper (arXiv:2402.03216)  |  Project Flow 43 and evaluation logs</a:t>
            </a:r>
          </a:p>
        </p:txBody>
      </p:sp>
    </p:spTree>
    <p:extLst>
      <p:ext uri="{BB962C8B-B14F-4D97-AF65-F5344CB8AC3E}">
        <p14:creationId xmlns:p14="http://schemas.microsoft.com/office/powerpoint/2010/main" val="1460841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2026-08-27T20:11:12.3380000Z</dcterms:created>
  <dcterms:modified xsi:type="dcterms:W3CDTF">2026-08-27T20:11:12.3380000Z</dcterms:modified>
</coreProperties>
</file>