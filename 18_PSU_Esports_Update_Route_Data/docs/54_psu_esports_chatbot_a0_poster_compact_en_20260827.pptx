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99524a42d64a44" /><Relationship Type="http://schemas.openxmlformats.org/officeDocument/2006/relationships/extended-properties" Target="/docProps/app.xml" Id="Rae165afdfa864f91" /><Relationship Type="http://schemas.openxmlformats.org/officeDocument/2006/relationships/officeDocument" Target="/ppt/presentation.xml" Id="Rf1f7c731f5b44f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f7898dc0e74671"/>
  </p:sldMasterIdLst>
  <p:notesMasterIdLst>
    <p:notesMasterId xmlns:r="http://schemas.openxmlformats.org/officeDocument/2006/relationships" r:id="R3534ed02f2c14cf9"/>
  </p:notesMasterIdLst>
  <p:sldIdLst>
    <p:sldId xmlns:r="http://schemas.openxmlformats.org/officeDocument/2006/relationships" id="256" r:id="R804b3e6c1426492a"/>
  </p:sldIdLst>
  <p:sldSz cx="30275784" cy="42806112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6a00393299465b" /><Relationship Type="http://schemas.openxmlformats.org/officeDocument/2006/relationships/slideMaster" Target="/ppt/slideMasters/slideMaster1.xml" Id="Reef7898dc0e74671" /><Relationship Type="http://schemas.openxmlformats.org/officeDocument/2006/relationships/notesMaster" Target="/ppt/notesMasters/notesMaster1.xml" Id="R3534ed02f2c14cf9" /><Relationship Type="http://schemas.openxmlformats.org/officeDocument/2006/relationships/presProps" Target="/ppt/presProps.xml" Id="R08638593316448d9" /><Relationship Type="http://schemas.openxmlformats.org/officeDocument/2006/relationships/tableStyles" Target="/ppt/tableStyles.xml" Id="R2ff5018a8aef4592" /><Relationship Type="http://schemas.openxmlformats.org/officeDocument/2006/relationships/slide" Target="/ppt/slides/slide1.xml" Id="R804b3e6c142649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e7aa11dd3347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94017af2754da9" /><Relationship Type="http://schemas.openxmlformats.org/officeDocument/2006/relationships/notesMaster" Target="/ppt/notesMasters/notesMaster1.xml" Id="R1a8ab32aba4745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Official A0 background supplied by the user: D:/Download New/SuperAI6_PosterA0-Template_PNG.png</a:t>
            </a:r>
          </a:p>
          <a:p xmlns:a="http://schemas.openxmlformats.org/drawingml/2006/main">
            <a:r>
              <a:t>PSU Esports Studio logo supplied by the user: C:/Users/Chokhun/Downloads/Sticker.pdf.png</a:t>
            </a:r>
          </a:p>
          <a:p xmlns:a="http://schemas.openxmlformats.org/drawingml/2006/main">
            <a:r>
              <a:t>Design references supplied by the user: D:/Download New/_Real-Time Conversational AI Pipeline Poster.pdf; C:/Users/Chokhun/AppData/Local/Temp/1.png; C:/Users/Chokhun/AppData/Local/Temp/codex-clipboard-83d3ecea-c793-438d-83d8-9c66c7f7bb4a.png</a:t>
            </a:r>
          </a:p>
          <a:p xmlns:a="http://schemas.openxmlformats.org/drawingml/2006/main">
            <a:r>
              <a:t>Project architecture and evaluation: project docs/43, docs/45-46, and daily logs dated 2026-08-27.</a:t>
            </a:r>
          </a:p>
          <a:p xmlns:a="http://schemas.openxmlformats.org/drawingml/2006/main">
            <a:r>
              <a:t>PSU Esports Studio official website: https://esports.phuket.psu.ac.th/</a:t>
            </a:r>
          </a:p>
          <a:p xmlns:a="http://schemas.openxmlformats.org/drawingml/2006/main">
            <a:r>
              <a:t>Typhoon model card: https://huggingface.co/typhoon-ai/typhoon2.5-qwen3-4b</a:t>
            </a:r>
          </a:p>
          <a:p xmlns:a="http://schemas.openxmlformats.org/drawingml/2006/main">
            <a:r>
              <a:t>BGE-M3 paper: https://arxiv.org/abs/2402.03216</a:t>
            </a:r>
          </a:p>
          <a:p xmlns:a="http://schemas.openxmlformats.org/drawingml/2006/main">
            <a:r>
              <a:t>Hero illustration generated with the built-in image generation tool on 2026-08-27.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ef63f36fc40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d89e44fd624b07" /><Relationship Type="http://schemas.openxmlformats.org/officeDocument/2006/relationships/slideLayout" Target="/ppt/slideLayouts/slideLayout1.xml" Id="R61f0bfe99bbe41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f0bfe99bbe41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624269deb416b" /><Relationship Type="http://schemas.openxmlformats.org/officeDocument/2006/relationships/image" Target="/ppt/media/image.png" Id="R820ed49204e84569" /><Relationship Type="http://schemas.openxmlformats.org/officeDocument/2006/relationships/image" Target="/ppt/media/image2.png" Id="R0c7930656dc1454d" /><Relationship Type="http://schemas.openxmlformats.org/officeDocument/2006/relationships/image" Target="/ppt/media/image3.png" Id="Rbdbb457b0c304dfc" /><Relationship Type="http://schemas.openxmlformats.org/officeDocument/2006/relationships/notesSlide" Target="/ppt/notesSlides/notesSlide1.xml" Id="R0b1451b3443b4f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ed49204e845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0275784" cy="42806112"/>
          </a:xfrm>
          <a:prstGeom xmlns:a="http://schemas.openxmlformats.org/drawingml/2006/main" prst="rect">
            <a:avLst/>
          </a:prstGeom>
        </p:spPr>
      </p:pic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930656dc1454d"/>
          <a:stretch xmlns:a="http://schemas.openxmlformats.org/drawingml/2006/main"/>
        </p:blipFill>
        <p:spPr>
          <a:xfrm xmlns:a="http://schemas.openxmlformats.org/drawingml/2006/main">
            <a:off x="1476375" y="6564313"/>
            <a:ext cx="4953000" cy="1444625"/>
          </a:xfrm>
          <a:prstGeom xmlns:a="http://schemas.openxmlformats.org/drawingml/2006/main" prst="rect">
            <a:avLst/>
          </a:prstGeom>
        </p:spPr>
      </p:pic>
      <p:sp>
        <p:nvSpPr>
          <p:cNvPr id="3" name="channel">
            <a:extLst xmlns:a="http://schemas.openxmlformats.org/drawingml/2006/main">
              <a:ext uri="{FF2B5EF4-FFF2-40B4-BE49-F238E27FC236}">
                <a16:creationId xmlns:a16="http://schemas.microsoft.com/office/drawing/2014/main" id="{892051AE-CB45-460F-9E1D-4874A774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2867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C64AE"/>
                </a:solidFill>
              </a:defRPr>
            </a:pPr>
            <a:r>
              <a:rPr sz="3150" b="1">
                <a:solidFill>
                  <a:srgbClr val="1C64AE"/>
                </a:solidFill>
              </a:rPr>
              <a:t>LOCAL-FIRST WEBSITE CHATBOT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794547B-634F-4406-8CC4-DBD7378A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143625"/>
            <a:ext cx="1714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8C22D66-3DB0-482B-B5A2-CD53F9C7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91250"/>
            <a:ext cx="2133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92441"/>
                </a:solidFill>
              </a:defRPr>
            </a:pPr>
            <a:r>
              <a:rPr sz="6150" b="1">
                <a:solidFill>
                  <a:srgbClr val="092441"/>
                </a:solidFill>
              </a:rPr>
              <a:t>AI Chatbot for Multi-Route Hybrid</a:t>
            </a:r>
          </a:p>
          <a:p xmlns:a="http://schemas.openxmlformats.org/drawingml/2006/main">
            <a:pPr algn="l">
              <a:defRPr sz="6150" b="1">
                <a:solidFill>
                  <a:srgbClr val="092441"/>
                </a:solidFill>
              </a:defRPr>
            </a:pPr>
            <a:r>
              <a:rPr sz="6150" b="1">
                <a:solidFill>
                  <a:srgbClr val="092441"/>
                </a:solidFill>
              </a:rPr>
              <a:t>Esports Knowledge Base</a:t>
            </a:r>
          </a:p>
        </p:txBody>
      </p:sp>
      <p:sp>
        <p:nvSpPr>
          <p:cNvPr id="6" name="tagline">
            <a:extLst xmlns:a="http://schemas.openxmlformats.org/drawingml/2006/main">
              <a:ext uri="{FF2B5EF4-FFF2-40B4-BE49-F238E27FC236}">
                <a16:creationId xmlns:a16="http://schemas.microsoft.com/office/drawing/2014/main" id="{C8314DF7-6007-4371-8B66-D00739B4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267700"/>
            <a:ext cx="2133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64AE"/>
                </a:solidFill>
              </a:defRPr>
            </a:pPr>
            <a:r>
              <a:rPr sz="3600" b="1">
                <a:solidFill>
                  <a:srgbClr val="1C64AE"/>
                </a:solidFill>
              </a:rPr>
              <a:t>Structured facts + Semantic RAG + Gated Local LLM</a:t>
            </a:r>
          </a:p>
        </p:txBody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0BDEC73A-8FA5-4C9F-B2EC-32276F7B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001125"/>
            <a:ext cx="2133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3283C"/>
                </a:solidFill>
              </a:defRPr>
            </a:pPr>
            <a:r>
              <a:rPr sz="3750" b="1">
                <a:solidFill>
                  <a:srgbClr val="13283C"/>
                </a:solidFill>
              </a:rPr>
              <a:t>Presented by นายภาสวุฒิ ชูติประชากิจ  |  Trainee ID 600584</a:t>
            </a:r>
          </a:p>
        </p:txBody>
      </p:sp>
      <p:sp>
        <p:nvSpPr>
          <p:cNvPr id="8" name="host">
            <a:extLst xmlns:a="http://schemas.openxmlformats.org/drawingml/2006/main">
              <a:ext uri="{FF2B5EF4-FFF2-40B4-BE49-F238E27FC236}">
                <a16:creationId xmlns:a16="http://schemas.microsoft.com/office/drawing/2014/main" id="{3F9B97C0-03D2-4DA2-BBF7-0FAE6041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591675"/>
            <a:ext cx="2133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536A7F"/>
                </a:solidFill>
              </a:defRPr>
            </a:pPr>
            <a:r>
              <a:rPr sz="3600" b="0">
                <a:solidFill>
                  <a:srgbClr val="536A7F"/>
                </a:solidFill>
              </a:rPr>
              <a:t>Host Organization: PSU Esports Studio - Phuket</a:t>
            </a:r>
          </a:p>
        </p:txBody>
      </p:sp>
      <p:sp>
        <p:nvSpPr>
          <p:cNvPr id="9" name="overview-bar">
            <a:extLst xmlns:a="http://schemas.openxmlformats.org/drawingml/2006/main">
              <a:ext uri="{FF2B5EF4-FFF2-40B4-BE49-F238E27FC236}">
                <a16:creationId xmlns:a16="http://schemas.microsoft.com/office/drawing/2014/main" id="{7AEF2035-B789-4F73-8D07-33829991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572750"/>
            <a:ext cx="27412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C64AE"/>
          </a:solidFill>
          <a:ln xmlns:a="http://schemas.openxmlformats.org/drawingml/2006/main" w="0">
            <a:solidFill>
              <a:srgbClr val="1C64AE"/>
            </a:solidFill>
            <a:prstDash val="solid"/>
          </a:ln>
        </p:spPr>
      </p:sp>
      <p:sp>
        <p:nvSpPr>
          <p:cNvPr id="10" name="overview-accent">
            <a:extLst xmlns:a="http://schemas.openxmlformats.org/drawingml/2006/main">
              <a:ext uri="{FF2B5EF4-FFF2-40B4-BE49-F238E27FC236}">
                <a16:creationId xmlns:a16="http://schemas.microsoft.com/office/drawing/2014/main" id="{7C65D524-3C86-4E8C-BF82-0D91AD58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572750"/>
            <a:ext cx="19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11" name="overview-title">
            <a:extLst xmlns:a="http://schemas.openxmlformats.org/drawingml/2006/main">
              <a:ext uri="{FF2B5EF4-FFF2-40B4-BE49-F238E27FC236}">
                <a16:creationId xmlns:a16="http://schemas.microsoft.com/office/drawing/2014/main" id="{5AA2363B-9B76-499C-A75E-4F85A928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0639425"/>
            <a:ext cx="2638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1. PROJECT OVERVIEW</a:t>
            </a:r>
          </a:p>
        </p:txBody>
      </p:sp>
      <p:sp>
        <p:nvSpPr>
          <p:cNvPr id="12" name="overview-purpose">
            <a:extLst xmlns:a="http://schemas.openxmlformats.org/drawingml/2006/main">
              <a:ext uri="{FF2B5EF4-FFF2-40B4-BE49-F238E27FC236}">
                <a16:creationId xmlns:a16="http://schemas.microsoft.com/office/drawing/2014/main" id="{07A95F9C-011F-4EDD-9919-34C593A9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5252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86E21"/>
                </a:solidFill>
              </a:defRPr>
            </a:pPr>
            <a:r>
              <a:rPr sz="3750" b="1">
                <a:solidFill>
                  <a:srgbClr val="E86E21"/>
                </a:solidFill>
              </a:rPr>
              <a:t>PURPOSE</a:t>
            </a:r>
          </a:p>
        </p:txBody>
      </p:sp>
      <p:sp>
        <p:nvSpPr>
          <p:cNvPr id="13" name="overview-copy">
            <a:extLst xmlns:a="http://schemas.openxmlformats.org/drawingml/2006/main">
              <a:ext uri="{FF2B5EF4-FFF2-40B4-BE49-F238E27FC236}">
                <a16:creationId xmlns:a16="http://schemas.microsoft.com/office/drawing/2014/main" id="{D3261968-CA0B-4D37-AB19-FDFC2EF5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96750"/>
            <a:ext cx="1209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3283C"/>
                </a:solidFill>
              </a:defRPr>
            </a:pPr>
            <a:r>
              <a:rPr sz="3300" b="0">
                <a:solidFill>
                  <a:srgbClr val="13283C"/>
                </a:solidFill>
              </a:rPr>
              <a:t>A local-first assistant that answers PSU Esports FAQs from verified structured data and retrieved evidence.</a:t>
            </a:r>
          </a:p>
        </p:txBody>
      </p:sp>
      <p:sp>
        <p:nvSpPr>
          <p:cNvPr id="14" name="success-title">
            <a:extLst xmlns:a="http://schemas.openxmlformats.org/drawingml/2006/main">
              <a:ext uri="{FF2B5EF4-FFF2-40B4-BE49-F238E27FC236}">
                <a16:creationId xmlns:a16="http://schemas.microsoft.com/office/drawing/2014/main" id="{D792AF68-2EA8-4EA3-BD3D-578144B6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9065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48C75"/>
                </a:solidFill>
              </a:defRPr>
            </a:pPr>
            <a:r>
              <a:rPr sz="3450" b="1">
                <a:solidFill>
                  <a:srgbClr val="148C75"/>
                </a:solidFill>
              </a:rPr>
              <a:t>SUCCESS CRITERIA</a:t>
            </a:r>
          </a:p>
        </p:txBody>
      </p:sp>
      <p:sp>
        <p:nvSpPr>
          <p:cNvPr id="15" name="success-copy">
            <a:extLst xmlns:a="http://schemas.openxmlformats.org/drawingml/2006/main">
              <a:ext uri="{FF2B5EF4-FFF2-40B4-BE49-F238E27FC236}">
                <a16:creationId xmlns:a16="http://schemas.microsoft.com/office/drawing/2014/main" id="{99F17724-6B36-490C-95FB-907EC7E2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430375"/>
            <a:ext cx="1209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36A7F"/>
                </a:solidFill>
              </a:defRPr>
            </a:pPr>
            <a:r>
              <a:rPr sz="3000" b="1">
                <a:solidFill>
                  <a:srgbClr val="536A7F"/>
                </a:solidFill>
              </a:rPr>
              <a:t>Correct intent  |  Grounded facts  |  Safe clarification  |  Target &lt;= 10s</a:t>
            </a:r>
          </a:p>
        </p:txBody>
      </p:sp>
      <p:sp>
        <p:nvSpPr>
          <p:cNvPr id="16" name="hero-frame">
            <a:extLst xmlns:a="http://schemas.openxmlformats.org/drawingml/2006/main">
              <a:ext uri="{FF2B5EF4-FFF2-40B4-BE49-F238E27FC236}">
                <a16:creationId xmlns:a16="http://schemas.microsoft.com/office/drawing/2014/main" id="{008B26FA-D8B5-4B01-81F2-E9554714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1525250"/>
            <a:ext cx="144589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092441"/>
          </a:solidFill>
          <a:ln xmlns:a="http://schemas.openxmlformats.org/drawingml/2006/main" w="0">
            <a:solidFill>
              <a:srgbClr val="092441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b457b0c304dfc"/>
          <a:srcRect xmlns:a="http://schemas.openxmlformats.org/drawingml/2006/main" l="0" t="34931" r="0" b="34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82750" y="11525250"/>
            <a:ext cx="14458950" cy="2905125"/>
          </a:xfrm>
          <a:prstGeom xmlns:a="http://schemas.openxmlformats.org/drawingml/2006/main" prst="rect">
            <a:avLst/>
          </a:prstGeom>
        </p:spPr>
      </p:pic>
      <p:sp>
        <p:nvSpPr>
          <p:cNvPr id="18" name="profile-line">
            <a:extLst xmlns:a="http://schemas.openxmlformats.org/drawingml/2006/main">
              <a:ext uri="{FF2B5EF4-FFF2-40B4-BE49-F238E27FC236}">
                <a16:creationId xmlns:a16="http://schemas.microsoft.com/office/drawing/2014/main" id="{A11C580D-25ED-4A8F-B121-589BD662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4478000"/>
            <a:ext cx="1445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C64AE"/>
                </a:solidFill>
              </a:defRPr>
            </a:pPr>
            <a:r>
              <a:rPr sz="2850" b="1">
                <a:solidFill>
                  <a:srgbClr val="1C64AE"/>
                </a:solidFill>
              </a:rPr>
              <a:t>42 GAMES  |  WEBSITE  |  LOCAL MODELS  |  MAX 2 LLM CALLS  |  TARGET &lt;= 10s</a:t>
            </a:r>
          </a:p>
        </p:txBody>
      </p:sp>
      <p:sp>
        <p:nvSpPr>
          <p:cNvPr id="19" name="models-bar">
            <a:extLst xmlns:a="http://schemas.openxmlformats.org/drawingml/2006/main">
              <a:ext uri="{FF2B5EF4-FFF2-40B4-BE49-F238E27FC236}">
                <a16:creationId xmlns:a16="http://schemas.microsoft.com/office/drawing/2014/main" id="{D40D0373-1345-4334-ACE7-D4533AB4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335250"/>
            <a:ext cx="27412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6656B7"/>
          </a:solidFill>
          <a:ln xmlns:a="http://schemas.openxmlformats.org/drawingml/2006/main" w="0">
            <a:solidFill>
              <a:srgbClr val="6656B7"/>
            </a:solidFill>
            <a:prstDash val="solid"/>
          </a:ln>
        </p:spPr>
      </p:sp>
      <p:sp>
        <p:nvSpPr>
          <p:cNvPr id="20" name="models-accent">
            <a:extLst xmlns:a="http://schemas.openxmlformats.org/drawingml/2006/main">
              <a:ext uri="{FF2B5EF4-FFF2-40B4-BE49-F238E27FC236}">
                <a16:creationId xmlns:a16="http://schemas.microsoft.com/office/drawing/2014/main" id="{979E14F2-D9D3-4EA2-BAE8-66916A4E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335250"/>
            <a:ext cx="19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21" name="models-title">
            <a:extLst xmlns:a="http://schemas.openxmlformats.org/drawingml/2006/main">
              <a:ext uri="{FF2B5EF4-FFF2-40B4-BE49-F238E27FC236}">
                <a16:creationId xmlns:a16="http://schemas.microsoft.com/office/drawing/2014/main" id="{0E605A80-91CB-4431-A7A5-998485B0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5401925"/>
            <a:ext cx="2638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2. CORE AI MODELS &amp; ANSWERING ROUTES</a:t>
            </a:r>
          </a:p>
        </p:txBody>
      </p:sp>
      <p:sp>
        <p:nvSpPr>
          <p:cNvPr id="22" name="deterministic-panel">
            <a:extLst xmlns:a="http://schemas.openxmlformats.org/drawingml/2006/main">
              <a:ext uri="{FF2B5EF4-FFF2-40B4-BE49-F238E27FC236}">
                <a16:creationId xmlns:a16="http://schemas.microsoft.com/office/drawing/2014/main" id="{5155CA1A-55A2-4364-8575-77CA54D7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35375"/>
            <a:ext cx="83820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E9F7F3"/>
          </a:solidFill>
          <a:ln xmlns:a="http://schemas.openxmlformats.org/drawingml/2006/main" w="28575">
            <a:solidFill>
              <a:srgbClr val="148C75"/>
            </a:solidFill>
            <a:prstDash val="solid"/>
          </a:ln>
        </p:spPr>
      </p:sp>
      <p:sp>
        <p:nvSpPr>
          <p:cNvPr id="23" name="deterministic-top-line">
            <a:extLst xmlns:a="http://schemas.openxmlformats.org/drawingml/2006/main">
              <a:ext uri="{FF2B5EF4-FFF2-40B4-BE49-F238E27FC236}">
                <a16:creationId xmlns:a16="http://schemas.microsoft.com/office/drawing/2014/main" id="{3FE01F38-DEF3-4680-A093-3A5B9F14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353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C75"/>
          </a:solidFill>
          <a:ln xmlns:a="http://schemas.openxmlformats.org/drawingml/2006/main" w="0">
            <a:solidFill>
              <a:srgbClr val="148C75"/>
            </a:solidFill>
            <a:prstDash val="solid"/>
          </a:ln>
        </p:spPr>
      </p:sp>
      <p:sp>
        <p:nvSpPr>
          <p:cNvPr id="24" name="deterministic-eyebrow">
            <a:extLst xmlns:a="http://schemas.openxmlformats.org/drawingml/2006/main">
              <a:ext uri="{FF2B5EF4-FFF2-40B4-BE49-F238E27FC236}">
                <a16:creationId xmlns:a16="http://schemas.microsoft.com/office/drawing/2014/main" id="{2DAAF4B5-4DD5-4DB2-8AD4-F07567F8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6602075"/>
            <a:ext cx="777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8C75"/>
                </a:solidFill>
              </a:defRPr>
            </a:pPr>
            <a:r>
              <a:rPr sz="3000" b="1">
                <a:solidFill>
                  <a:srgbClr val="148C75"/>
                </a:solidFill>
              </a:rPr>
              <a:t>DETERMINISTIC BACKBONE</a:t>
            </a:r>
          </a:p>
        </p:txBody>
      </p:sp>
      <p:sp>
        <p:nvSpPr>
          <p:cNvPr id="25" name="deterministic-model">
            <a:extLst xmlns:a="http://schemas.openxmlformats.org/drawingml/2006/main">
              <a:ext uri="{FF2B5EF4-FFF2-40B4-BE49-F238E27FC236}">
                <a16:creationId xmlns:a16="http://schemas.microsoft.com/office/drawing/2014/main" id="{EC968417-5E44-4AF6-BDD2-6B3E2E34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097375"/>
            <a:ext cx="777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92441"/>
                </a:solidFill>
              </a:defRPr>
            </a:pPr>
            <a:r>
              <a:rPr sz="4575" b="1">
                <a:solidFill>
                  <a:srgbClr val="092441"/>
                </a:solidFill>
              </a:rPr>
              <a:t>FAST + STRUCTURED</a:t>
            </a:r>
          </a:p>
        </p:txBody>
      </p:sp>
      <p:sp>
        <p:nvSpPr>
          <p:cNvPr id="26" name="deterministic-body">
            <a:extLst xmlns:a="http://schemas.openxmlformats.org/drawingml/2006/main">
              <a:ext uri="{FF2B5EF4-FFF2-40B4-BE49-F238E27FC236}">
                <a16:creationId xmlns:a16="http://schemas.microsoft.com/office/drawing/2014/main" id="{6BACD5A5-CE62-47C6-9716-8CB64E5C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840325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3283C"/>
                </a:solidFill>
              </a:defRPr>
            </a:pPr>
            <a:r>
              <a:rPr sz="3075" b="0">
                <a:solidFill>
                  <a:srgbClr val="13283C"/>
                </a:solidFill>
              </a:rPr>
              <a:t>Exact answers for games, prices, zones, equipment and opening hours.</a:t>
            </a:r>
          </a:p>
        </p:txBody>
      </p:sp>
      <p:sp>
        <p:nvSpPr>
          <p:cNvPr id="27" name="deterministic-footer">
            <a:extLst xmlns:a="http://schemas.openxmlformats.org/drawingml/2006/main">
              <a:ext uri="{FF2B5EF4-FFF2-40B4-BE49-F238E27FC236}">
                <a16:creationId xmlns:a16="http://schemas.microsoft.com/office/drawing/2014/main" id="{313C46A6-FA67-44CA-A1C6-53F77D05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907125"/>
            <a:ext cx="777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8C75"/>
                </a:solidFill>
              </a:defRPr>
            </a:pPr>
            <a:r>
              <a:rPr sz="2850" b="1">
                <a:solidFill>
                  <a:srgbClr val="148C75"/>
                </a:solidFill>
              </a:rPr>
              <a:t>NO LLM CALL  |  NO MODEL QUEUE</a:t>
            </a:r>
          </a:p>
        </p:txBody>
      </p:sp>
      <p:sp>
        <p:nvSpPr>
          <p:cNvPr id="28" name="bge-panel">
            <a:extLst xmlns:a="http://schemas.openxmlformats.org/drawingml/2006/main">
              <a:ext uri="{FF2B5EF4-FFF2-40B4-BE49-F238E27FC236}">
                <a16:creationId xmlns:a16="http://schemas.microsoft.com/office/drawing/2014/main" id="{B41BA80F-F021-4584-B1EF-48DFCB02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16335375"/>
            <a:ext cx="83820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28575">
            <a:solidFill>
              <a:srgbClr val="2687D7"/>
            </a:solidFill>
            <a:prstDash val="solid"/>
          </a:ln>
        </p:spPr>
      </p:sp>
      <p:sp>
        <p:nvSpPr>
          <p:cNvPr id="29" name="bge-top-line">
            <a:extLst xmlns:a="http://schemas.openxmlformats.org/drawingml/2006/main">
              <a:ext uri="{FF2B5EF4-FFF2-40B4-BE49-F238E27FC236}">
                <a16:creationId xmlns:a16="http://schemas.microsoft.com/office/drawing/2014/main" id="{6950D627-6D00-49A9-BC23-CFB10091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163353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7D7"/>
          </a:solidFill>
          <a:ln xmlns:a="http://schemas.openxmlformats.org/drawingml/2006/main" w="0">
            <a:solidFill>
              <a:srgbClr val="2687D7"/>
            </a:solidFill>
            <a:prstDash val="solid"/>
          </a:ln>
        </p:spPr>
      </p:sp>
      <p:sp>
        <p:nvSpPr>
          <p:cNvPr id="30" name="bge-eyebrow">
            <a:extLst xmlns:a="http://schemas.openxmlformats.org/drawingml/2006/main">
              <a:ext uri="{FF2B5EF4-FFF2-40B4-BE49-F238E27FC236}">
                <a16:creationId xmlns:a16="http://schemas.microsoft.com/office/drawing/2014/main" id="{4F7D9315-5B9D-48D9-944F-70F9FFD8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16602075"/>
            <a:ext cx="777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87D7"/>
                </a:solidFill>
              </a:defRPr>
            </a:pPr>
            <a:r>
              <a:rPr sz="3000" b="1">
                <a:solidFill>
                  <a:srgbClr val="2687D7"/>
                </a:solidFill>
              </a:rPr>
              <a:t>RETRIEVAL MODEL</a:t>
            </a:r>
          </a:p>
        </p:txBody>
      </p:sp>
      <p:sp>
        <p:nvSpPr>
          <p:cNvPr id="31" name="bge-model">
            <a:extLst xmlns:a="http://schemas.openxmlformats.org/drawingml/2006/main">
              <a:ext uri="{FF2B5EF4-FFF2-40B4-BE49-F238E27FC236}">
                <a16:creationId xmlns:a16="http://schemas.microsoft.com/office/drawing/2014/main" id="{8CA41F77-E733-467D-8F2D-21B20786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17097375"/>
            <a:ext cx="777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92441"/>
                </a:solidFill>
              </a:defRPr>
            </a:pPr>
            <a:r>
              <a:rPr sz="4575" b="1">
                <a:solidFill>
                  <a:srgbClr val="092441"/>
                </a:solidFill>
              </a:rPr>
              <a:t>BGE-M3</a:t>
            </a:r>
          </a:p>
        </p:txBody>
      </p:sp>
      <p:sp>
        <p:nvSpPr>
          <p:cNvPr id="32" name="bge-body">
            <a:extLst xmlns:a="http://schemas.openxmlformats.org/drawingml/2006/main">
              <a:ext uri="{FF2B5EF4-FFF2-40B4-BE49-F238E27FC236}">
                <a16:creationId xmlns:a16="http://schemas.microsoft.com/office/drawing/2014/main" id="{2B005AC9-1C44-485D-A4B0-24C1CC40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17840325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3283C"/>
                </a:solidFill>
              </a:defRPr>
            </a:pPr>
            <a:r>
              <a:rPr sz="3075" b="0">
                <a:solidFill>
                  <a:srgbClr val="13283C"/>
                </a:solidFill>
              </a:rPr>
              <a:t>Retrieves evidence from rules, documents, news and newly added content.</a:t>
            </a:r>
          </a:p>
        </p:txBody>
      </p:sp>
      <p:sp>
        <p:nvSpPr>
          <p:cNvPr id="33" name="bge-footer">
            <a:extLst xmlns:a="http://schemas.openxmlformats.org/drawingml/2006/main">
              <a:ext uri="{FF2B5EF4-FFF2-40B4-BE49-F238E27FC236}">
                <a16:creationId xmlns:a16="http://schemas.microsoft.com/office/drawing/2014/main" id="{A2904E88-9D6A-4DC3-B4C0-19299501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18907125"/>
            <a:ext cx="777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687D7"/>
                </a:solidFill>
              </a:defRPr>
            </a:pPr>
            <a:r>
              <a:rPr sz="2850" b="1">
                <a:solidFill>
                  <a:srgbClr val="2687D7"/>
                </a:solidFill>
              </a:rPr>
              <a:t>EMBEDDING  |  OPTIONAL RERANKING</a:t>
            </a:r>
          </a:p>
        </p:txBody>
      </p:sp>
      <p:sp>
        <p:nvSpPr>
          <p:cNvPr id="34" name="typhoon-panel">
            <a:extLst xmlns:a="http://schemas.openxmlformats.org/drawingml/2006/main">
              <a:ext uri="{FF2B5EF4-FFF2-40B4-BE49-F238E27FC236}">
                <a16:creationId xmlns:a16="http://schemas.microsoft.com/office/drawing/2014/main" id="{5338B8BF-EEFC-42A6-A926-DF62C9D6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16335375"/>
            <a:ext cx="83820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28575">
            <a:solidFill>
              <a:srgbClr val="E86E21"/>
            </a:solidFill>
            <a:prstDash val="solid"/>
          </a:ln>
        </p:spPr>
      </p:sp>
      <p:sp>
        <p:nvSpPr>
          <p:cNvPr id="35" name="typhoon-top-line">
            <a:extLst xmlns:a="http://schemas.openxmlformats.org/drawingml/2006/main">
              <a:ext uri="{FF2B5EF4-FFF2-40B4-BE49-F238E27FC236}">
                <a16:creationId xmlns:a16="http://schemas.microsoft.com/office/drawing/2014/main" id="{6B1BADDB-1F0E-4169-A096-73607577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163353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36" name="typhoon-eyebrow">
            <a:extLst xmlns:a="http://schemas.openxmlformats.org/drawingml/2006/main">
              <a:ext uri="{FF2B5EF4-FFF2-40B4-BE49-F238E27FC236}">
                <a16:creationId xmlns:a16="http://schemas.microsoft.com/office/drawing/2014/main" id="{F6252E3F-F2C2-488B-B3D3-5E3A748A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16602075"/>
            <a:ext cx="777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86E21"/>
                </a:solidFill>
              </a:defRPr>
            </a:pPr>
            <a:r>
              <a:rPr sz="3000" b="1">
                <a:solidFill>
                  <a:srgbClr val="E86E21"/>
                </a:solidFill>
              </a:rPr>
              <a:t>LOCAL GENERATIVE MODEL</a:t>
            </a:r>
          </a:p>
        </p:txBody>
      </p:sp>
      <p:sp>
        <p:nvSpPr>
          <p:cNvPr id="37" name="typhoon-model">
            <a:extLst xmlns:a="http://schemas.openxmlformats.org/drawingml/2006/main">
              <a:ext uri="{FF2B5EF4-FFF2-40B4-BE49-F238E27FC236}">
                <a16:creationId xmlns:a16="http://schemas.microsoft.com/office/drawing/2014/main" id="{29E6C7B3-A8C1-4C1A-969B-CC4FD9A2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17097375"/>
            <a:ext cx="777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92441"/>
                </a:solidFill>
              </a:defRPr>
            </a:pPr>
            <a:r>
              <a:rPr sz="4575" b="1">
                <a:solidFill>
                  <a:srgbClr val="092441"/>
                </a:solidFill>
              </a:rPr>
              <a:t>Typhoon2.5 Qwen3 4B</a:t>
            </a:r>
          </a:p>
        </p:txBody>
      </p:sp>
      <p:sp>
        <p:nvSpPr>
          <p:cNvPr id="38" name="typhoon-body">
            <a:extLst xmlns:a="http://schemas.openxmlformats.org/drawingml/2006/main">
              <a:ext uri="{FF2B5EF4-FFF2-40B4-BE49-F238E27FC236}">
                <a16:creationId xmlns:a16="http://schemas.microsoft.com/office/drawing/2014/main" id="{CD571B9E-EA15-4AE3-9994-66F1CF4D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17840325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3283C"/>
                </a:solidFill>
              </a:defRPr>
            </a:pPr>
            <a:r>
              <a:rPr sz="3075" b="0">
                <a:solidFill>
                  <a:srgbClr val="13283C"/>
                </a:solidFill>
              </a:rPr>
              <a:t>Reviews intent, plans complex questions and composes from verified evidence only.</a:t>
            </a:r>
          </a:p>
        </p:txBody>
      </p:sp>
      <p:sp>
        <p:nvSpPr>
          <p:cNvPr id="39" name="typhoon-footer">
            <a:extLst xmlns:a="http://schemas.openxmlformats.org/drawingml/2006/main">
              <a:ext uri="{FF2B5EF4-FFF2-40B4-BE49-F238E27FC236}">
                <a16:creationId xmlns:a16="http://schemas.microsoft.com/office/drawing/2014/main" id="{18BDDB3C-7EEB-4762-AD38-2D09535F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18907125"/>
            <a:ext cx="777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6E21"/>
                </a:solidFill>
              </a:defRPr>
            </a:pPr>
            <a:r>
              <a:rPr sz="2850" b="1">
                <a:solidFill>
                  <a:srgbClr val="E86E21"/>
                </a:solidFill>
              </a:rPr>
              <a:t>LOCAL LLM  |  MAX 2 CALLS</a:t>
            </a:r>
          </a:p>
        </p:txBody>
      </p:sp>
      <p:sp>
        <p:nvSpPr>
          <p:cNvPr id="40" name="flow-bar">
            <a:extLst xmlns:a="http://schemas.openxmlformats.org/drawingml/2006/main">
              <a:ext uri="{FF2B5EF4-FFF2-40B4-BE49-F238E27FC236}">
                <a16:creationId xmlns:a16="http://schemas.microsoft.com/office/drawing/2014/main" id="{5300692A-37FA-4A56-BAC7-DF0C5ACD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31125"/>
            <a:ext cx="27412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C64AE"/>
          </a:solidFill>
          <a:ln xmlns:a="http://schemas.openxmlformats.org/drawingml/2006/main" w="0">
            <a:solidFill>
              <a:srgbClr val="1C64AE"/>
            </a:solidFill>
            <a:prstDash val="solid"/>
          </a:ln>
        </p:spPr>
      </p:sp>
      <p:sp>
        <p:nvSpPr>
          <p:cNvPr id="41" name="flow-accent">
            <a:extLst xmlns:a="http://schemas.openxmlformats.org/drawingml/2006/main">
              <a:ext uri="{FF2B5EF4-FFF2-40B4-BE49-F238E27FC236}">
                <a16:creationId xmlns:a16="http://schemas.microsoft.com/office/drawing/2014/main" id="{E630C2C5-CD47-4554-A266-F2B95B51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31125"/>
            <a:ext cx="19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42" name="flow-title">
            <a:extLst xmlns:a="http://schemas.openxmlformats.org/drawingml/2006/main">
              <a:ext uri="{FF2B5EF4-FFF2-40B4-BE49-F238E27FC236}">
                <a16:creationId xmlns:a16="http://schemas.microsoft.com/office/drawing/2014/main" id="{F5983BA2-08E4-4D73-B3FB-007CD0E8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0497800"/>
            <a:ext cx="2638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3. HOW THE CHATBOT ANSWERS</a:t>
            </a:r>
          </a:p>
        </p:txBody>
      </p:sp>
      <p:sp>
        <p:nvSpPr>
          <p:cNvPr id="43" name="input-node">
            <a:extLst xmlns:a="http://schemas.openxmlformats.org/drawingml/2006/main">
              <a:ext uri="{FF2B5EF4-FFF2-40B4-BE49-F238E27FC236}">
                <a16:creationId xmlns:a16="http://schemas.microsoft.com/office/drawing/2014/main" id="{1998F796-65A7-4B72-8D0A-9C88F25D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0"/>
            <a:ext cx="8096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28575">
            <a:solidFill>
              <a:srgbClr val="1C64AE"/>
            </a:solidFill>
            <a:prstDash val="solid"/>
          </a:ln>
        </p:spPr>
      </p:sp>
      <p:sp>
        <p:nvSpPr>
          <p:cNvPr id="44" name="input-title">
            <a:extLst xmlns:a="http://schemas.openxmlformats.org/drawingml/2006/main">
              <a:ext uri="{FF2B5EF4-FFF2-40B4-BE49-F238E27FC236}">
                <a16:creationId xmlns:a16="http://schemas.microsoft.com/office/drawing/2014/main" id="{4064BB8A-462C-4DB7-A105-B2D46B51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583650"/>
            <a:ext cx="763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C64AE"/>
                </a:solidFill>
              </a:defRPr>
            </a:pPr>
            <a:r>
              <a:rPr sz="3450" b="1">
                <a:solidFill>
                  <a:srgbClr val="1C64AE"/>
                </a:solidFill>
              </a:rPr>
              <a:t>WEB CHAT + GUARD</a:t>
            </a:r>
          </a:p>
        </p:txBody>
      </p:sp>
      <p:sp>
        <p:nvSpPr>
          <p:cNvPr id="45" name="input-body">
            <a:extLst xmlns:a="http://schemas.openxmlformats.org/drawingml/2006/main">
              <a:ext uri="{FF2B5EF4-FFF2-40B4-BE49-F238E27FC236}">
                <a16:creationId xmlns:a16="http://schemas.microsoft.com/office/drawing/2014/main" id="{0A5A2662-6E76-4122-927F-A733524B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098000"/>
            <a:ext cx="7639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Request guard, session context and 10s deadline</a:t>
            </a:r>
          </a:p>
        </p:txBody>
      </p:sp>
      <p:sp>
        <p:nvSpPr>
          <p:cNvPr id="46" name="understand-node">
            <a:extLst xmlns:a="http://schemas.openxmlformats.org/drawingml/2006/main">
              <a:ext uri="{FF2B5EF4-FFF2-40B4-BE49-F238E27FC236}">
                <a16:creationId xmlns:a16="http://schemas.microsoft.com/office/drawing/2014/main" id="{ADD0AA54-610A-4406-A34E-7ABB3BF0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1431250"/>
            <a:ext cx="8096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EFFF"/>
          </a:solidFill>
          <a:ln xmlns:a="http://schemas.openxmlformats.org/drawingml/2006/main" w="28575">
            <a:solidFill>
              <a:srgbClr val="6656B7"/>
            </a:solidFill>
            <a:prstDash val="solid"/>
          </a:ln>
        </p:spPr>
      </p:sp>
      <p:sp>
        <p:nvSpPr>
          <p:cNvPr id="47" name="understand-title">
            <a:extLst xmlns:a="http://schemas.openxmlformats.org/drawingml/2006/main">
              <a:ext uri="{FF2B5EF4-FFF2-40B4-BE49-F238E27FC236}">
                <a16:creationId xmlns:a16="http://schemas.microsoft.com/office/drawing/2014/main" id="{F0417523-7C55-4AF2-9916-8DB6641E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583650"/>
            <a:ext cx="763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6656B7"/>
                </a:solidFill>
              </a:defRPr>
            </a:pPr>
            <a:r>
              <a:rPr sz="3450" b="1">
                <a:solidFill>
                  <a:srgbClr val="6656B7"/>
                </a:solidFill>
              </a:rPr>
              <a:t>UNDERSTAND</a:t>
            </a:r>
          </a:p>
        </p:txBody>
      </p:sp>
      <p:sp>
        <p:nvSpPr>
          <p:cNvPr id="48" name="understand-body">
            <a:extLst xmlns:a="http://schemas.openxmlformats.org/drawingml/2006/main">
              <a:ext uri="{FF2B5EF4-FFF2-40B4-BE49-F238E27FC236}">
                <a16:creationId xmlns:a16="http://schemas.microsoft.com/office/drawing/2014/main" id="{9543C63C-43BF-4C6B-8ECF-EBB0D34E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2098000"/>
            <a:ext cx="7639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Resolve references, intent, target and ambiguity</a:t>
            </a:r>
          </a:p>
        </p:txBody>
      </p:sp>
      <p:sp>
        <p:nvSpPr>
          <p:cNvPr id="49" name="route-node">
            <a:extLst xmlns:a="http://schemas.openxmlformats.org/drawingml/2006/main">
              <a:ext uri="{FF2B5EF4-FFF2-40B4-BE49-F238E27FC236}">
                <a16:creationId xmlns:a16="http://schemas.microsoft.com/office/drawing/2014/main" id="{11B1FC40-3379-4201-BE10-F7D29239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450" y="21431250"/>
            <a:ext cx="8096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28575">
            <a:solidFill>
              <a:srgbClr val="E86E21"/>
            </a:solidFill>
            <a:prstDash val="solid"/>
          </a:ln>
        </p:spPr>
      </p:sp>
      <p:sp>
        <p:nvSpPr>
          <p:cNvPr id="50" name="route-title">
            <a:extLst xmlns:a="http://schemas.openxmlformats.org/drawingml/2006/main">
              <a:ext uri="{FF2B5EF4-FFF2-40B4-BE49-F238E27FC236}">
                <a16:creationId xmlns:a16="http://schemas.microsoft.com/office/drawing/2014/main" id="{85F864AC-7E5E-414D-BCDA-567CAD4B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050" y="21583650"/>
            <a:ext cx="763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E86E21"/>
                </a:solidFill>
              </a:defRPr>
            </a:pPr>
            <a:r>
              <a:rPr sz="3450" b="1">
                <a:solidFill>
                  <a:srgbClr val="E86E21"/>
                </a:solidFill>
              </a:rPr>
              <a:t>SELECT ROUTE</a:t>
            </a:r>
          </a:p>
        </p:txBody>
      </p:sp>
      <p:sp>
        <p:nvSpPr>
          <p:cNvPr id="51" name="route-body">
            <a:extLst xmlns:a="http://schemas.openxmlformats.org/drawingml/2006/main">
              <a:ext uri="{FF2B5EF4-FFF2-40B4-BE49-F238E27FC236}">
                <a16:creationId xmlns:a16="http://schemas.microsoft.com/office/drawing/2014/main" id="{1F942610-842F-4B01-B38B-5AD62F94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050" y="22098000"/>
            <a:ext cx="7639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Choose the best evidence-backed answering path</a:t>
            </a:r>
          </a:p>
        </p:txBody>
      </p:sp>
      <p:cxnSp>
        <p:nvCxnSpPr>
          <p:cNvPr id="171" name=""/>
          <p:cNvCxnSpPr>
            <a:stCxn xmlns:a="http://schemas.openxmlformats.org/drawingml/2006/main" id="43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9525000" y="22145625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D6E4"/>
            </a:solidFill>
            <a:prstDash val="solid"/>
            <a:tailEnd type="arrow" w="med" len="med"/>
          </a:ln>
        </p:spPr>
      </p:cxnSp>
      <p:cxnSp>
        <p:nvCxnSpPr>
          <p:cNvPr id="172" name=""/>
          <p:cNvCxnSpPr>
            <a:stCxn xmlns:a="http://schemas.openxmlformats.org/drawingml/2006/main" id="46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19183350" y="22145625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D6E4"/>
            </a:solidFill>
            <a:prstDash val="solid"/>
            <a:tailEnd type="arrow" w="med" len="med"/>
          </a:ln>
        </p:spPr>
      </p:cxnSp>
      <p:sp>
        <p:nvSpPr>
          <p:cNvPr id="54" name="fast-node">
            <a:extLst xmlns:a="http://schemas.openxmlformats.org/drawingml/2006/main">
              <a:ext uri="{FF2B5EF4-FFF2-40B4-BE49-F238E27FC236}">
                <a16:creationId xmlns:a16="http://schemas.microsoft.com/office/drawing/2014/main" id="{3375783E-1437-4403-AAF9-14B41AE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0"/>
            <a:ext cx="7620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9F7F3"/>
          </a:solidFill>
          <a:ln xmlns:a="http://schemas.openxmlformats.org/drawingml/2006/main" w="28575">
            <a:solidFill>
              <a:srgbClr val="148C75"/>
            </a:solidFill>
            <a:prstDash val="solid"/>
          </a:ln>
        </p:spPr>
      </p:sp>
      <p:sp>
        <p:nvSpPr>
          <p:cNvPr id="55" name="fast-title">
            <a:extLst xmlns:a="http://schemas.openxmlformats.org/drawingml/2006/main">
              <a:ext uri="{FF2B5EF4-FFF2-40B4-BE49-F238E27FC236}">
                <a16:creationId xmlns:a16="http://schemas.microsoft.com/office/drawing/2014/main" id="{51D45857-C37E-4657-979E-7FCDAA5E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679150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48C75"/>
                </a:solidFill>
              </a:defRPr>
            </a:pPr>
            <a:r>
              <a:rPr sz="3450" b="1">
                <a:solidFill>
                  <a:srgbClr val="148C75"/>
                </a:solidFill>
              </a:rPr>
              <a:t>FAST / STRUCTURED</a:t>
            </a:r>
          </a:p>
        </p:txBody>
      </p:sp>
      <p:sp>
        <p:nvSpPr>
          <p:cNvPr id="56" name="fast-body">
            <a:extLst xmlns:a="http://schemas.openxmlformats.org/drawingml/2006/main">
              <a:ext uri="{FF2B5EF4-FFF2-40B4-BE49-F238E27FC236}">
                <a16:creationId xmlns:a16="http://schemas.microsoft.com/office/drawing/2014/main" id="{546A7EE1-16FF-4FED-9AAF-2E4AC7D8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193500"/>
            <a:ext cx="716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Verified exact records</a:t>
            </a:r>
          </a:p>
        </p:txBody>
      </p:sp>
      <p:sp>
        <p:nvSpPr>
          <p:cNvPr id="57" name="rag-node">
            <a:extLst xmlns:a="http://schemas.openxmlformats.org/drawingml/2006/main">
              <a:ext uri="{FF2B5EF4-FFF2-40B4-BE49-F238E27FC236}">
                <a16:creationId xmlns:a16="http://schemas.microsoft.com/office/drawing/2014/main" id="{E1311DAF-3657-4CB2-AB3A-E5B4D9A0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23526750"/>
            <a:ext cx="7620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28575">
            <a:solidFill>
              <a:srgbClr val="2687D7"/>
            </a:solidFill>
            <a:prstDash val="solid"/>
          </a:ln>
        </p:spPr>
      </p:sp>
      <p:sp>
        <p:nvSpPr>
          <p:cNvPr id="58" name="rag-title">
            <a:extLst xmlns:a="http://schemas.openxmlformats.org/drawingml/2006/main">
              <a:ext uri="{FF2B5EF4-FFF2-40B4-BE49-F238E27FC236}">
                <a16:creationId xmlns:a16="http://schemas.microsoft.com/office/drawing/2014/main" id="{F920E4B9-611B-454C-B11A-A30566BF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3679150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687D7"/>
                </a:solidFill>
              </a:defRPr>
            </a:pPr>
            <a:r>
              <a:rPr sz="3450" b="1">
                <a:solidFill>
                  <a:srgbClr val="2687D7"/>
                </a:solidFill>
              </a:rPr>
              <a:t>SEMANTIC RAG</a:t>
            </a:r>
          </a:p>
        </p:txBody>
      </p:sp>
      <p:sp>
        <p:nvSpPr>
          <p:cNvPr id="59" name="rag-body">
            <a:extLst xmlns:a="http://schemas.openxmlformats.org/drawingml/2006/main">
              <a:ext uri="{FF2B5EF4-FFF2-40B4-BE49-F238E27FC236}">
                <a16:creationId xmlns:a16="http://schemas.microsoft.com/office/drawing/2014/main" id="{B74FEB92-354B-469F-8804-F1F62B3B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4193500"/>
            <a:ext cx="716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BGE-M3 retrieval + rerank</a:t>
            </a:r>
          </a:p>
        </p:txBody>
      </p:sp>
      <p:sp>
        <p:nvSpPr>
          <p:cNvPr id="60" name="safe-node">
            <a:extLst xmlns:a="http://schemas.openxmlformats.org/drawingml/2006/main">
              <a:ext uri="{FF2B5EF4-FFF2-40B4-BE49-F238E27FC236}">
                <a16:creationId xmlns:a16="http://schemas.microsoft.com/office/drawing/2014/main" id="{F5A4103A-F19E-4E66-98B5-EB8AB153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0" y="23526750"/>
            <a:ext cx="7620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28575">
            <a:solidFill>
              <a:srgbClr val="C64758"/>
            </a:solidFill>
            <a:prstDash val="solid"/>
          </a:ln>
        </p:spPr>
      </p:sp>
      <p:sp>
        <p:nvSpPr>
          <p:cNvPr id="61" name="safe-title">
            <a:extLst xmlns:a="http://schemas.openxmlformats.org/drawingml/2006/main">
              <a:ext uri="{FF2B5EF4-FFF2-40B4-BE49-F238E27FC236}">
                <a16:creationId xmlns:a16="http://schemas.microsoft.com/office/drawing/2014/main" id="{29768B41-7603-42AA-ABF5-F93992ED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23679150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C64758"/>
                </a:solidFill>
              </a:defRPr>
            </a:pPr>
            <a:r>
              <a:rPr sz="3450" b="1">
                <a:solidFill>
                  <a:srgbClr val="C64758"/>
                </a:solidFill>
              </a:rPr>
              <a:t>SAFE OUTCOME</a:t>
            </a:r>
          </a:p>
        </p:txBody>
      </p:sp>
      <p:sp>
        <p:nvSpPr>
          <p:cNvPr id="62" name="safe-body">
            <a:extLst xmlns:a="http://schemas.openxmlformats.org/drawingml/2006/main">
              <a:ext uri="{FF2B5EF4-FFF2-40B4-BE49-F238E27FC236}">
                <a16:creationId xmlns:a16="http://schemas.microsoft.com/office/drawing/2014/main" id="{1B2CB43A-B007-49B9-8335-87BF01A7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24193500"/>
            <a:ext cx="716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Clarify or return no-answer</a:t>
            </a:r>
          </a:p>
        </p:txBody>
      </p:sp>
      <p:cxnSp>
        <p:nvCxnSpPr>
          <p:cNvPr id="182" name=""/>
          <p:cNvCxnSpPr>
            <a:stCxn xmlns:a="http://schemas.openxmlformats.org/drawingml/2006/main" id="49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 flipH="1">
            <a:off x="5238750" y="22860000"/>
            <a:ext cx="1955482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148C75"/>
            </a:solidFill>
            <a:prstDash val="solid"/>
            <a:tailEnd type="arrow" w="med" len="med"/>
          </a:ln>
        </p:spPr>
      </p:cxnSp>
      <p:cxnSp>
        <p:nvCxnSpPr>
          <p:cNvPr id="183" name=""/>
          <p:cNvCxnSpPr>
            <a:stCxn xmlns:a="http://schemas.openxmlformats.org/drawingml/2006/main" id="49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 flipH="1">
            <a:off x="15135225" y="22860000"/>
            <a:ext cx="965835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2687D7"/>
            </a:solidFill>
            <a:prstDash val="solid"/>
            <a:tailEnd type="arrow" w="med" len="med"/>
          </a:ln>
        </p:spPr>
      </p:cxnSp>
      <p:cxnSp>
        <p:nvCxnSpPr>
          <p:cNvPr id="184" name=""/>
          <p:cNvCxnSpPr>
            <a:stCxn xmlns:a="http://schemas.openxmlformats.org/drawingml/2006/main" id="4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4793575" y="22860000"/>
            <a:ext cx="23812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C64758"/>
            </a:solidFill>
            <a:prstDash val="solid"/>
            <a:tailEnd type="arrow" w="med" len="med"/>
          </a:ln>
        </p:spPr>
      </p:cxnSp>
      <p:sp>
        <p:nvSpPr>
          <p:cNvPr id="66" name="evidence-node">
            <a:extLst xmlns:a="http://schemas.openxmlformats.org/drawingml/2006/main">
              <a:ext uri="{FF2B5EF4-FFF2-40B4-BE49-F238E27FC236}">
                <a16:creationId xmlns:a16="http://schemas.microsoft.com/office/drawing/2014/main" id="{7B758ED7-EFFB-41A8-9486-246E575B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74625"/>
            <a:ext cx="7429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48C75"/>
            </a:solidFill>
            <a:prstDash val="solid"/>
          </a:ln>
        </p:spPr>
      </p:sp>
      <p:sp>
        <p:nvSpPr>
          <p:cNvPr id="67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1DD9EDBB-83A3-49EF-BCE9-AFAC3D00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727025"/>
            <a:ext cx="697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48C75"/>
                </a:solidFill>
              </a:defRPr>
            </a:pPr>
            <a:r>
              <a:rPr sz="3450" b="1">
                <a:solidFill>
                  <a:srgbClr val="148C75"/>
                </a:solidFill>
              </a:rPr>
              <a:t>EVIDENCE + DRAFT</a:t>
            </a:r>
          </a:p>
        </p:txBody>
      </p:sp>
      <p:sp>
        <p:nvSpPr>
          <p:cNvPr id="68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495D3AF9-0361-4B99-B011-914658AC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241375"/>
            <a:ext cx="697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Attach sources and build a factual draft</a:t>
            </a:r>
          </a:p>
        </p:txBody>
      </p:sp>
      <p:sp>
        <p:nvSpPr>
          <p:cNvPr id="69" name="composer-node">
            <a:extLst xmlns:a="http://schemas.openxmlformats.org/drawingml/2006/main">
              <a:ext uri="{FF2B5EF4-FFF2-40B4-BE49-F238E27FC236}">
                <a16:creationId xmlns:a16="http://schemas.microsoft.com/office/drawing/2014/main" id="{C7963D72-8D7A-425B-A35C-DF2C6DF3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5574625"/>
            <a:ext cx="7429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28575">
            <a:solidFill>
              <a:srgbClr val="E86E21"/>
            </a:solidFill>
            <a:prstDash val="solid"/>
          </a:ln>
        </p:spPr>
      </p:sp>
      <p:sp>
        <p:nvSpPr>
          <p:cNvPr id="70" name="composer-title">
            <a:extLst xmlns:a="http://schemas.openxmlformats.org/drawingml/2006/main">
              <a:ext uri="{FF2B5EF4-FFF2-40B4-BE49-F238E27FC236}">
                <a16:creationId xmlns:a16="http://schemas.microsoft.com/office/drawing/2014/main" id="{DADE0E32-F431-4E02-A346-17429D3A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5727025"/>
            <a:ext cx="697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E86E21"/>
                </a:solidFill>
              </a:defRPr>
            </a:pPr>
            <a:r>
              <a:rPr sz="3450" b="1">
                <a:solidFill>
                  <a:srgbClr val="E86E21"/>
                </a:solidFill>
              </a:rPr>
              <a:t>OPTIONAL LLM ASSIST</a:t>
            </a:r>
          </a:p>
        </p:txBody>
      </p:sp>
      <p:sp>
        <p:nvSpPr>
          <p:cNvPr id="71" name="composer-body">
            <a:extLst xmlns:a="http://schemas.openxmlformats.org/drawingml/2006/main">
              <a:ext uri="{FF2B5EF4-FFF2-40B4-BE49-F238E27FC236}">
                <a16:creationId xmlns:a16="http://schemas.microsoft.com/office/drawing/2014/main" id="{5039F80F-797C-41FC-93AC-37E7B7A5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6241375"/>
            <a:ext cx="697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Use Typhoon only when useful</a:t>
            </a:r>
          </a:p>
        </p:txBody>
      </p:sp>
      <p:sp>
        <p:nvSpPr>
          <p:cNvPr id="72" name="final-node">
            <a:extLst xmlns:a="http://schemas.openxmlformats.org/drawingml/2006/main">
              <a:ext uri="{FF2B5EF4-FFF2-40B4-BE49-F238E27FC236}">
                <a16:creationId xmlns:a16="http://schemas.microsoft.com/office/drawing/2014/main" id="{F9D4958E-780E-485A-8AEF-C6C9A52D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0" y="25574625"/>
            <a:ext cx="7620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28575">
            <a:solidFill>
              <a:srgbClr val="C64758"/>
            </a:solidFill>
            <a:prstDash val="solid"/>
          </a:ln>
        </p:spPr>
      </p:sp>
      <p:sp>
        <p:nvSpPr>
          <p:cNvPr id="73" name="final-title">
            <a:extLst xmlns:a="http://schemas.openxmlformats.org/drawingml/2006/main">
              <a:ext uri="{FF2B5EF4-FFF2-40B4-BE49-F238E27FC236}">
                <a16:creationId xmlns:a16="http://schemas.microsoft.com/office/drawing/2014/main" id="{8C2BE7AC-4389-4117-859D-96A54D80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9100" y="25727025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C64758"/>
                </a:solidFill>
              </a:defRPr>
            </a:pPr>
            <a:r>
              <a:rPr sz="3450" b="1">
                <a:solidFill>
                  <a:srgbClr val="C64758"/>
                </a:solidFill>
              </a:rPr>
              <a:t>VALIDATE + FINAL ANSWER</a:t>
            </a:r>
          </a:p>
        </p:txBody>
      </p:sp>
      <p:sp>
        <p:nvSpPr>
          <p:cNvPr id="74" name="final-body">
            <a:extLst xmlns:a="http://schemas.openxmlformats.org/drawingml/2006/main">
              <a:ext uri="{FF2B5EF4-FFF2-40B4-BE49-F238E27FC236}">
                <a16:creationId xmlns:a16="http://schemas.microsoft.com/office/drawing/2014/main" id="{EB7AE132-3556-4858-BD0C-7BDF9635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9100" y="26241375"/>
            <a:ext cx="716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Contract -&gt; repair -&gt; Hard Veto -&gt; response</a:t>
            </a:r>
          </a:p>
        </p:txBody>
      </p:sp>
      <p:cxnSp>
        <p:nvCxnSpPr>
          <p:cNvPr id="194" name=""/>
          <p:cNvCxnSpPr>
            <a:stCxn xmlns:a="http://schemas.openxmlformats.org/drawingml/2006/main" id="54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5238750" y="24907875"/>
            <a:ext cx="20955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148C75"/>
            </a:solidFill>
            <a:prstDash val="solid"/>
            <a:tailEnd type="arrow" w="med" len="med"/>
          </a:ln>
        </p:spPr>
      </p:cxnSp>
      <p:cxnSp>
        <p:nvCxnSpPr>
          <p:cNvPr id="195" name=""/>
          <p:cNvCxnSpPr>
            <a:stCxn xmlns:a="http://schemas.openxmlformats.org/drawingml/2006/main" id="57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 flipH="1">
            <a:off x="7334250" y="24907875"/>
            <a:ext cx="780097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2687D7"/>
            </a:solidFill>
            <a:prstDash val="solid"/>
            <a:tailEnd type="arrow" w="med" len="med"/>
          </a:ln>
        </p:spPr>
      </p:cxnSp>
      <p:cxnSp>
        <p:nvCxnSpPr>
          <p:cNvPr id="196" name=""/>
          <p:cNvCxnSpPr>
            <a:stCxn xmlns:a="http://schemas.openxmlformats.org/drawingml/2006/main" id="60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 flipH="1">
            <a:off x="23050500" y="24907875"/>
            <a:ext cx="19812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C64758"/>
            </a:solidFill>
            <a:prstDash val="solid"/>
            <a:tailEnd type="arrow" w="med" len="med"/>
          </a:ln>
        </p:spPr>
      </p:cxnSp>
      <p:cxnSp>
        <p:nvCxnSpPr>
          <p:cNvPr id="197" name=""/>
          <p:cNvCxnSpPr>
            <a:stCxn xmlns:a="http://schemas.openxmlformats.org/drawingml/2006/main" id="66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11049000" y="26289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86E21"/>
            </a:solidFill>
            <a:prstDash val="solid"/>
            <a:tailEnd type="arrow" w="med" len="med"/>
          </a:ln>
        </p:spPr>
      </p:cxnSp>
      <p:cxnSp>
        <p:nvCxnSpPr>
          <p:cNvPr id="198" name=""/>
          <p:cNvCxnSpPr>
            <a:stCxn xmlns:a="http://schemas.openxmlformats.org/drawingml/2006/main" id="69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18859500" y="26289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86E21"/>
            </a:solidFill>
            <a:prstDash val="solid"/>
            <a:tailEnd type="arrow" w="med" len="med"/>
          </a:ln>
        </p:spPr>
      </p:cxnSp>
      <p:sp>
        <p:nvSpPr>
          <p:cNvPr id="80" name="safety-bar">
            <a:extLst xmlns:a="http://schemas.openxmlformats.org/drawingml/2006/main">
              <a:ext uri="{FF2B5EF4-FFF2-40B4-BE49-F238E27FC236}">
                <a16:creationId xmlns:a16="http://schemas.microsoft.com/office/drawing/2014/main" id="{418C9D6F-DDA9-43F6-A0FC-286F849E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0"/>
            <a:ext cx="27412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C64758"/>
          </a:solidFill>
          <a:ln xmlns:a="http://schemas.openxmlformats.org/drawingml/2006/main" w="0">
            <a:solidFill>
              <a:srgbClr val="C64758"/>
            </a:solidFill>
            <a:prstDash val="solid"/>
          </a:ln>
        </p:spPr>
      </p:sp>
      <p:sp>
        <p:nvSpPr>
          <p:cNvPr id="81" name="safety-accent">
            <a:extLst xmlns:a="http://schemas.openxmlformats.org/drawingml/2006/main">
              <a:ext uri="{FF2B5EF4-FFF2-40B4-BE49-F238E27FC236}">
                <a16:creationId xmlns:a16="http://schemas.microsoft.com/office/drawing/2014/main" id="{395DB394-E89C-4740-BB2A-3BB921AF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0"/>
            <a:ext cx="19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82" name="safety-title">
            <a:extLst xmlns:a="http://schemas.openxmlformats.org/drawingml/2006/main">
              <a:ext uri="{FF2B5EF4-FFF2-40B4-BE49-F238E27FC236}">
                <a16:creationId xmlns:a16="http://schemas.microsoft.com/office/drawing/2014/main" id="{B4C1118F-4EE6-455E-A6E0-A2471E1C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7689175"/>
            <a:ext cx="2638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4. SAFETY &amp; ANSWER QUALITY CONTROLS</a:t>
            </a:r>
          </a:p>
        </p:txBody>
      </p:sp>
      <p:sp>
        <p:nvSpPr>
          <p:cNvPr id="83" name="boundary-line">
            <a:extLst xmlns:a="http://schemas.openxmlformats.org/drawingml/2006/main">
              <a:ext uri="{FF2B5EF4-FFF2-40B4-BE49-F238E27FC236}">
                <a16:creationId xmlns:a16="http://schemas.microsoft.com/office/drawing/2014/main" id="{F003DBAD-F61D-4958-B1A0-A9592967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22625"/>
            <a:ext cx="114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4AE"/>
          </a:solidFill>
          <a:ln xmlns:a="http://schemas.openxmlformats.org/drawingml/2006/main" w="0">
            <a:solidFill>
              <a:srgbClr val="1C64AE"/>
            </a:solidFill>
            <a:prstDash val="solid"/>
          </a:ln>
        </p:spPr>
      </p:sp>
      <p:sp>
        <p:nvSpPr>
          <p:cNvPr id="84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1382BCA7-FBF5-40C1-8996-CEB9A41D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62262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64AE"/>
                </a:solidFill>
              </a:defRPr>
            </a:pPr>
            <a:r>
              <a:rPr sz="3300" b="1">
                <a:solidFill>
                  <a:srgbClr val="1C64AE"/>
                </a:solidFill>
              </a:rPr>
              <a:t>Boundary + Ambiguity</a:t>
            </a:r>
          </a:p>
        </p:txBody>
      </p:sp>
      <p:sp>
        <p:nvSpPr>
          <p:cNvPr id="85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C511630E-27C8-4B4F-87A5-8FE9C74D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51275"/>
            <a:ext cx="7791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Reject unsupported scope and ask when the intended target is unclear.</a:t>
            </a:r>
          </a:p>
        </p:txBody>
      </p:sp>
      <p:sp>
        <p:nvSpPr>
          <p:cNvPr id="86" name="source-line">
            <a:extLst xmlns:a="http://schemas.openxmlformats.org/drawingml/2006/main">
              <a:ext uri="{FF2B5EF4-FFF2-40B4-BE49-F238E27FC236}">
                <a16:creationId xmlns:a16="http://schemas.microsoft.com/office/drawing/2014/main" id="{E4EE0975-81C4-4D1B-978F-BFEE6D61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8622625"/>
            <a:ext cx="114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C75"/>
          </a:solidFill>
          <a:ln xmlns:a="http://schemas.openxmlformats.org/drawingml/2006/main" w="0">
            <a:solidFill>
              <a:srgbClr val="148C75"/>
            </a:solidFill>
            <a:prstDash val="solid"/>
          </a:ln>
        </p:spPr>
      </p:sp>
      <p:sp>
        <p:nvSpPr>
          <p:cNvPr id="87" name="source-title">
            <a:extLst xmlns:a="http://schemas.openxmlformats.org/drawingml/2006/main">
              <a:ext uri="{FF2B5EF4-FFF2-40B4-BE49-F238E27FC236}">
                <a16:creationId xmlns:a16="http://schemas.microsoft.com/office/drawing/2014/main" id="{C92ADC13-95EB-447F-BBBB-A982DAEC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2862262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8C75"/>
                </a:solidFill>
              </a:defRPr>
            </a:pPr>
            <a:r>
              <a:rPr sz="3300" b="1">
                <a:solidFill>
                  <a:srgbClr val="148C75"/>
                </a:solidFill>
              </a:rPr>
              <a:t>Source Guard</a:t>
            </a:r>
          </a:p>
        </p:txBody>
      </p:sp>
      <p:sp>
        <p:nvSpPr>
          <p:cNvPr id="88" name="source-body">
            <a:extLst xmlns:a="http://schemas.openxmlformats.org/drawingml/2006/main">
              <a:ext uri="{FF2B5EF4-FFF2-40B4-BE49-F238E27FC236}">
                <a16:creationId xmlns:a16="http://schemas.microsoft.com/office/drawing/2014/main" id="{782083F6-9E56-4FC5-B3AF-04251203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29251275"/>
            <a:ext cx="7791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Verify the target, trust level and conflicting evidence.</a:t>
            </a:r>
          </a:p>
        </p:txBody>
      </p:sp>
      <p:sp>
        <p:nvSpPr>
          <p:cNvPr id="89" name="veto-line">
            <a:extLst xmlns:a="http://schemas.openxmlformats.org/drawingml/2006/main">
              <a:ext uri="{FF2B5EF4-FFF2-40B4-BE49-F238E27FC236}">
                <a16:creationId xmlns:a16="http://schemas.microsoft.com/office/drawing/2014/main" id="{0A411EF7-2E5B-4CD4-93F3-12B8AA36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0200" y="28622625"/>
            <a:ext cx="114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58"/>
          </a:solidFill>
          <a:ln xmlns:a="http://schemas.openxmlformats.org/drawingml/2006/main" w="0">
            <a:solidFill>
              <a:srgbClr val="C64758"/>
            </a:solidFill>
            <a:prstDash val="solid"/>
          </a:ln>
        </p:spPr>
      </p:sp>
      <p:sp>
        <p:nvSpPr>
          <p:cNvPr id="90" name="veto-title">
            <a:extLst xmlns:a="http://schemas.openxmlformats.org/drawingml/2006/main">
              <a:ext uri="{FF2B5EF4-FFF2-40B4-BE49-F238E27FC236}">
                <a16:creationId xmlns:a16="http://schemas.microsoft.com/office/drawing/2014/main" id="{0486E690-770F-4310-943B-15809B73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5950" y="2862262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64758"/>
                </a:solidFill>
              </a:defRPr>
            </a:pPr>
            <a:r>
              <a:rPr sz="3300" b="1">
                <a:solidFill>
                  <a:srgbClr val="C64758"/>
                </a:solidFill>
              </a:rPr>
              <a:t>Contract + Hard Veto</a:t>
            </a:r>
          </a:p>
        </p:txBody>
      </p:sp>
      <p:sp>
        <p:nvSpPr>
          <p:cNvPr id="91" name="veto-body">
            <a:extLst xmlns:a="http://schemas.openxmlformats.org/drawingml/2006/main">
              <a:ext uri="{FF2B5EF4-FFF2-40B4-BE49-F238E27FC236}">
                <a16:creationId xmlns:a16="http://schemas.microsoft.com/office/drawing/2014/main" id="{3272F6B4-7A3F-4062-9902-AAD49352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5950" y="29251275"/>
            <a:ext cx="7791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Check required facts, repair within a fixed limit and block unsupported output.</a:t>
            </a:r>
          </a:p>
        </p:txBody>
      </p:sp>
      <p:sp>
        <p:nvSpPr>
          <p:cNvPr id="92" name="safety-takeaway">
            <a:extLst xmlns:a="http://schemas.openxmlformats.org/drawingml/2006/main">
              <a:ext uri="{FF2B5EF4-FFF2-40B4-BE49-F238E27FC236}">
                <a16:creationId xmlns:a16="http://schemas.microsoft.com/office/drawing/2014/main" id="{9098478A-531A-4E5A-891C-1B49C318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0"/>
            <a:ext cx="27412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9050">
            <a:solidFill>
              <a:srgbClr val="C8D6E4"/>
            </a:solidFill>
            <a:prstDash val="solid"/>
          </a:ln>
        </p:spPr>
      </p:sp>
      <p:sp>
        <p:nvSpPr>
          <p:cNvPr id="93" name="safety-takeaway-text">
            <a:extLst xmlns:a="http://schemas.openxmlformats.org/drawingml/2006/main">
              <a:ext uri="{FF2B5EF4-FFF2-40B4-BE49-F238E27FC236}">
                <a16:creationId xmlns:a16="http://schemas.microsoft.com/office/drawing/2014/main" id="{CE1BD022-59D7-441B-AD53-14705084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0"/>
            <a:ext cx="26650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92441"/>
                </a:solidFill>
              </a:defRPr>
            </a:pPr>
            <a:r>
              <a:rPr sz="3150" b="1">
                <a:solidFill>
                  <a:srgbClr val="092441"/>
                </a:solidFill>
              </a:rPr>
              <a:t>Insufficient evidence leads to clarification or no-answer, never guessing.</a:t>
            </a:r>
          </a:p>
        </p:txBody>
      </p:sp>
      <p:sp>
        <p:nvSpPr>
          <p:cNvPr id="94" name="results-bar">
            <a:extLst xmlns:a="http://schemas.openxmlformats.org/drawingml/2006/main">
              <a:ext uri="{FF2B5EF4-FFF2-40B4-BE49-F238E27FC236}">
                <a16:creationId xmlns:a16="http://schemas.microsoft.com/office/drawing/2014/main" id="{EBB9291F-9657-4D2B-B9D0-54CC971B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0"/>
            <a:ext cx="27412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8C75"/>
          </a:solidFill>
          <a:ln xmlns:a="http://schemas.openxmlformats.org/drawingml/2006/main" w="0">
            <a:solidFill>
              <a:srgbClr val="148C75"/>
            </a:solidFill>
            <a:prstDash val="solid"/>
          </a:ln>
        </p:spPr>
      </p:sp>
      <p:sp>
        <p:nvSpPr>
          <p:cNvPr id="95" name="results-accent">
            <a:extLst xmlns:a="http://schemas.openxmlformats.org/drawingml/2006/main">
              <a:ext uri="{FF2B5EF4-FFF2-40B4-BE49-F238E27FC236}">
                <a16:creationId xmlns:a16="http://schemas.microsoft.com/office/drawing/2014/main" id="{3E6770FD-2A32-4559-93A5-3CC8D599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0"/>
            <a:ext cx="19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96" name="results-title">
            <a:extLst xmlns:a="http://schemas.openxmlformats.org/drawingml/2006/main">
              <a:ext uri="{FF2B5EF4-FFF2-40B4-BE49-F238E27FC236}">
                <a16:creationId xmlns:a16="http://schemas.microsoft.com/office/drawing/2014/main" id="{B934599E-A26F-4A88-A416-94FE0CA8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451675"/>
            <a:ext cx="2638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5. RESULTS &amp; PRODUCT READINESS</a:t>
            </a:r>
          </a:p>
        </p:txBody>
      </p:sp>
      <p:sp>
        <p:nvSpPr>
          <p:cNvPr id="9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331E6074-D83F-478C-9F66-5CDAA8B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289875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1C64AE"/>
                </a:solidFill>
              </a:defRPr>
            </a:pPr>
            <a:r>
              <a:rPr sz="5400" b="1">
                <a:solidFill>
                  <a:srgbClr val="1C64AE"/>
                </a:solidFill>
              </a:rPr>
              <a:t>1,600+</a:t>
            </a:r>
          </a:p>
        </p:txBody>
      </p:sp>
      <p:sp>
        <p:nvSpPr>
          <p:cNvPr id="98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E768CFA3-37D2-48E7-8ACB-4D2CF0E0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147125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536A7F"/>
                </a:solidFill>
              </a:defRPr>
            </a:pPr>
            <a:r>
              <a:rPr sz="2925" b="1">
                <a:solidFill>
                  <a:srgbClr val="536A7F"/>
                </a:solidFill>
              </a:rPr>
              <a:t>EVALUATION CASES</a:t>
            </a:r>
          </a:p>
        </p:txBody>
      </p:sp>
      <p:sp>
        <p:nvSpPr>
          <p:cNvPr id="99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BD85750D-4380-41EF-BFBC-5C7D290D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289875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148C75"/>
                </a:solidFill>
              </a:defRPr>
            </a:pPr>
            <a:r>
              <a:rPr sz="5400" b="1">
                <a:solidFill>
                  <a:srgbClr val="148C75"/>
                </a:solidFill>
              </a:rPr>
              <a:t>94.75%</a:t>
            </a:r>
          </a:p>
        </p:txBody>
      </p:sp>
      <p:sp>
        <p:nvSpPr>
          <p:cNvPr id="100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9CD38A98-44D5-47D2-A0F1-F527EDC7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147125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536A7F"/>
                </a:solidFill>
              </a:defRPr>
            </a:pPr>
            <a:r>
              <a:rPr sz="2925" b="1">
                <a:solidFill>
                  <a:srgbClr val="536A7F"/>
                </a:solidFill>
              </a:rPr>
              <a:t>PASS RATE</a:t>
            </a:r>
          </a:p>
        </p:txBody>
      </p:sp>
      <p:sp>
        <p:nvSpPr>
          <p:cNvPr id="101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9170A9C4-0FE9-4C79-8B1F-C6773159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3289875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E86E21"/>
                </a:solidFill>
              </a:defRPr>
            </a:pPr>
            <a:r>
              <a:rPr sz="5400" b="1">
                <a:solidFill>
                  <a:srgbClr val="E86E21"/>
                </a:solidFill>
              </a:rPr>
              <a:t>2.31 s</a:t>
            </a:r>
          </a:p>
        </p:txBody>
      </p:sp>
      <p:sp>
        <p:nvSpPr>
          <p:cNvPr id="10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88FBC2E3-5C90-4704-A1FF-F82E4B27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147125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536A7F"/>
                </a:solidFill>
              </a:defRPr>
            </a:pPr>
            <a:r>
              <a:rPr sz="2925" b="1">
                <a:solidFill>
                  <a:srgbClr val="536A7F"/>
                </a:solidFill>
              </a:rPr>
              <a:t>AVERAGE LATENCY</a:t>
            </a:r>
          </a:p>
        </p:txBody>
      </p:sp>
      <p:sp>
        <p:nvSpPr>
          <p:cNvPr id="103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A826B26F-7A44-4B92-816F-0F84D939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33289875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C64758"/>
                </a:solidFill>
              </a:defRPr>
            </a:pPr>
            <a:r>
              <a:rPr sz="5400" b="1">
                <a:solidFill>
                  <a:srgbClr val="C64758"/>
                </a:solidFill>
              </a:rPr>
              <a:t>12.53 s</a:t>
            </a:r>
          </a:p>
        </p:txBody>
      </p:sp>
      <p:sp>
        <p:nvSpPr>
          <p:cNvPr id="104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FAA15CBC-7131-4902-913D-70DFCCFA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34147125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536A7F"/>
                </a:solidFill>
              </a:defRPr>
            </a:pPr>
            <a:r>
              <a:rPr sz="2925" b="1">
                <a:solidFill>
                  <a:srgbClr val="536A7F"/>
                </a:solidFill>
              </a:rPr>
              <a:t>P95 LATENCY</a:t>
            </a:r>
          </a:p>
        </p:txBody>
      </p:sp>
      <p:sp>
        <p:nvSpPr>
          <p:cNvPr id="105" name="finding">
            <a:extLst xmlns:a="http://schemas.openxmlformats.org/drawingml/2006/main">
              <a:ext uri="{FF2B5EF4-FFF2-40B4-BE49-F238E27FC236}">
                <a16:creationId xmlns:a16="http://schemas.microsoft.com/office/drawing/2014/main" id="{F1962F70-91CA-402F-B908-B1D4F9F5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0"/>
            <a:ext cx="274129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9050">
            <a:solidFill>
              <a:srgbClr val="C8D6E4"/>
            </a:solidFill>
            <a:prstDash val="solid"/>
          </a:ln>
        </p:spPr>
      </p:sp>
      <p:sp>
        <p:nvSpPr>
          <p:cNvPr id="106" name="finding-text">
            <a:extLst xmlns:a="http://schemas.openxmlformats.org/drawingml/2006/main">
              <a:ext uri="{FF2B5EF4-FFF2-40B4-BE49-F238E27FC236}">
                <a16:creationId xmlns:a16="http://schemas.microsoft.com/office/drawing/2014/main" id="{22DA8239-8884-4979-96D8-15E61632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956750"/>
            <a:ext cx="2665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3283C"/>
                </a:solidFill>
              </a:defRPr>
            </a:pPr>
            <a:r>
              <a:rPr sz="3150" b="1">
                <a:solidFill>
                  <a:srgbClr val="13283C"/>
                </a:solidFill>
              </a:rPr>
              <a:t>KEY FINDING   Average latency meets the target; P95 remains above 10 seconds.</a:t>
            </a:r>
          </a:p>
        </p:txBody>
      </p:sp>
      <p:sp>
        <p:nvSpPr>
          <p:cNvPr id="107" name="readiness-heading">
            <a:extLst xmlns:a="http://schemas.openxmlformats.org/drawingml/2006/main">
              <a:ext uri="{FF2B5EF4-FFF2-40B4-BE49-F238E27FC236}">
                <a16:creationId xmlns:a16="http://schemas.microsoft.com/office/drawing/2014/main" id="{ADB2B773-F074-4726-832A-7F736E86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521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2441"/>
                </a:solidFill>
              </a:defRPr>
            </a:pPr>
            <a:r>
              <a:rPr sz="3450" b="1">
                <a:solidFill>
                  <a:srgbClr val="092441"/>
                </a:solidFill>
              </a:rPr>
              <a:t>CURRENT READINESS</a:t>
            </a:r>
          </a:p>
        </p:txBody>
      </p:sp>
      <p:sp>
        <p:nvSpPr>
          <p:cNvPr id="108" name="status-0">
            <a:extLst xmlns:a="http://schemas.openxmlformats.org/drawingml/2006/main">
              <a:ext uri="{FF2B5EF4-FFF2-40B4-BE49-F238E27FC236}">
                <a16:creationId xmlns:a16="http://schemas.microsoft.com/office/drawing/2014/main" id="{E33E8FEF-DC13-457A-AA13-BE4A2799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0"/>
            <a:ext cx="600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8C75"/>
          </a:solidFill>
          <a:ln xmlns:a="http://schemas.openxmlformats.org/drawingml/2006/main" w="0">
            <a:solidFill>
              <a:srgbClr val="148C75"/>
            </a:solidFill>
            <a:prstDash val="solid"/>
          </a:ln>
        </p:spPr>
      </p:sp>
      <p:sp>
        <p:nvSpPr>
          <p:cNvPr id="109" name="status-0-text">
            <a:extLst xmlns:a="http://schemas.openxmlformats.org/drawingml/2006/main">
              <a:ext uri="{FF2B5EF4-FFF2-40B4-BE49-F238E27FC236}">
                <a16:creationId xmlns:a16="http://schemas.microsoft.com/office/drawing/2014/main" id="{24F158FE-C6DC-4EE7-877D-5FB38390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747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FAQ CHATBOT  |  READY</a:t>
            </a:r>
          </a:p>
        </p:txBody>
      </p:sp>
      <p:sp>
        <p:nvSpPr>
          <p:cNvPr id="110" name="status-1">
            <a:extLst xmlns:a="http://schemas.openxmlformats.org/drawingml/2006/main">
              <a:ext uri="{FF2B5EF4-FFF2-40B4-BE49-F238E27FC236}">
                <a16:creationId xmlns:a16="http://schemas.microsoft.com/office/drawing/2014/main" id="{49353267-705C-42D8-886E-E25513D8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671250"/>
            <a:ext cx="600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111" name="status-1-text">
            <a:extLst xmlns:a="http://schemas.openxmlformats.org/drawingml/2006/main">
              <a:ext uri="{FF2B5EF4-FFF2-40B4-BE49-F238E27FC236}">
                <a16:creationId xmlns:a16="http://schemas.microsoft.com/office/drawing/2014/main" id="{234CCAB5-3133-478F-A2F4-C676BC7B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747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CHECK SLOT  |  WAITING WP API</a:t>
            </a:r>
          </a:p>
        </p:txBody>
      </p:sp>
      <p:sp>
        <p:nvSpPr>
          <p:cNvPr id="112" name="status-2">
            <a:extLst xmlns:a="http://schemas.openxmlformats.org/drawingml/2006/main">
              <a:ext uri="{FF2B5EF4-FFF2-40B4-BE49-F238E27FC236}">
                <a16:creationId xmlns:a16="http://schemas.microsoft.com/office/drawing/2014/main" id="{10E76BD5-95C9-441C-8710-CD945313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6671250"/>
            <a:ext cx="600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687D7"/>
          </a:solidFill>
          <a:ln xmlns:a="http://schemas.openxmlformats.org/drawingml/2006/main" w="0">
            <a:solidFill>
              <a:srgbClr val="2687D7"/>
            </a:solidFill>
            <a:prstDash val="solid"/>
          </a:ln>
        </p:spPr>
      </p:sp>
      <p:sp>
        <p:nvSpPr>
          <p:cNvPr id="113" name="status-2-text">
            <a:extLst xmlns:a="http://schemas.openxmlformats.org/drawingml/2006/main">
              <a:ext uri="{FF2B5EF4-FFF2-40B4-BE49-F238E27FC236}">
                <a16:creationId xmlns:a16="http://schemas.microsoft.com/office/drawing/2014/main" id="{A1C18E45-FEB6-48A9-9817-0D44529C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36747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ADMIN INPUT  |  DESIGNED</a:t>
            </a:r>
          </a:p>
        </p:txBody>
      </p:sp>
      <p:sp>
        <p:nvSpPr>
          <p:cNvPr id="114" name="status-3">
            <a:extLst xmlns:a="http://schemas.openxmlformats.org/drawingml/2006/main">
              <a:ext uri="{FF2B5EF4-FFF2-40B4-BE49-F238E27FC236}">
                <a16:creationId xmlns:a16="http://schemas.microsoft.com/office/drawing/2014/main" id="{2E36ADBD-1C44-4730-84C0-91B61EA2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36671250"/>
            <a:ext cx="600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64758"/>
          </a:solidFill>
          <a:ln xmlns:a="http://schemas.openxmlformats.org/drawingml/2006/main" w="0">
            <a:solidFill>
              <a:srgbClr val="C64758"/>
            </a:solidFill>
            <a:prstDash val="solid"/>
          </a:ln>
        </p:spPr>
      </p:sp>
      <p:sp>
        <p:nvSpPr>
          <p:cNvPr id="115" name="status-3-text">
            <a:extLst xmlns:a="http://schemas.openxmlformats.org/drawingml/2006/main">
              <a:ext uri="{FF2B5EF4-FFF2-40B4-BE49-F238E27FC236}">
                <a16:creationId xmlns:a16="http://schemas.microsoft.com/office/drawing/2014/main" id="{7CB9D7FD-00CA-428F-972D-206F6512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25" y="36747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BOOKING  |  FUTURE</a:t>
            </a:r>
          </a:p>
        </p:txBody>
      </p:sp>
      <p:sp>
        <p:nvSpPr>
          <p:cNvPr id="116" name="next-heading">
            <a:extLst xmlns:a="http://schemas.openxmlformats.org/drawingml/2006/main">
              <a:ext uri="{FF2B5EF4-FFF2-40B4-BE49-F238E27FC236}">
                <a16:creationId xmlns:a16="http://schemas.microsoft.com/office/drawing/2014/main" id="{8409C343-BE9B-4B1A-93F7-F77A34A1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8142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E86E21"/>
                </a:solidFill>
              </a:defRPr>
            </a:pPr>
            <a:r>
              <a:rPr sz="3375" b="1">
                <a:solidFill>
                  <a:srgbClr val="E86E21"/>
                </a:solidFill>
              </a:rPr>
              <a:t>NEXT MILESTONES</a:t>
            </a:r>
          </a:p>
        </p:txBody>
      </p:sp>
      <p:sp>
        <p:nvSpPr>
          <p:cNvPr id="117" name="next-body">
            <a:extLst xmlns:a="http://schemas.openxmlformats.org/drawingml/2006/main">
              <a:ext uri="{FF2B5EF4-FFF2-40B4-BE49-F238E27FC236}">
                <a16:creationId xmlns:a16="http://schemas.microsoft.com/office/drawing/2014/main" id="{3EC922EC-1B76-4B32-9D5A-1482BB39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338125"/>
            <a:ext cx="1714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3283C"/>
                </a:solidFill>
              </a:defRPr>
            </a:pPr>
            <a:r>
              <a:rPr sz="2925" b="0">
                <a:solidFill>
                  <a:srgbClr val="13283C"/>
                </a:solidFill>
              </a:rPr>
              <a:t>P95 below 10s  |  Multi-user load test  |  Shared LLM queue  |  WordPress Slot API  |  Dual-publish content</a:t>
            </a:r>
          </a:p>
        </p:txBody>
      </p:sp>
      <p:sp>
        <p:nvSpPr>
          <p:cNvPr id="118" name="sources-heading">
            <a:extLst xmlns:a="http://schemas.openxmlformats.org/drawingml/2006/main">
              <a:ext uri="{FF2B5EF4-FFF2-40B4-BE49-F238E27FC236}">
                <a16:creationId xmlns:a16="http://schemas.microsoft.com/office/drawing/2014/main" id="{33C29078-36EB-42E5-986A-563425B0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0" y="378142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6656B7"/>
                </a:solidFill>
              </a:defRPr>
            </a:pPr>
            <a:r>
              <a:rPr sz="3375" b="1">
                <a:solidFill>
                  <a:srgbClr val="6656B7"/>
                </a:solidFill>
              </a:rPr>
              <a:t>SOURCES</a:t>
            </a:r>
          </a:p>
        </p:txBody>
      </p:sp>
      <p:sp>
        <p:nvSpPr>
          <p:cNvPr id="119" name="sources-body">
            <a:extLst xmlns:a="http://schemas.openxmlformats.org/drawingml/2006/main">
              <a:ext uri="{FF2B5EF4-FFF2-40B4-BE49-F238E27FC236}">
                <a16:creationId xmlns:a16="http://schemas.microsoft.com/office/drawing/2014/main" id="{52977BA8-581F-4316-BA2B-4145BE71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0" y="38338125"/>
            <a:ext cx="9315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PSU Esports Studio website  |  Typhoon2.5-Qwen3-4B  |  BGE-M3  |  Project evaluation logs</a:t>
            </a:r>
          </a:p>
        </p:txBody>
      </p:sp>
    </p:spTree>
    <p:extLst>
      <p:ext uri="{BB962C8B-B14F-4D97-AF65-F5344CB8AC3E}">
        <p14:creationId xmlns:p14="http://schemas.microsoft.com/office/powerpoint/2010/main" val="1999916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2026-08-27T16:50:35.2430000Z</dcterms:created>
  <dcterms:modified xsi:type="dcterms:W3CDTF">2026-08-27T16:50:35.2430000Z</dcterms:modified>
</coreProperties>
</file>