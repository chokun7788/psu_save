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b3e6a34a734519" /><Relationship Type="http://schemas.openxmlformats.org/officeDocument/2006/relationships/extended-properties" Target="/docProps/app.xml" Id="Rd3a034e361e843d8" /><Relationship Type="http://schemas.openxmlformats.org/officeDocument/2006/relationships/officeDocument" Target="/ppt/presentation.xml" Id="R454e8b29dcb343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9eb5fb1ff84d04"/>
  </p:sldMasterIdLst>
  <p:notesMasterIdLst>
    <p:notesMasterId xmlns:r="http://schemas.openxmlformats.org/officeDocument/2006/relationships" r:id="R2a3bbc947cbb42f0"/>
  </p:notesMasterIdLst>
  <p:sldIdLst>
    <p:sldId xmlns:r="http://schemas.openxmlformats.org/officeDocument/2006/relationships" id="256" r:id="Rb882663ee8634949"/>
  </p:sldIdLst>
  <p:sldSz cx="30275784" cy="42806112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a495651caf4d58" /><Relationship Type="http://schemas.openxmlformats.org/officeDocument/2006/relationships/slideMaster" Target="/ppt/slideMasters/slideMaster1.xml" Id="R7a9eb5fb1ff84d04" /><Relationship Type="http://schemas.openxmlformats.org/officeDocument/2006/relationships/notesMaster" Target="/ppt/notesMasters/notesMaster1.xml" Id="R2a3bbc947cbb42f0" /><Relationship Type="http://schemas.openxmlformats.org/officeDocument/2006/relationships/presProps" Target="/ppt/presProps.xml" Id="Ra00dfa709c38451f" /><Relationship Type="http://schemas.openxmlformats.org/officeDocument/2006/relationships/tableStyles" Target="/ppt/tableStyles.xml" Id="R7a02381133ed4c1d" /><Relationship Type="http://schemas.openxmlformats.org/officeDocument/2006/relationships/slide" Target="/ppt/slides/slide1.xml" Id="Rb882663ee86349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dbccc66f8344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60583f1d354350" /><Relationship Type="http://schemas.openxmlformats.org/officeDocument/2006/relationships/notesMaster" Target="/ppt/notesMasters/notesMaster1.xml" Id="R1d3cffc7753a41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Official A0 background supplied by the user: D:/Download New/SuperAI6_PosterA0-Template_PNG.png</a:t>
            </a:r>
          </a:p>
          <a:p xmlns:a="http://schemas.openxmlformats.org/drawingml/2006/main">
            <a:r>
              <a:t>PSU Esports Studio logo supplied by the user: C:/Users/Chokhun/Downloads/Sticker.pdf.png</a:t>
            </a:r>
          </a:p>
          <a:p xmlns:a="http://schemas.openxmlformats.org/drawingml/2006/main">
            <a:r>
              <a:t>Visual references supplied by the user: D:/Download New/_Real-Time Conversational AI Pipeline Poster.pdf; C:/Users/Chokhun/AppData/Local/Temp/1 (1).png; C:/Users/Chokhun/AppData/Local/Temp/codex-clipboard-87f022f8-ae93-4fb6-ac1a-bdf3e8bf6451.png; C:/Users/Chokhun/AppData/Local/Temp/codex-clipboard-229e80da-b71e-4918-b0e7-6795627ddaae.png; C:/Users/Chokhun/AppData/Local/Temp/codex-clipboard-0328a6ea-5873-4fd6-9dbc-432c04c6616d.png</a:t>
            </a:r>
          </a:p>
          <a:p xmlns:a="http://schemas.openxmlformats.org/drawingml/2006/main">
            <a:r>
              <a:t>Live demo screenshot captured from the local PSU Esports website and API on 2026-08-28. Question: เล่น VR มีค่าบริการเท่าไหร่. Route: deterministic calculator. Latency: 240 ms. Confidence: 0.97.</a:t>
            </a:r>
          </a:p>
          <a:p xmlns:a="http://schemas.openxmlformats.org/drawingml/2006/main">
            <a:r>
              <a:t>Project architecture and evaluation: Project Flow 43, project docs, and daily logs dated 2026-08-27 to 2026-08-28.</a:t>
            </a:r>
          </a:p>
          <a:p xmlns:a="http://schemas.openxmlformats.org/drawingml/2006/main">
            <a:r>
              <a:t>PSU Esports Studio official website: https://esports.phuket.psu.ac.th/</a:t>
            </a:r>
          </a:p>
          <a:p xmlns:a="http://schemas.openxmlformats.org/drawingml/2006/main">
            <a:r>
              <a:t>Typhoon model card: https://huggingface.co/typhoon-ai/typhoon2.5-qwen3-4b</a:t>
            </a:r>
          </a:p>
          <a:p xmlns:a="http://schemas.openxmlformats.org/drawingml/2006/main">
            <a:r>
              <a:t>BGE-M3 paper: https://arxiv.org/abs/2402.03216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0bf03da15345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d56b10e3654fda" /><Relationship Type="http://schemas.openxmlformats.org/officeDocument/2006/relationships/slideLayout" Target="/ppt/slideLayouts/slideLayout1.xml" Id="R447aa99178984a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7aa99178984a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da264b83a45f2" /><Relationship Type="http://schemas.openxmlformats.org/officeDocument/2006/relationships/image" Target="/ppt/media/image.png" Id="R79166e07e24f48ba" /><Relationship Type="http://schemas.openxmlformats.org/officeDocument/2006/relationships/image" Target="/ppt/media/image2.png" Id="R1b398547de814beb" /><Relationship Type="http://schemas.openxmlformats.org/officeDocument/2006/relationships/image" Target="/ppt/media/image.jpeg" Id="Rd806985e99954f00" /><Relationship Type="http://schemas.openxmlformats.org/officeDocument/2006/relationships/notesSlide" Target="/ppt/notesSlides/notesSlide1.xml" Id="R9b10ca44e5f54f9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166e07e24f48b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0275784" cy="42806112"/>
          </a:xfrm>
          <a:prstGeom xmlns:a="http://schemas.openxmlformats.org/drawingml/2006/main" prst="rect">
            <a:avLst/>
          </a:prstGeom>
        </p:spPr>
      </p:pic>
      <p:sp>
        <p:nvSpPr>
          <p:cNvPr id="2" name="band-title-curated">
            <a:extLst xmlns:a="http://schemas.openxmlformats.org/drawingml/2006/main">
              <a:ext uri="{FF2B5EF4-FFF2-40B4-BE49-F238E27FC236}">
                <a16:creationId xmlns:a16="http://schemas.microsoft.com/office/drawing/2014/main" id="{8C27657A-74DF-4BE5-A76D-A15415CC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29032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8"/>
          </a:solidFill>
          <a:ln xmlns:a="http://schemas.openxmlformats.org/drawingml/2006/main" w="0">
            <a:solidFill>
              <a:srgbClr val="0A2A48"/>
            </a:solidFill>
            <a:prstDash val="solid"/>
          </a:ln>
        </p:spPr>
      </p:sp>
      <p:sp>
        <p:nvSpPr>
          <p:cNvPr id="3" name="band-top-curated">
            <a:extLst xmlns:a="http://schemas.openxmlformats.org/drawingml/2006/main">
              <a:ext uri="{FF2B5EF4-FFF2-40B4-BE49-F238E27FC236}">
                <a16:creationId xmlns:a16="http://schemas.microsoft.com/office/drawing/2014/main" id="{27F0FD38-B111-40E9-84CC-B3CB2B98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429750"/>
            <a:ext cx="29032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AAA"/>
          </a:solidFill>
          <a:ln xmlns:a="http://schemas.openxmlformats.org/drawingml/2006/main" w="0">
            <a:solidFill>
              <a:srgbClr val="1B9AAA"/>
            </a:solidFill>
            <a:prstDash val="solid"/>
          </a:ln>
        </p:spPr>
      </p:sp>
      <p:sp>
        <p:nvSpPr>
          <p:cNvPr id="4" name="band-architecture-curated">
            <a:extLst xmlns:a="http://schemas.openxmlformats.org/drawingml/2006/main">
              <a:ext uri="{FF2B5EF4-FFF2-40B4-BE49-F238E27FC236}">
                <a16:creationId xmlns:a16="http://schemas.microsoft.com/office/drawing/2014/main" id="{66D8D9E8-AC82-4A94-B0A7-96FCCFBB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621000"/>
            <a:ext cx="29032200" cy="752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B3"/>
          </a:solidFill>
          <a:ln xmlns:a="http://schemas.openxmlformats.org/drawingml/2006/main" w="0">
            <a:solidFill>
              <a:srgbClr val="176BB3"/>
            </a:solidFill>
            <a:prstDash val="solid"/>
          </a:ln>
        </p:spPr>
      </p:sp>
      <p:sp>
        <p:nvSpPr>
          <p:cNvPr id="5" name="band-method-curated">
            <a:extLst xmlns:a="http://schemas.openxmlformats.org/drawingml/2006/main">
              <a:ext uri="{FF2B5EF4-FFF2-40B4-BE49-F238E27FC236}">
                <a16:creationId xmlns:a16="http://schemas.microsoft.com/office/drawing/2014/main" id="{70F69A98-075D-48F4-A5B7-A3C137AA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145750"/>
            <a:ext cx="29032200" cy="962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536"/>
          </a:solidFill>
          <a:ln xmlns:a="http://schemas.openxmlformats.org/drawingml/2006/main" w="0">
            <a:solidFill>
              <a:srgbClr val="D5A536"/>
            </a:solidFill>
            <a:prstDash val="solid"/>
          </a:ln>
        </p:spPr>
      </p:sp>
      <p:sp>
        <p:nvSpPr>
          <p:cNvPr id="6" name="band-bottom-curated">
            <a:extLst xmlns:a="http://schemas.openxmlformats.org/drawingml/2006/main">
              <a:ext uri="{FF2B5EF4-FFF2-40B4-BE49-F238E27FC236}">
                <a16:creationId xmlns:a16="http://schemas.microsoft.com/office/drawing/2014/main" id="{07C07A11-395C-4499-AC25-72F9A9AD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766000"/>
            <a:ext cx="29032200" cy="695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8"/>
          </a:solidFill>
          <a:ln xmlns:a="http://schemas.openxmlformats.org/drawingml/2006/main" w="0">
            <a:solidFill>
              <a:srgbClr val="0A2A48"/>
            </a:solidFill>
            <a:prstDash val="solid"/>
          </a:ln>
        </p:spPr>
      </p:sp>
      <p:sp>
        <p:nvSpPr>
          <p:cNvPr id="7" name="curated-author-strip">
            <a:extLst xmlns:a="http://schemas.openxmlformats.org/drawingml/2006/main">
              <a:ext uri="{FF2B5EF4-FFF2-40B4-BE49-F238E27FC236}">
                <a16:creationId xmlns:a16="http://schemas.microsoft.com/office/drawing/2014/main" id="{AE0041E9-650F-4173-BD88-D02703A1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29300"/>
            <a:ext cx="2798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นายภาสวุฒิ ชูติประชากิจ  |  PSU Esports Studio - Phuket  |  Trainee ID 600584</a:t>
            </a:r>
          </a:p>
        </p:txBody>
      </p:sp>
      <p:sp>
        <p:nvSpPr>
          <p:cNvPr id="8" name="curated-title-panel">
            <a:extLst xmlns:a="http://schemas.openxmlformats.org/drawingml/2006/main">
              <a:ext uri="{FF2B5EF4-FFF2-40B4-BE49-F238E27FC236}">
                <a16:creationId xmlns:a16="http://schemas.microsoft.com/office/drawing/2014/main" id="{190A4698-46F7-4428-A0DE-4E0CDCCB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334125"/>
            <a:ext cx="282702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curated-title-accent">
            <a:extLst xmlns:a="http://schemas.openxmlformats.org/drawingml/2006/main">
              <a:ext uri="{FF2B5EF4-FFF2-40B4-BE49-F238E27FC236}">
                <a16:creationId xmlns:a16="http://schemas.microsoft.com/office/drawing/2014/main" id="{9183C86C-C74C-4585-9BFF-4C26D4F1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334125"/>
            <a:ext cx="1143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52A"/>
          </a:solidFill>
          <a:ln xmlns:a="http://schemas.openxmlformats.org/drawingml/2006/main" w="0">
            <a:solidFill>
              <a:srgbClr val="E9752A"/>
            </a:solidFill>
            <a:prstDash val="solid"/>
          </a:ln>
        </p:spPr>
      </p:sp>
      <p:pic>
        <p:nvPicPr>
          <p:cNvPr id="2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98547de814beb"/>
          <a:stretch xmlns:a="http://schemas.openxmlformats.org/drawingml/2006/main"/>
        </p:blipFill>
        <p:spPr>
          <a:xfrm xmlns:a="http://schemas.openxmlformats.org/drawingml/2006/main">
            <a:off x="1428750" y="6808391"/>
            <a:ext cx="4095750" cy="1194594"/>
          </a:xfrm>
          <a:prstGeom xmlns:a="http://schemas.openxmlformats.org/drawingml/2006/main" prst="rect">
            <a:avLst/>
          </a:prstGeom>
        </p:spPr>
      </p:pic>
      <p:sp>
        <p:nvSpPr>
          <p:cNvPr id="11" name="curated-channel">
            <a:extLst xmlns:a="http://schemas.openxmlformats.org/drawingml/2006/main">
              <a:ext uri="{FF2B5EF4-FFF2-40B4-BE49-F238E27FC236}">
                <a16:creationId xmlns:a16="http://schemas.microsoft.com/office/drawing/2014/main" id="{8457972B-4C49-434A-B78E-3C64E588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14387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6BB3"/>
                </a:solidFill>
              </a:defRPr>
            </a:pPr>
            <a:r>
              <a:rPr sz="2550" b="1">
                <a:solidFill>
                  <a:srgbClr val="176BB3"/>
                </a:solidFill>
              </a:rPr>
              <a:t>LOCAL-FIRST WEBSITE CHATBOT</a:t>
            </a:r>
          </a:p>
        </p:txBody>
      </p:sp>
      <p:sp>
        <p:nvSpPr>
          <p:cNvPr id="12" name="curated-title-divider">
            <a:extLst xmlns:a="http://schemas.openxmlformats.org/drawingml/2006/main">
              <a:ext uri="{FF2B5EF4-FFF2-40B4-BE49-F238E27FC236}">
                <a16:creationId xmlns:a16="http://schemas.microsoft.com/office/drawing/2014/main" id="{ACC64B92-9B5D-4750-BAF5-480F7965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619875"/>
            <a:ext cx="95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52A"/>
          </a:solidFill>
          <a:ln xmlns:a="http://schemas.openxmlformats.org/drawingml/2006/main" w="0">
            <a:solidFill>
              <a:srgbClr val="E9752A"/>
            </a:solidFill>
            <a:prstDash val="solid"/>
          </a:ln>
        </p:spPr>
      </p:sp>
      <p:sp>
        <p:nvSpPr>
          <p:cNvPr id="13" name="curated-title-main">
            <a:extLst xmlns:a="http://schemas.openxmlformats.org/drawingml/2006/main">
              <a:ext uri="{FF2B5EF4-FFF2-40B4-BE49-F238E27FC236}">
                <a16:creationId xmlns:a16="http://schemas.microsoft.com/office/drawing/2014/main" id="{DB6131CD-4F54-42BA-8990-6329D4EF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572250"/>
            <a:ext cx="2133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A2A48"/>
                </a:solidFill>
              </a:defRPr>
            </a:pPr>
            <a:r>
              <a:rPr sz="5700" b="1">
                <a:solidFill>
                  <a:srgbClr val="0A2A48"/>
                </a:solidFill>
              </a:rPr>
              <a:t>AI Chatbot for Multi-Route Hybrid</a:t>
            </a:r>
          </a:p>
          <a:p xmlns:a="http://schemas.openxmlformats.org/drawingml/2006/main">
            <a:pPr algn="l">
              <a:defRPr sz="5700" b="1">
                <a:solidFill>
                  <a:srgbClr val="0A2A48"/>
                </a:solidFill>
              </a:defRPr>
            </a:pPr>
            <a:r>
              <a:rPr sz="5700" b="1">
                <a:solidFill>
                  <a:srgbClr val="0A2A48"/>
                </a:solidFill>
              </a:rPr>
              <a:t>Esports Knowledge Base</a:t>
            </a:r>
          </a:p>
        </p:txBody>
      </p:sp>
      <p:sp>
        <p:nvSpPr>
          <p:cNvPr id="14" name="curated-title-sub">
            <a:extLst xmlns:a="http://schemas.openxmlformats.org/drawingml/2006/main">
              <a:ext uri="{FF2B5EF4-FFF2-40B4-BE49-F238E27FC236}">
                <a16:creationId xmlns:a16="http://schemas.microsoft.com/office/drawing/2014/main" id="{B398166F-5C6A-40B8-A4E7-19972B7A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858125"/>
            <a:ext cx="2133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6BB3"/>
                </a:solidFill>
              </a:defRPr>
            </a:pPr>
            <a:r>
              <a:rPr sz="3225" b="1">
                <a:solidFill>
                  <a:srgbClr val="176BB3"/>
                </a:solidFill>
              </a:rPr>
              <a:t>A local-first FAQ assistant combining exact routing, semantic retrieval and gated generation</a:t>
            </a:r>
          </a:p>
        </p:txBody>
      </p:sp>
      <p:sp>
        <p:nvSpPr>
          <p:cNvPr id="15" name="curated-title-meta">
            <a:extLst xmlns:a="http://schemas.openxmlformats.org/drawingml/2006/main">
              <a:ext uri="{FF2B5EF4-FFF2-40B4-BE49-F238E27FC236}">
                <a16:creationId xmlns:a16="http://schemas.microsoft.com/office/drawing/2014/main" id="{5640A928-9768-4684-A953-9C911203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401050"/>
            <a:ext cx="2133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36879"/>
                </a:solidFill>
              </a:defRPr>
            </a:pPr>
            <a:r>
              <a:rPr sz="2700" b="1">
                <a:solidFill>
                  <a:srgbClr val="536879"/>
                </a:solidFill>
              </a:rPr>
              <a:t>42 games  |  Website  |  Local AI  |  Max 2 LLM calls  |  Target &lt;= 10s</a:t>
            </a:r>
          </a:p>
        </p:txBody>
      </p:sp>
      <p:sp>
        <p:nvSpPr>
          <p:cNvPr id="16" name="challenge-panel">
            <a:extLst xmlns:a="http://schemas.openxmlformats.org/drawingml/2006/main">
              <a:ext uri="{FF2B5EF4-FFF2-40B4-BE49-F238E27FC236}">
                <a16:creationId xmlns:a16="http://schemas.microsoft.com/office/drawing/2014/main" id="{7CBABF61-988E-43B8-8CFD-BC705911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667875"/>
            <a:ext cx="12001500" cy="5715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challenge-accent">
            <a:extLst xmlns:a="http://schemas.openxmlformats.org/drawingml/2006/main">
              <a:ext uri="{FF2B5EF4-FFF2-40B4-BE49-F238E27FC236}">
                <a16:creationId xmlns:a16="http://schemas.microsoft.com/office/drawing/2014/main" id="{2DBD227D-E27B-4171-B36E-6C4DCEE9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667875"/>
            <a:ext cx="114300" cy="571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8B8"/>
          </a:solidFill>
          <a:ln xmlns:a="http://schemas.openxmlformats.org/drawingml/2006/main" w="0">
            <a:solidFill>
              <a:srgbClr val="6858B8"/>
            </a:solidFill>
            <a:prstDash val="solid"/>
          </a:ln>
        </p:spPr>
      </p:sp>
      <p:sp>
        <p:nvSpPr>
          <p:cNvPr id="18" name="challenge-heading">
            <a:extLst xmlns:a="http://schemas.openxmlformats.org/drawingml/2006/main">
              <a:ext uri="{FF2B5EF4-FFF2-40B4-BE49-F238E27FC236}">
                <a16:creationId xmlns:a16="http://schemas.microsoft.com/office/drawing/2014/main" id="{F89344B8-2E35-40D2-931C-619DE9DF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9858375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A3A"/>
                </a:solidFill>
              </a:defRPr>
            </a:pPr>
            <a:r>
              <a:rPr sz="3750" b="1">
                <a:solidFill>
                  <a:srgbClr val="172A3A"/>
                </a:solidFill>
              </a:rPr>
              <a:t>CHALLENGE &amp; OBJECTIVE</a:t>
            </a:r>
          </a:p>
        </p:txBody>
      </p:sp>
      <p:sp>
        <p:nvSpPr>
          <p:cNvPr id="19" name="challenge-heading-line">
            <a:extLst xmlns:a="http://schemas.openxmlformats.org/drawingml/2006/main">
              <a:ext uri="{FF2B5EF4-FFF2-40B4-BE49-F238E27FC236}">
                <a16:creationId xmlns:a16="http://schemas.microsoft.com/office/drawing/2014/main" id="{8B39B7CC-95E8-48E0-9388-23B68366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042035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8B8"/>
          </a:solidFill>
          <a:ln xmlns:a="http://schemas.openxmlformats.org/drawingml/2006/main" w="0">
            <a:solidFill>
              <a:srgbClr val="6858B8"/>
            </a:solidFill>
            <a:prstDash val="solid"/>
          </a:ln>
        </p:spPr>
      </p:sp>
      <p:sp>
        <p:nvSpPr>
          <p:cNvPr id="20" name="challenge-label">
            <a:extLst xmlns:a="http://schemas.openxmlformats.org/drawingml/2006/main">
              <a:ext uri="{FF2B5EF4-FFF2-40B4-BE49-F238E27FC236}">
                <a16:creationId xmlns:a16="http://schemas.microsoft.com/office/drawing/2014/main" id="{33D87B34-9C36-4D86-8C84-6E698979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07156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94C5F"/>
                </a:solidFill>
              </a:defRPr>
            </a:pPr>
            <a:r>
              <a:rPr sz="2700" b="1">
                <a:solidFill>
                  <a:srgbClr val="C94C5F"/>
                </a:solidFill>
              </a:rPr>
              <a:t>CHALLENGE</a:t>
            </a:r>
          </a:p>
        </p:txBody>
      </p:sp>
      <p:sp>
        <p:nvSpPr>
          <p:cNvPr id="21" name="challenge-body">
            <a:extLst xmlns:a="http://schemas.openxmlformats.org/drawingml/2006/main">
              <a:ext uri="{FF2B5EF4-FFF2-40B4-BE49-F238E27FC236}">
                <a16:creationId xmlns:a16="http://schemas.microsoft.com/office/drawing/2014/main" id="{3D23E9CA-86B1-4F60-AAA5-502D0418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144250"/>
            <a:ext cx="11191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72A3A"/>
                </a:solidFill>
              </a:defRPr>
            </a:pPr>
            <a:r>
              <a:rPr sz="2850" b="0">
                <a:solidFill>
                  <a:srgbClr val="172A3A"/>
                </a:solidFill>
              </a:rPr>
              <a:t>PSU Esports information spans fixed facts, rules and long documents. A purely rule-based bot is fast but difficult to extend, while a fully generative bot adds latency and hallucination risk.</a:t>
            </a:r>
          </a:p>
        </p:txBody>
      </p:sp>
      <p:sp>
        <p:nvSpPr>
          <p:cNvPr id="22" name="objective-label">
            <a:extLst xmlns:a="http://schemas.openxmlformats.org/drawingml/2006/main">
              <a:ext uri="{FF2B5EF4-FFF2-40B4-BE49-F238E27FC236}">
                <a16:creationId xmlns:a16="http://schemas.microsoft.com/office/drawing/2014/main" id="{5747CE43-9768-4033-BF89-6EC09FD1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2477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866F"/>
                </a:solidFill>
              </a:defRPr>
            </a:pPr>
            <a:r>
              <a:rPr sz="2700" b="1">
                <a:solidFill>
                  <a:srgbClr val="12866F"/>
                </a:solidFill>
              </a:rPr>
              <a:t>OBJECTIVE</a:t>
            </a:r>
          </a:p>
        </p:txBody>
      </p:sp>
      <p:sp>
        <p:nvSpPr>
          <p:cNvPr id="23" name="objective-body">
            <a:extLst xmlns:a="http://schemas.openxmlformats.org/drawingml/2006/main">
              <a:ext uri="{FF2B5EF4-FFF2-40B4-BE49-F238E27FC236}">
                <a16:creationId xmlns:a16="http://schemas.microsoft.com/office/drawing/2014/main" id="{FA4298BD-3317-4992-82FA-DBB887FF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2858750"/>
            <a:ext cx="11191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72A3A"/>
                </a:solidFill>
              </a:defRPr>
            </a:pPr>
            <a:r>
              <a:rPr sz="2850" b="0">
                <a:solidFill>
                  <a:srgbClr val="172A3A"/>
                </a:solidFill>
              </a:rPr>
              <a:t>Answer the exact question with verified evidence, support newly added knowledge and clarify ambiguity without guessing.</a:t>
            </a:r>
          </a:p>
        </p:txBody>
      </p:sp>
      <p:sp>
        <p:nvSpPr>
          <p:cNvPr id="24" name="goal-exact-dot">
            <a:extLst xmlns:a="http://schemas.openxmlformats.org/drawingml/2006/main">
              <a:ext uri="{FF2B5EF4-FFF2-40B4-BE49-F238E27FC236}">
                <a16:creationId xmlns:a16="http://schemas.microsoft.com/office/drawing/2014/main" id="{5D2437E1-EA63-40DA-8B99-5A5BB3DF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116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66F"/>
          </a:solidFill>
          <a:ln xmlns:a="http://schemas.openxmlformats.org/drawingml/2006/main" w="0">
            <a:solidFill>
              <a:srgbClr val="12866F"/>
            </a:solidFill>
            <a:prstDash val="solid"/>
          </a:ln>
        </p:spPr>
      </p:sp>
      <p:sp>
        <p:nvSpPr>
          <p:cNvPr id="25" name="goal-exact-label">
            <a:extLst xmlns:a="http://schemas.openxmlformats.org/drawingml/2006/main">
              <a:ext uri="{FF2B5EF4-FFF2-40B4-BE49-F238E27FC236}">
                <a16:creationId xmlns:a16="http://schemas.microsoft.com/office/drawing/2014/main" id="{2D3248D9-EB18-47CB-B2AA-E575E2EA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39541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866F"/>
                </a:solidFill>
              </a:defRPr>
            </a:pPr>
            <a:r>
              <a:rPr sz="2325" b="1">
                <a:solidFill>
                  <a:srgbClr val="12866F"/>
                </a:solidFill>
              </a:rPr>
              <a:t>EXACT FACTS</a:t>
            </a:r>
          </a:p>
        </p:txBody>
      </p:sp>
      <p:sp>
        <p:nvSpPr>
          <p:cNvPr id="26" name="goal-exact-value">
            <a:extLst xmlns:a="http://schemas.openxmlformats.org/drawingml/2006/main">
              <a:ext uri="{FF2B5EF4-FFF2-40B4-BE49-F238E27FC236}">
                <a16:creationId xmlns:a16="http://schemas.microsoft.com/office/drawing/2014/main" id="{9E400C4F-F316-4EE0-8DF5-8D5F90BC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954125"/>
            <a:ext cx="814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2A3A"/>
                </a:solidFill>
              </a:defRPr>
            </a:pPr>
            <a:r>
              <a:rPr sz="2475" b="0">
                <a:solidFill>
                  <a:srgbClr val="172A3A"/>
                </a:solidFill>
              </a:rPr>
              <a:t>Fast + Structured</a:t>
            </a:r>
          </a:p>
        </p:txBody>
      </p:sp>
      <p:sp>
        <p:nvSpPr>
          <p:cNvPr id="27" name="goal-new-dot">
            <a:extLst xmlns:a="http://schemas.openxmlformats.org/drawingml/2006/main">
              <a:ext uri="{FF2B5EF4-FFF2-40B4-BE49-F238E27FC236}">
                <a16:creationId xmlns:a16="http://schemas.microsoft.com/office/drawing/2014/main" id="{BA7F5261-14D9-4398-B67F-D1BB725E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592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91D5"/>
          </a:solidFill>
          <a:ln xmlns:a="http://schemas.openxmlformats.org/drawingml/2006/main" w="0">
            <a:solidFill>
              <a:srgbClr val="2D91D5"/>
            </a:solidFill>
            <a:prstDash val="solid"/>
          </a:ln>
        </p:spPr>
      </p:sp>
      <p:sp>
        <p:nvSpPr>
          <p:cNvPr id="28" name="goal-new-label">
            <a:extLst xmlns:a="http://schemas.openxmlformats.org/drawingml/2006/main">
              <a:ext uri="{FF2B5EF4-FFF2-40B4-BE49-F238E27FC236}">
                <a16:creationId xmlns:a16="http://schemas.microsoft.com/office/drawing/2014/main" id="{9189A4CB-CA4F-48C9-B1FE-9A1B9406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44303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D91D5"/>
                </a:solidFill>
              </a:defRPr>
            </a:pPr>
            <a:r>
              <a:rPr sz="2325" b="1">
                <a:solidFill>
                  <a:srgbClr val="2D91D5"/>
                </a:solidFill>
              </a:rPr>
              <a:t>NEW CONTENT</a:t>
            </a:r>
          </a:p>
        </p:txBody>
      </p:sp>
      <p:sp>
        <p:nvSpPr>
          <p:cNvPr id="29" name="goal-new-value">
            <a:extLst xmlns:a="http://schemas.openxmlformats.org/drawingml/2006/main">
              <a:ext uri="{FF2B5EF4-FFF2-40B4-BE49-F238E27FC236}">
                <a16:creationId xmlns:a16="http://schemas.microsoft.com/office/drawing/2014/main" id="{657BD60C-C54D-429D-89F2-EC05876B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430375"/>
            <a:ext cx="814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2A3A"/>
                </a:solidFill>
              </a:defRPr>
            </a:pPr>
            <a:r>
              <a:rPr sz="2475" b="0">
                <a:solidFill>
                  <a:srgbClr val="172A3A"/>
                </a:solidFill>
              </a:rPr>
              <a:t>BGE-M3 Semantic RAG</a:t>
            </a:r>
          </a:p>
        </p:txBody>
      </p:sp>
      <p:sp>
        <p:nvSpPr>
          <p:cNvPr id="30" name="goal-complex-dot">
            <a:extLst xmlns:a="http://schemas.openxmlformats.org/drawingml/2006/main">
              <a:ext uri="{FF2B5EF4-FFF2-40B4-BE49-F238E27FC236}">
                <a16:creationId xmlns:a16="http://schemas.microsoft.com/office/drawing/2014/main" id="{3B8D1A66-09E1-4B63-B521-946043D6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5068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52A"/>
          </a:solidFill>
          <a:ln xmlns:a="http://schemas.openxmlformats.org/drawingml/2006/main" w="0">
            <a:solidFill>
              <a:srgbClr val="E9752A"/>
            </a:solidFill>
            <a:prstDash val="solid"/>
          </a:ln>
        </p:spPr>
      </p:sp>
      <p:sp>
        <p:nvSpPr>
          <p:cNvPr id="31" name="goal-complex-label">
            <a:extLst xmlns:a="http://schemas.openxmlformats.org/drawingml/2006/main">
              <a:ext uri="{FF2B5EF4-FFF2-40B4-BE49-F238E27FC236}">
                <a16:creationId xmlns:a16="http://schemas.microsoft.com/office/drawing/2014/main" id="{614830BC-2CA7-45A5-94DE-EA28CDEB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49066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9752A"/>
                </a:solidFill>
              </a:defRPr>
            </a:pPr>
            <a:r>
              <a:rPr sz="2325" b="1">
                <a:solidFill>
                  <a:srgbClr val="E9752A"/>
                </a:solidFill>
              </a:rPr>
              <a:t>COMPLEX TASKS</a:t>
            </a:r>
          </a:p>
        </p:txBody>
      </p:sp>
      <p:sp>
        <p:nvSpPr>
          <p:cNvPr id="32" name="goal-complex-value">
            <a:extLst xmlns:a="http://schemas.openxmlformats.org/drawingml/2006/main">
              <a:ext uri="{FF2B5EF4-FFF2-40B4-BE49-F238E27FC236}">
                <a16:creationId xmlns:a16="http://schemas.microsoft.com/office/drawing/2014/main" id="{257528AB-EC8B-4A1B-8A6E-E346C9C0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906625"/>
            <a:ext cx="814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2A3A"/>
                </a:solidFill>
              </a:defRPr>
            </a:pPr>
            <a:r>
              <a:rPr sz="2475" b="0">
                <a:solidFill>
                  <a:srgbClr val="172A3A"/>
                </a:solidFill>
              </a:rPr>
              <a:t>Gated Typhoon Assist</a:t>
            </a:r>
          </a:p>
        </p:txBody>
      </p:sp>
      <p:sp>
        <p:nvSpPr>
          <p:cNvPr id="33" name="demo-panel">
            <a:extLst xmlns:a="http://schemas.openxmlformats.org/drawingml/2006/main">
              <a:ext uri="{FF2B5EF4-FFF2-40B4-BE49-F238E27FC236}">
                <a16:creationId xmlns:a16="http://schemas.microsoft.com/office/drawing/2014/main" id="{F412574F-214C-4B4B-8D9E-093AE455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9667875"/>
            <a:ext cx="15982950" cy="5715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4" name="demo-accent">
            <a:extLst xmlns:a="http://schemas.openxmlformats.org/drawingml/2006/main">
              <a:ext uri="{FF2B5EF4-FFF2-40B4-BE49-F238E27FC236}">
                <a16:creationId xmlns:a16="http://schemas.microsoft.com/office/drawing/2014/main" id="{24C1DAB0-39C7-45C4-9E36-EFBC2E49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9667875"/>
            <a:ext cx="114300" cy="571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B3"/>
          </a:solidFill>
          <a:ln xmlns:a="http://schemas.openxmlformats.org/drawingml/2006/main" w="0">
            <a:solidFill>
              <a:srgbClr val="176BB3"/>
            </a:solidFill>
            <a:prstDash val="solid"/>
          </a:ln>
        </p:spPr>
      </p:sp>
      <p:sp>
        <p:nvSpPr>
          <p:cNvPr id="35" name="demo-heading">
            <a:extLst xmlns:a="http://schemas.openxmlformats.org/drawingml/2006/main">
              <a:ext uri="{FF2B5EF4-FFF2-40B4-BE49-F238E27FC236}">
                <a16:creationId xmlns:a16="http://schemas.microsoft.com/office/drawing/2014/main" id="{30AFC645-376C-4095-B014-3FF0658C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9858375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A3A"/>
                </a:solidFill>
              </a:defRPr>
            </a:pPr>
            <a:r>
              <a:rPr sz="3750" b="1">
                <a:solidFill>
                  <a:srgbClr val="172A3A"/>
                </a:solidFill>
              </a:rPr>
              <a:t>LIVE DEMO</a:t>
            </a:r>
          </a:p>
        </p:txBody>
      </p:sp>
      <p:sp>
        <p:nvSpPr>
          <p:cNvPr id="36" name="demo-heading-line">
            <a:extLst xmlns:a="http://schemas.openxmlformats.org/drawingml/2006/main">
              <a:ext uri="{FF2B5EF4-FFF2-40B4-BE49-F238E27FC236}">
                <a16:creationId xmlns:a16="http://schemas.microsoft.com/office/drawing/2014/main" id="{EABA7F41-9BED-4268-8384-D14ED413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10420350"/>
            <a:ext cx="4381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B3"/>
          </a:solidFill>
          <a:ln xmlns:a="http://schemas.openxmlformats.org/drawingml/2006/main" w="0">
            <a:solidFill>
              <a:srgbClr val="176BB3"/>
            </a:solidFill>
            <a:prstDash val="solid"/>
          </a:ln>
        </p:spPr>
      </p:sp>
      <p:sp>
        <p:nvSpPr>
          <p:cNvPr id="37" name="demo-image-frame">
            <a:extLst xmlns:a="http://schemas.openxmlformats.org/drawingml/2006/main">
              <a:ext uri="{FF2B5EF4-FFF2-40B4-BE49-F238E27FC236}">
                <a16:creationId xmlns:a16="http://schemas.microsoft.com/office/drawing/2014/main" id="{85677789-C9F4-4102-9BD9-12DB493D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10668000"/>
            <a:ext cx="102870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19050">
            <a:solidFill>
              <a:srgbClr val="C8D4DE"/>
            </a:solidFill>
            <a:prstDash val="solid"/>
          </a:ln>
        </p:spPr>
      </p:sp>
      <p:pic>
        <p:nvPicPr>
          <p:cNvPr id="2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06985e99954f00"/>
          <a:srcRect xmlns:a="http://schemas.openxmlformats.org/drawingml/2006/main" l="0" t="15618" r="0" b="156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763625" y="10763250"/>
            <a:ext cx="10096500" cy="3905250"/>
          </a:xfrm>
          <a:prstGeom xmlns:a="http://schemas.openxmlformats.org/drawingml/2006/main" prst="rect">
            <a:avLst/>
          </a:prstGeom>
        </p:spPr>
      </p:pic>
      <p:sp>
        <p:nvSpPr>
          <p:cNvPr id="39" name="demo-question-label">
            <a:extLst xmlns:a="http://schemas.openxmlformats.org/drawingml/2006/main">
              <a:ext uri="{FF2B5EF4-FFF2-40B4-BE49-F238E27FC236}">
                <a16:creationId xmlns:a16="http://schemas.microsoft.com/office/drawing/2014/main" id="{7E89CBA4-075F-4D52-B0BB-60B97EF0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0" y="106680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BB3"/>
                </a:solidFill>
              </a:defRPr>
            </a:pPr>
            <a:r>
              <a:rPr sz="2400" b="1">
                <a:solidFill>
                  <a:srgbClr val="176BB3"/>
                </a:solidFill>
              </a:rPr>
              <a:t>QUESTION</a:t>
            </a:r>
          </a:p>
        </p:txBody>
      </p:sp>
      <p:sp>
        <p:nvSpPr>
          <p:cNvPr id="40" name="demo-question">
            <a:extLst xmlns:a="http://schemas.openxmlformats.org/drawingml/2006/main">
              <a:ext uri="{FF2B5EF4-FFF2-40B4-BE49-F238E27FC236}">
                <a16:creationId xmlns:a16="http://schemas.microsoft.com/office/drawing/2014/main" id="{B37042F9-57B3-40D2-8C91-711252EF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0" y="11029950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A3A"/>
                </a:solidFill>
              </a:defRPr>
            </a:pPr>
            <a:r>
              <a:rPr sz="2625" b="1">
                <a:solidFill>
                  <a:srgbClr val="172A3A"/>
                </a:solidFill>
              </a:rPr>
              <a:t>เล่น VR มีค่าบริการเท่าไหร่</a:t>
            </a:r>
          </a:p>
        </p:txBody>
      </p:sp>
      <p:sp>
        <p:nvSpPr>
          <p:cNvPr id="41" name="demo-route-label">
            <a:extLst xmlns:a="http://schemas.openxmlformats.org/drawingml/2006/main">
              <a:ext uri="{FF2B5EF4-FFF2-40B4-BE49-F238E27FC236}">
                <a16:creationId xmlns:a16="http://schemas.microsoft.com/office/drawing/2014/main" id="{A2DA47CD-EF73-4346-823A-4B6F55C3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0" y="118110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866F"/>
                </a:solidFill>
              </a:defRPr>
            </a:pPr>
            <a:r>
              <a:rPr sz="2400" b="1">
                <a:solidFill>
                  <a:srgbClr val="12866F"/>
                </a:solidFill>
              </a:rPr>
              <a:t>ROUTE</a:t>
            </a:r>
          </a:p>
        </p:txBody>
      </p:sp>
      <p:sp>
        <p:nvSpPr>
          <p:cNvPr id="42" name="demo-route">
            <a:extLst xmlns:a="http://schemas.openxmlformats.org/drawingml/2006/main">
              <a:ext uri="{FF2B5EF4-FFF2-40B4-BE49-F238E27FC236}">
                <a16:creationId xmlns:a16="http://schemas.microsoft.com/office/drawing/2014/main" id="{D5B7968D-5494-4057-82C8-01CF3235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0" y="12172950"/>
            <a:ext cx="4333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72A3A"/>
                </a:solidFill>
              </a:defRPr>
            </a:pPr>
            <a:r>
              <a:rPr sz="2550" b="0">
                <a:solidFill>
                  <a:srgbClr val="172A3A"/>
                </a:solidFill>
              </a:rPr>
              <a:t>Deterministic calculator</a:t>
            </a:r>
          </a:p>
          <a:p xmlns:a="http://schemas.openxmlformats.org/drawingml/2006/main">
            <a:pPr algn="l">
              <a:defRPr sz="2550" b="0">
                <a:solidFill>
                  <a:srgbClr val="172A3A"/>
                </a:solidFill>
              </a:defRPr>
            </a:pPr>
            <a:r>
              <a:rPr sz="2550" b="0">
                <a:solidFill>
                  <a:srgbClr val="172A3A"/>
                </a:solidFill>
              </a:rPr>
              <a:t>service_fee_query</a:t>
            </a:r>
          </a:p>
        </p:txBody>
      </p:sp>
      <p:sp>
        <p:nvSpPr>
          <p:cNvPr id="43" name="demo-proof-label">
            <a:extLst xmlns:a="http://schemas.openxmlformats.org/drawingml/2006/main">
              <a:ext uri="{FF2B5EF4-FFF2-40B4-BE49-F238E27FC236}">
                <a16:creationId xmlns:a16="http://schemas.microsoft.com/office/drawing/2014/main" id="{6C510279-F278-4CB4-B0DF-98EB94B4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0" y="1309687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9752A"/>
                </a:solidFill>
              </a:defRPr>
            </a:pPr>
            <a:r>
              <a:rPr sz="2400" b="1">
                <a:solidFill>
                  <a:srgbClr val="E9752A"/>
                </a:solidFill>
              </a:rPr>
              <a:t>TRACE</a:t>
            </a:r>
          </a:p>
        </p:txBody>
      </p:sp>
      <p:sp>
        <p:nvSpPr>
          <p:cNvPr id="44" name="demo-proof">
            <a:extLst xmlns:a="http://schemas.openxmlformats.org/drawingml/2006/main">
              <a:ext uri="{FF2B5EF4-FFF2-40B4-BE49-F238E27FC236}">
                <a16:creationId xmlns:a16="http://schemas.microsoft.com/office/drawing/2014/main" id="{8EE40EA2-A589-4405-9B4E-D5B47F5F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0" y="13458825"/>
            <a:ext cx="4333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72A3A"/>
                </a:solidFill>
              </a:defRPr>
            </a:pPr>
            <a:r>
              <a:rPr sz="2550" b="0">
                <a:solidFill>
                  <a:srgbClr val="172A3A"/>
                </a:solidFill>
              </a:rPr>
              <a:t>240 ms latency</a:t>
            </a:r>
          </a:p>
          <a:p xmlns:a="http://schemas.openxmlformats.org/drawingml/2006/main">
            <a:pPr algn="l">
              <a:defRPr sz="2550" b="0">
                <a:solidFill>
                  <a:srgbClr val="172A3A"/>
                </a:solidFill>
              </a:defRPr>
            </a:pPr>
            <a:r>
              <a:rPr sz="2550" b="0">
                <a:solidFill>
                  <a:srgbClr val="172A3A"/>
                </a:solidFill>
              </a:rPr>
              <a:t>0.97 confidence</a:t>
            </a:r>
          </a:p>
          <a:p xmlns:a="http://schemas.openxmlformats.org/drawingml/2006/main">
            <a:pPr algn="l">
              <a:defRPr sz="2550" b="0">
                <a:solidFill>
                  <a:srgbClr val="172A3A"/>
                </a:solidFill>
              </a:defRPr>
            </a:pPr>
            <a:r>
              <a:rPr sz="2550" b="0">
                <a:solidFill>
                  <a:srgbClr val="172A3A"/>
                </a:solidFill>
              </a:rPr>
              <a:t>Verified source attached</a:t>
            </a:r>
          </a:p>
        </p:txBody>
      </p:sp>
      <p:sp>
        <p:nvSpPr>
          <p:cNvPr id="45" name="demo-caption">
            <a:extLst xmlns:a="http://schemas.openxmlformats.org/drawingml/2006/main">
              <a:ext uri="{FF2B5EF4-FFF2-40B4-BE49-F238E27FC236}">
                <a16:creationId xmlns:a16="http://schemas.microsoft.com/office/drawing/2014/main" id="{B5BF703E-0AAE-43EF-B6F8-23AE27AD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14763750"/>
            <a:ext cx="1500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536879"/>
                </a:solidFill>
              </a:defRPr>
            </a:pPr>
            <a:r>
              <a:rPr sz="2475" b="1">
                <a:solidFill>
                  <a:srgbClr val="536879"/>
                </a:solidFill>
              </a:rPr>
              <a:t>Real output from the local website and API; no LLM call was required.</a:t>
            </a:r>
          </a:p>
        </p:txBody>
      </p:sp>
      <p:sp>
        <p:nvSpPr>
          <p:cNvPr id="46" name="curated-architecture-panel">
            <a:extLst xmlns:a="http://schemas.openxmlformats.org/drawingml/2006/main">
              <a:ext uri="{FF2B5EF4-FFF2-40B4-BE49-F238E27FC236}">
                <a16:creationId xmlns:a16="http://schemas.microsoft.com/office/drawing/2014/main" id="{81C54579-83A8-4324-BE70-80844CE7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859125"/>
            <a:ext cx="28270200" cy="7048500"/>
          </a:xfrm>
          <a:prstGeom xmlns:a="http://schemas.openxmlformats.org/drawingml/2006/main" prst="roundRect">
            <a:avLst>
              <a:gd name="adj" fmla="val 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7" name="curated-architecture-accent">
            <a:extLst xmlns:a="http://schemas.openxmlformats.org/drawingml/2006/main">
              <a:ext uri="{FF2B5EF4-FFF2-40B4-BE49-F238E27FC236}">
                <a16:creationId xmlns:a16="http://schemas.microsoft.com/office/drawing/2014/main" id="{2CA1F820-0439-470B-9977-7958009E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859125"/>
            <a:ext cx="114300" cy="704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B3"/>
          </a:solidFill>
          <a:ln xmlns:a="http://schemas.openxmlformats.org/drawingml/2006/main" w="0">
            <a:solidFill>
              <a:srgbClr val="176BB3"/>
            </a:solidFill>
            <a:prstDash val="solid"/>
          </a:ln>
        </p:spPr>
      </p:sp>
      <p:sp>
        <p:nvSpPr>
          <p:cNvPr id="48" name="curated-architecture-heading">
            <a:extLst xmlns:a="http://schemas.openxmlformats.org/drawingml/2006/main">
              <a:ext uri="{FF2B5EF4-FFF2-40B4-BE49-F238E27FC236}">
                <a16:creationId xmlns:a16="http://schemas.microsoft.com/office/drawing/2014/main" id="{AEF090B5-FC72-4169-804F-59491003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049625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A3A"/>
                </a:solidFill>
              </a:defRPr>
            </a:pPr>
            <a:r>
              <a:rPr sz="3750" b="1">
                <a:solidFill>
                  <a:srgbClr val="172A3A"/>
                </a:solidFill>
              </a:rPr>
              <a:t>SYSTEM OVERVIEW</a:t>
            </a:r>
          </a:p>
        </p:txBody>
      </p:sp>
      <p:sp>
        <p:nvSpPr>
          <p:cNvPr id="49" name="curated-architecture-heading-line">
            <a:extLst xmlns:a="http://schemas.openxmlformats.org/drawingml/2006/main">
              <a:ext uri="{FF2B5EF4-FFF2-40B4-BE49-F238E27FC236}">
                <a16:creationId xmlns:a16="http://schemas.microsoft.com/office/drawing/2014/main" id="{CC31C9D5-4018-4463-AA14-E9FE71FF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61160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B3"/>
          </a:solidFill>
          <a:ln xmlns:a="http://schemas.openxmlformats.org/drawingml/2006/main" w="0">
            <a:solidFill>
              <a:srgbClr val="176BB3"/>
            </a:solidFill>
            <a:prstDash val="solid"/>
          </a:ln>
        </p:spPr>
      </p:sp>
      <p:sp>
        <p:nvSpPr>
          <p:cNvPr id="50" name="curated-input-node">
            <a:extLst xmlns:a="http://schemas.openxmlformats.org/drawingml/2006/main">
              <a:ext uri="{FF2B5EF4-FFF2-40B4-BE49-F238E27FC236}">
                <a16:creationId xmlns:a16="http://schemas.microsoft.com/office/drawing/2014/main" id="{D3ACEC76-3E03-413B-96E1-B271FD41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049750"/>
            <a:ext cx="3238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28575">
            <a:solidFill>
              <a:srgbClr val="176BB3"/>
            </a:solidFill>
            <a:prstDash val="solid"/>
          </a:ln>
        </p:spPr>
      </p:sp>
      <p:sp>
        <p:nvSpPr>
          <p:cNvPr id="51" name="curated-input-title">
            <a:extLst xmlns:a="http://schemas.openxmlformats.org/drawingml/2006/main">
              <a:ext uri="{FF2B5EF4-FFF2-40B4-BE49-F238E27FC236}">
                <a16:creationId xmlns:a16="http://schemas.microsoft.com/office/drawing/2014/main" id="{46C37F62-B1CF-4170-9099-DEEBAB42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7221200"/>
            <a:ext cx="289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76BB3"/>
                </a:solidFill>
              </a:defRPr>
            </a:pPr>
            <a:r>
              <a:rPr sz="3225" b="1">
                <a:solidFill>
                  <a:srgbClr val="176BB3"/>
                </a:solidFill>
              </a:rPr>
              <a:t>WEB CHAT</a:t>
            </a:r>
          </a:p>
        </p:txBody>
      </p:sp>
      <p:sp>
        <p:nvSpPr>
          <p:cNvPr id="52" name="curated-input-body">
            <a:extLst xmlns:a="http://schemas.openxmlformats.org/drawingml/2006/main">
              <a:ext uri="{FF2B5EF4-FFF2-40B4-BE49-F238E27FC236}">
                <a16:creationId xmlns:a16="http://schemas.microsoft.com/office/drawing/2014/main" id="{902B9B62-AC32-452C-B74E-7D389D0A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887950"/>
            <a:ext cx="2857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Request ID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Admission control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Session context</a:t>
            </a:r>
          </a:p>
        </p:txBody>
      </p:sp>
      <p:sp>
        <p:nvSpPr>
          <p:cNvPr id="53" name="curated-understand-node">
            <a:extLst xmlns:a="http://schemas.openxmlformats.org/drawingml/2006/main">
              <a:ext uri="{FF2B5EF4-FFF2-40B4-BE49-F238E27FC236}">
                <a16:creationId xmlns:a16="http://schemas.microsoft.com/office/drawing/2014/main" id="{34E0623A-F949-4961-B596-CF6D4551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049750"/>
            <a:ext cx="3238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2EFFF"/>
          </a:solidFill>
          <a:ln xmlns:a="http://schemas.openxmlformats.org/drawingml/2006/main" w="28575">
            <a:solidFill>
              <a:srgbClr val="6858B8"/>
            </a:solidFill>
            <a:prstDash val="solid"/>
          </a:ln>
        </p:spPr>
      </p:sp>
      <p:sp>
        <p:nvSpPr>
          <p:cNvPr id="54" name="curated-understand-title">
            <a:extLst xmlns:a="http://schemas.openxmlformats.org/drawingml/2006/main">
              <a:ext uri="{FF2B5EF4-FFF2-40B4-BE49-F238E27FC236}">
                <a16:creationId xmlns:a16="http://schemas.microsoft.com/office/drawing/2014/main" id="{36FB6CB6-CA70-4478-B8DC-F2C6BFB7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7221200"/>
            <a:ext cx="289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6858B8"/>
                </a:solidFill>
              </a:defRPr>
            </a:pPr>
            <a:r>
              <a:rPr sz="3225" b="1">
                <a:solidFill>
                  <a:srgbClr val="6858B8"/>
                </a:solidFill>
              </a:rPr>
              <a:t>UNDERSTAND</a:t>
            </a:r>
          </a:p>
        </p:txBody>
      </p:sp>
      <p:sp>
        <p:nvSpPr>
          <p:cNvPr id="55" name="curated-understand-body">
            <a:extLst xmlns:a="http://schemas.openxmlformats.org/drawingml/2006/main">
              <a:ext uri="{FF2B5EF4-FFF2-40B4-BE49-F238E27FC236}">
                <a16:creationId xmlns:a16="http://schemas.microsoft.com/office/drawing/2014/main" id="{50B7712C-A3BD-4E00-AB34-5FAE3C80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887950"/>
            <a:ext cx="2857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Resolve references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Intent + target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Ambiguity check</a:t>
            </a:r>
          </a:p>
        </p:txBody>
      </p:sp>
      <p:sp>
        <p:nvSpPr>
          <p:cNvPr id="56" name="curated-route-node">
            <a:extLst xmlns:a="http://schemas.openxmlformats.org/drawingml/2006/main">
              <a:ext uri="{FF2B5EF4-FFF2-40B4-BE49-F238E27FC236}">
                <a16:creationId xmlns:a16="http://schemas.microsoft.com/office/drawing/2014/main" id="{D16341AB-C410-4D9E-9A2F-5F014811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049750"/>
            <a:ext cx="3238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28575">
            <a:solidFill>
              <a:srgbClr val="E9752A"/>
            </a:solidFill>
            <a:prstDash val="solid"/>
          </a:ln>
        </p:spPr>
      </p:sp>
      <p:sp>
        <p:nvSpPr>
          <p:cNvPr id="57" name="curated-route-title">
            <a:extLst xmlns:a="http://schemas.openxmlformats.org/drawingml/2006/main">
              <a:ext uri="{FF2B5EF4-FFF2-40B4-BE49-F238E27FC236}">
                <a16:creationId xmlns:a16="http://schemas.microsoft.com/office/drawing/2014/main" id="{EF25C475-8A7B-450F-99A0-B3FBA221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7221200"/>
            <a:ext cx="289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E9752A"/>
                </a:solidFill>
              </a:defRPr>
            </a:pPr>
            <a:r>
              <a:rPr sz="3225" b="1">
                <a:solidFill>
                  <a:srgbClr val="E9752A"/>
                </a:solidFill>
              </a:rPr>
              <a:t>SELECT ROUTE</a:t>
            </a:r>
          </a:p>
        </p:txBody>
      </p:sp>
      <p:sp>
        <p:nvSpPr>
          <p:cNvPr id="58" name="curated-route-body">
            <a:extLst xmlns:a="http://schemas.openxmlformats.org/drawingml/2006/main">
              <a:ext uri="{FF2B5EF4-FFF2-40B4-BE49-F238E27FC236}">
                <a16:creationId xmlns:a16="http://schemas.microsoft.com/office/drawing/2014/main" id="{3361AEC7-100E-4156-95BB-855C4A26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7887950"/>
            <a:ext cx="2857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Candidate score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Tool conditions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Evidence check</a:t>
            </a:r>
          </a:p>
        </p:txBody>
      </p:sp>
      <p:sp>
        <p:nvSpPr>
          <p:cNvPr id="59" name="curated-execute-node">
            <a:extLst xmlns:a="http://schemas.openxmlformats.org/drawingml/2006/main">
              <a:ext uri="{FF2B5EF4-FFF2-40B4-BE49-F238E27FC236}">
                <a16:creationId xmlns:a16="http://schemas.microsoft.com/office/drawing/2014/main" id="{5A59EABF-7BDE-4049-B279-EA84ADC2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17049750"/>
            <a:ext cx="3238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7F3"/>
          </a:solidFill>
          <a:ln xmlns:a="http://schemas.openxmlformats.org/drawingml/2006/main" w="28575">
            <a:solidFill>
              <a:srgbClr val="12866F"/>
            </a:solidFill>
            <a:prstDash val="solid"/>
          </a:ln>
        </p:spPr>
      </p:sp>
      <p:sp>
        <p:nvSpPr>
          <p:cNvPr id="60" name="curated-execute-title">
            <a:extLst xmlns:a="http://schemas.openxmlformats.org/drawingml/2006/main">
              <a:ext uri="{FF2B5EF4-FFF2-40B4-BE49-F238E27FC236}">
                <a16:creationId xmlns:a16="http://schemas.microsoft.com/office/drawing/2014/main" id="{E243E667-9ADF-4D0C-A095-ABCB4E43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17221200"/>
            <a:ext cx="289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2866F"/>
                </a:solidFill>
              </a:defRPr>
            </a:pPr>
            <a:r>
              <a:rPr sz="3225" b="1">
                <a:solidFill>
                  <a:srgbClr val="12866F"/>
                </a:solidFill>
              </a:rPr>
              <a:t>EXECUTE</a:t>
            </a:r>
          </a:p>
        </p:txBody>
      </p:sp>
      <p:sp>
        <p:nvSpPr>
          <p:cNvPr id="61" name="curated-execute-body">
            <a:extLst xmlns:a="http://schemas.openxmlformats.org/drawingml/2006/main">
              <a:ext uri="{FF2B5EF4-FFF2-40B4-BE49-F238E27FC236}">
                <a16:creationId xmlns:a16="http://schemas.microsoft.com/office/drawing/2014/main" id="{D8F46D1E-B5C7-44B3-A20E-FD3C1E0D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17887950"/>
            <a:ext cx="2857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Fast / Structured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BGE-M3 RAG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Safe Outcome</a:t>
            </a:r>
          </a:p>
        </p:txBody>
      </p:sp>
      <p:sp>
        <p:nvSpPr>
          <p:cNvPr id="62" name="curated-evidence-node">
            <a:extLst xmlns:a="http://schemas.openxmlformats.org/drawingml/2006/main">
              <a:ext uri="{FF2B5EF4-FFF2-40B4-BE49-F238E27FC236}">
                <a16:creationId xmlns:a16="http://schemas.microsoft.com/office/drawing/2014/main" id="{F7F36CFB-5804-4F82-9903-EF9E9E8A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25" y="17049750"/>
            <a:ext cx="3238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7F3"/>
          </a:solidFill>
          <a:ln xmlns:a="http://schemas.openxmlformats.org/drawingml/2006/main" w="28575">
            <a:solidFill>
              <a:srgbClr val="2B9B72"/>
            </a:solidFill>
            <a:prstDash val="solid"/>
          </a:ln>
        </p:spPr>
      </p:sp>
      <p:sp>
        <p:nvSpPr>
          <p:cNvPr id="63" name="curated-evidence-title">
            <a:extLst xmlns:a="http://schemas.openxmlformats.org/drawingml/2006/main">
              <a:ext uri="{FF2B5EF4-FFF2-40B4-BE49-F238E27FC236}">
                <a16:creationId xmlns:a16="http://schemas.microsoft.com/office/drawing/2014/main" id="{339C68CC-5D98-484E-85D0-A7E398DC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3075" y="17221200"/>
            <a:ext cx="289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2B9B72"/>
                </a:solidFill>
              </a:defRPr>
            </a:pPr>
            <a:r>
              <a:rPr sz="3225" b="1">
                <a:solidFill>
                  <a:srgbClr val="2B9B72"/>
                </a:solidFill>
              </a:rPr>
              <a:t>EVIDENCE</a:t>
            </a:r>
          </a:p>
        </p:txBody>
      </p:sp>
      <p:sp>
        <p:nvSpPr>
          <p:cNvPr id="64" name="curated-evidence-body">
            <a:extLst xmlns:a="http://schemas.openxmlformats.org/drawingml/2006/main">
              <a:ext uri="{FF2B5EF4-FFF2-40B4-BE49-F238E27FC236}">
                <a16:creationId xmlns:a16="http://schemas.microsoft.com/office/drawing/2014/main" id="{796DF02A-C0DE-43B6-848F-1C3CCB42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2125" y="17887950"/>
            <a:ext cx="2857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Attach sources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Build factual draft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No new claims</a:t>
            </a:r>
          </a:p>
        </p:txBody>
      </p:sp>
      <p:sp>
        <p:nvSpPr>
          <p:cNvPr id="65" name="curated-llm-node">
            <a:extLst xmlns:a="http://schemas.openxmlformats.org/drawingml/2006/main">
              <a:ext uri="{FF2B5EF4-FFF2-40B4-BE49-F238E27FC236}">
                <a16:creationId xmlns:a16="http://schemas.microsoft.com/office/drawing/2014/main" id="{379E3073-AEFD-42BC-A774-E083DE5B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0" y="17049750"/>
            <a:ext cx="3238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28575">
            <a:solidFill>
              <a:srgbClr val="E9752A"/>
            </a:solidFill>
            <a:prstDash val="solid"/>
          </a:ln>
        </p:spPr>
      </p:sp>
      <p:sp>
        <p:nvSpPr>
          <p:cNvPr id="66" name="curated-llm-title">
            <a:extLst xmlns:a="http://schemas.openxmlformats.org/drawingml/2006/main">
              <a:ext uri="{FF2B5EF4-FFF2-40B4-BE49-F238E27FC236}">
                <a16:creationId xmlns:a16="http://schemas.microsoft.com/office/drawing/2014/main" id="{9FD5FF54-080F-4CBB-BDE4-AB76DCAB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0700" y="17221200"/>
            <a:ext cx="289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E9752A"/>
                </a:solidFill>
              </a:defRPr>
            </a:pPr>
            <a:r>
              <a:rPr sz="3225" b="1">
                <a:solidFill>
                  <a:srgbClr val="E9752A"/>
                </a:solidFill>
              </a:rPr>
              <a:t>TYPHOON</a:t>
            </a:r>
          </a:p>
        </p:txBody>
      </p:sp>
      <p:sp>
        <p:nvSpPr>
          <p:cNvPr id="67" name="curated-llm-body">
            <a:extLst xmlns:a="http://schemas.openxmlformats.org/drawingml/2006/main">
              <a:ext uri="{FF2B5EF4-FFF2-40B4-BE49-F238E27FC236}">
                <a16:creationId xmlns:a16="http://schemas.microsoft.com/office/drawing/2014/main" id="{38A163F9-4D6F-49FF-854D-61B5ABC8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0" y="17887950"/>
            <a:ext cx="2857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Review or plan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Compose if useful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Otherwise bypass</a:t>
            </a:r>
          </a:p>
        </p:txBody>
      </p:sp>
      <p:sp>
        <p:nvSpPr>
          <p:cNvPr id="68" name="curated-validate-node">
            <a:extLst xmlns:a="http://schemas.openxmlformats.org/drawingml/2006/main">
              <a:ext uri="{FF2B5EF4-FFF2-40B4-BE49-F238E27FC236}">
                <a16:creationId xmlns:a16="http://schemas.microsoft.com/office/drawing/2014/main" id="{660124B4-745A-4C36-BF3E-AA07809B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6875" y="17049750"/>
            <a:ext cx="3238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28575">
            <a:solidFill>
              <a:srgbClr val="C94C5F"/>
            </a:solidFill>
            <a:prstDash val="solid"/>
          </a:ln>
        </p:spPr>
      </p:sp>
      <p:sp>
        <p:nvSpPr>
          <p:cNvPr id="69" name="curated-validate-title">
            <a:extLst xmlns:a="http://schemas.openxmlformats.org/drawingml/2006/main">
              <a:ext uri="{FF2B5EF4-FFF2-40B4-BE49-F238E27FC236}">
                <a16:creationId xmlns:a16="http://schemas.microsoft.com/office/drawing/2014/main" id="{38CD5EF6-1689-4FE9-BE91-DB01D581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98325" y="17221200"/>
            <a:ext cx="289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C94C5F"/>
                </a:solidFill>
              </a:defRPr>
            </a:pPr>
            <a:r>
              <a:rPr sz="3225" b="1">
                <a:solidFill>
                  <a:srgbClr val="C94C5F"/>
                </a:solidFill>
              </a:rPr>
              <a:t>FINAL CHECK</a:t>
            </a:r>
          </a:p>
        </p:txBody>
      </p:sp>
      <p:sp>
        <p:nvSpPr>
          <p:cNvPr id="70" name="curated-validate-body">
            <a:extLst xmlns:a="http://schemas.openxmlformats.org/drawingml/2006/main">
              <a:ext uri="{FF2B5EF4-FFF2-40B4-BE49-F238E27FC236}">
                <a16:creationId xmlns:a16="http://schemas.microsoft.com/office/drawing/2014/main" id="{B9F0496D-39D1-4C1D-9797-5CB691AB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7375" y="17887950"/>
            <a:ext cx="2857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Answer Contract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Bounded repair</a:t>
            </a:r>
          </a:p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Hard Veto</a:t>
            </a:r>
          </a:p>
        </p:txBody>
      </p:sp>
      <p:cxnSp>
        <p:nvCxnSpPr>
          <p:cNvPr id="285" name=""/>
          <p:cNvCxnSpPr>
            <a:stCxn xmlns:a="http://schemas.openxmlformats.org/drawingml/2006/main" id="50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4619625" y="183356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536879"/>
            </a:solidFill>
            <a:prstDash val="solid"/>
            <a:tailEnd type="arrow" w="med" len="med"/>
          </a:ln>
        </p:spPr>
      </p:cxnSp>
      <p:cxnSp>
        <p:nvCxnSpPr>
          <p:cNvPr id="286" name=""/>
          <p:cNvCxnSpPr>
            <a:stCxn xmlns:a="http://schemas.openxmlformats.org/drawingml/2006/main" id="53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8477250" y="183356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536879"/>
            </a:solidFill>
            <a:prstDash val="solid"/>
            <a:tailEnd type="arrow" w="med" len="med"/>
          </a:ln>
        </p:spPr>
      </p:cxnSp>
      <p:cxnSp>
        <p:nvCxnSpPr>
          <p:cNvPr id="287" name=""/>
          <p:cNvCxnSpPr>
            <a:stCxn xmlns:a="http://schemas.openxmlformats.org/drawingml/2006/main" id="56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12334875" y="183356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536879"/>
            </a:solidFill>
            <a:prstDash val="solid"/>
            <a:tailEnd type="arrow" w="med" len="med"/>
          </a:ln>
        </p:spPr>
      </p:cxnSp>
      <p:cxnSp>
        <p:nvCxnSpPr>
          <p:cNvPr id="288" name=""/>
          <p:cNvCxnSpPr>
            <a:stCxn xmlns:a="http://schemas.openxmlformats.org/drawingml/2006/main" id="59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16192500" y="183356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536879"/>
            </a:solidFill>
            <a:prstDash val="solid"/>
            <a:tailEnd type="arrow" w="med" len="med"/>
          </a:ln>
        </p:spPr>
      </p:cxnSp>
      <p:cxnSp>
        <p:nvCxnSpPr>
          <p:cNvPr id="289" name=""/>
          <p:cNvCxnSpPr>
            <a:stCxn xmlns:a="http://schemas.openxmlformats.org/drawingml/2006/main" id="62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20050125" y="183356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536879"/>
            </a:solidFill>
            <a:prstDash val="solid"/>
            <a:tailEnd type="arrow" w="med" len="med"/>
          </a:ln>
        </p:spPr>
      </p:cxnSp>
      <p:cxnSp>
        <p:nvCxnSpPr>
          <p:cNvPr id="290" name=""/>
          <p:cNvCxnSpPr>
            <a:stCxn xmlns:a="http://schemas.openxmlformats.org/drawingml/2006/main" id="65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23907750" y="183356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536879"/>
            </a:solidFill>
            <a:prstDash val="solid"/>
            <a:tailEnd type="arrow" w="med" len="med"/>
          </a:ln>
        </p:spPr>
      </p:cxnSp>
      <p:sp>
        <p:nvSpPr>
          <p:cNvPr id="77" name="curated-arch-arrow-0">
            <a:extLst xmlns:a="http://schemas.openxmlformats.org/drawingml/2006/main">
              <a:ext uri="{FF2B5EF4-FFF2-40B4-BE49-F238E27FC236}">
                <a16:creationId xmlns:a16="http://schemas.microsoft.com/office/drawing/2014/main" id="{DF1758DB-FC94-43F9-9816-2526D593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926050"/>
            <a:ext cx="523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0A2A48"/>
                </a:solidFill>
              </a:defRPr>
            </a:pPr>
            <a:r>
              <a:rPr sz="3750" b="1">
                <a:solidFill>
                  <a:srgbClr val="0A2A48"/>
                </a:solidFill>
              </a:rPr>
              <a:t>→</a:t>
            </a:r>
          </a:p>
        </p:txBody>
      </p:sp>
      <p:sp>
        <p:nvSpPr>
          <p:cNvPr id="78" name="curated-arch-arrow-1">
            <a:extLst xmlns:a="http://schemas.openxmlformats.org/drawingml/2006/main">
              <a:ext uri="{FF2B5EF4-FFF2-40B4-BE49-F238E27FC236}">
                <a16:creationId xmlns:a16="http://schemas.microsoft.com/office/drawing/2014/main" id="{1F53AE46-9F22-4335-AE42-0A99177D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926050"/>
            <a:ext cx="523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0A2A48"/>
                </a:solidFill>
              </a:defRPr>
            </a:pPr>
            <a:r>
              <a:rPr sz="3750" b="1">
                <a:solidFill>
                  <a:srgbClr val="0A2A48"/>
                </a:solidFill>
              </a:rPr>
              <a:t>→</a:t>
            </a:r>
          </a:p>
        </p:txBody>
      </p:sp>
      <p:sp>
        <p:nvSpPr>
          <p:cNvPr id="79" name="curated-arch-arrow-2">
            <a:extLst xmlns:a="http://schemas.openxmlformats.org/drawingml/2006/main">
              <a:ext uri="{FF2B5EF4-FFF2-40B4-BE49-F238E27FC236}">
                <a16:creationId xmlns:a16="http://schemas.microsoft.com/office/drawing/2014/main" id="{FA579A4C-5A66-4D83-8164-783AC99F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7926050"/>
            <a:ext cx="523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0A2A48"/>
                </a:solidFill>
              </a:defRPr>
            </a:pPr>
            <a:r>
              <a:rPr sz="3750" b="1">
                <a:solidFill>
                  <a:srgbClr val="0A2A48"/>
                </a:solidFill>
              </a:rPr>
              <a:t>→</a:t>
            </a:r>
          </a:p>
        </p:txBody>
      </p:sp>
      <p:sp>
        <p:nvSpPr>
          <p:cNvPr id="80" name="curated-arch-arrow-3">
            <a:extLst xmlns:a="http://schemas.openxmlformats.org/drawingml/2006/main">
              <a:ext uri="{FF2B5EF4-FFF2-40B4-BE49-F238E27FC236}">
                <a16:creationId xmlns:a16="http://schemas.microsoft.com/office/drawing/2014/main" id="{BC9E388B-B217-40F7-AE40-462371E2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25" y="17926050"/>
            <a:ext cx="523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0A2A48"/>
                </a:solidFill>
              </a:defRPr>
            </a:pPr>
            <a:r>
              <a:rPr sz="3750" b="1">
                <a:solidFill>
                  <a:srgbClr val="0A2A48"/>
                </a:solidFill>
              </a:rPr>
              <a:t>→</a:t>
            </a:r>
          </a:p>
        </p:txBody>
      </p:sp>
      <p:sp>
        <p:nvSpPr>
          <p:cNvPr id="81" name="curated-arch-arrow-4">
            <a:extLst xmlns:a="http://schemas.openxmlformats.org/drawingml/2006/main">
              <a:ext uri="{FF2B5EF4-FFF2-40B4-BE49-F238E27FC236}">
                <a16:creationId xmlns:a16="http://schemas.microsoft.com/office/drawing/2014/main" id="{2E7A4AEC-A9DC-4A3A-B268-AB9905DC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0" y="17926050"/>
            <a:ext cx="523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0A2A48"/>
                </a:solidFill>
              </a:defRPr>
            </a:pPr>
            <a:r>
              <a:rPr sz="3750" b="1">
                <a:solidFill>
                  <a:srgbClr val="0A2A48"/>
                </a:solidFill>
              </a:rPr>
              <a:t>→</a:t>
            </a:r>
          </a:p>
        </p:txBody>
      </p:sp>
      <p:sp>
        <p:nvSpPr>
          <p:cNvPr id="82" name="curated-arch-arrow-5">
            <a:extLst xmlns:a="http://schemas.openxmlformats.org/drawingml/2006/main">
              <a:ext uri="{FF2B5EF4-FFF2-40B4-BE49-F238E27FC236}">
                <a16:creationId xmlns:a16="http://schemas.microsoft.com/office/drawing/2014/main" id="{AC513F67-1F4C-43B1-9BCF-E606045E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5375" y="17926050"/>
            <a:ext cx="523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0A2A48"/>
                </a:solidFill>
              </a:defRPr>
            </a:pPr>
            <a:r>
              <a:rPr sz="3750" b="1">
                <a:solidFill>
                  <a:srgbClr val="0A2A48"/>
                </a:solidFill>
              </a:rPr>
              <a:t>→</a:t>
            </a:r>
          </a:p>
        </p:txBody>
      </p:sp>
      <p:sp>
        <p:nvSpPr>
          <p:cNvPr id="83" name="route-card-0">
            <a:extLst xmlns:a="http://schemas.openxmlformats.org/drawingml/2006/main">
              <a:ext uri="{FF2B5EF4-FFF2-40B4-BE49-F238E27FC236}">
                <a16:creationId xmlns:a16="http://schemas.microsoft.com/office/drawing/2014/main" id="{C3C54229-AC17-492F-AE60-EBF00E58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002500"/>
            <a:ext cx="8429625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7F3"/>
          </a:solidFill>
          <a:ln xmlns:a="http://schemas.openxmlformats.org/drawingml/2006/main" w="19050">
            <a:solidFill>
              <a:srgbClr val="12866F"/>
            </a:solidFill>
            <a:prstDash val="solid"/>
          </a:ln>
        </p:spPr>
      </p:sp>
      <p:sp>
        <p:nvSpPr>
          <p:cNvPr id="84" name="route-card-title-0">
            <a:extLst xmlns:a="http://schemas.openxmlformats.org/drawingml/2006/main">
              <a:ext uri="{FF2B5EF4-FFF2-40B4-BE49-F238E27FC236}">
                <a16:creationId xmlns:a16="http://schemas.microsoft.com/office/drawing/2014/main" id="{5FC52418-E6C1-48FA-9D5E-BF5C0372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145375"/>
            <a:ext cx="7953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2866F"/>
                </a:solidFill>
              </a:defRPr>
            </a:pPr>
            <a:r>
              <a:rPr sz="2925" b="1">
                <a:solidFill>
                  <a:srgbClr val="12866F"/>
                </a:solidFill>
              </a:rPr>
              <a:t>FAST + STRUCTURED</a:t>
            </a:r>
          </a:p>
        </p:txBody>
      </p:sp>
      <p:sp>
        <p:nvSpPr>
          <p:cNvPr id="85" name="route-card-body-0">
            <a:extLst xmlns:a="http://schemas.openxmlformats.org/drawingml/2006/main">
              <a:ext uri="{FF2B5EF4-FFF2-40B4-BE49-F238E27FC236}">
                <a16:creationId xmlns:a16="http://schemas.microsoft.com/office/drawing/2014/main" id="{EDB55F5C-CDF6-405D-8D55-1FF4BC94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669250"/>
            <a:ext cx="7762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Exact games, prices, zones and opening hours. No LLM queue.</a:t>
            </a:r>
          </a:p>
        </p:txBody>
      </p:sp>
      <p:sp>
        <p:nvSpPr>
          <p:cNvPr id="86" name="route-card-1">
            <a:extLst xmlns:a="http://schemas.openxmlformats.org/drawingml/2006/main">
              <a:ext uri="{FF2B5EF4-FFF2-40B4-BE49-F238E27FC236}">
                <a16:creationId xmlns:a16="http://schemas.microsoft.com/office/drawing/2014/main" id="{1EE5B1A1-76BB-4EDF-B4B6-13937515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0002500"/>
            <a:ext cx="8429625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9050">
            <a:solidFill>
              <a:srgbClr val="2D91D5"/>
            </a:solidFill>
            <a:prstDash val="solid"/>
          </a:ln>
        </p:spPr>
      </p:sp>
      <p:sp>
        <p:nvSpPr>
          <p:cNvPr id="87" name="route-card-title-1">
            <a:extLst xmlns:a="http://schemas.openxmlformats.org/drawingml/2006/main">
              <a:ext uri="{FF2B5EF4-FFF2-40B4-BE49-F238E27FC236}">
                <a16:creationId xmlns:a16="http://schemas.microsoft.com/office/drawing/2014/main" id="{D6D96F51-8335-4AFD-B5E9-5B34BC73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0145375"/>
            <a:ext cx="7953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2D91D5"/>
                </a:solidFill>
              </a:defRPr>
            </a:pPr>
            <a:r>
              <a:rPr sz="2925" b="1">
                <a:solidFill>
                  <a:srgbClr val="2D91D5"/>
                </a:solidFill>
              </a:rPr>
              <a:t>BGE-M3 SEMANTIC RAG</a:t>
            </a:r>
          </a:p>
        </p:txBody>
      </p:sp>
      <p:sp>
        <p:nvSpPr>
          <p:cNvPr id="88" name="route-card-body-1">
            <a:extLst xmlns:a="http://schemas.openxmlformats.org/drawingml/2006/main">
              <a:ext uri="{FF2B5EF4-FFF2-40B4-BE49-F238E27FC236}">
                <a16:creationId xmlns:a16="http://schemas.microsoft.com/office/drawing/2014/main" id="{E1EB040D-2FE5-473B-91AA-03298F38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0669250"/>
            <a:ext cx="7762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Rules, documents, news and newly added knowledge.</a:t>
            </a:r>
          </a:p>
        </p:txBody>
      </p:sp>
      <p:sp>
        <p:nvSpPr>
          <p:cNvPr id="89" name="route-card-2">
            <a:extLst xmlns:a="http://schemas.openxmlformats.org/drawingml/2006/main">
              <a:ext uri="{FF2B5EF4-FFF2-40B4-BE49-F238E27FC236}">
                <a16:creationId xmlns:a16="http://schemas.microsoft.com/office/drawing/2014/main" id="{87BA3D1F-A89F-499E-A0AA-61AB3E11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9125" y="20002500"/>
            <a:ext cx="8429625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19050">
            <a:solidFill>
              <a:srgbClr val="C94C5F"/>
            </a:solidFill>
            <a:prstDash val="solid"/>
          </a:ln>
        </p:spPr>
      </p:sp>
      <p:sp>
        <p:nvSpPr>
          <p:cNvPr id="90" name="route-card-title-2">
            <a:extLst xmlns:a="http://schemas.openxmlformats.org/drawingml/2006/main">
              <a:ext uri="{FF2B5EF4-FFF2-40B4-BE49-F238E27FC236}">
                <a16:creationId xmlns:a16="http://schemas.microsoft.com/office/drawing/2014/main" id="{4EC23066-F04E-40D6-9E47-71FB05AE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0" y="20145375"/>
            <a:ext cx="7953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C94C5F"/>
                </a:solidFill>
              </a:defRPr>
            </a:pPr>
            <a:r>
              <a:rPr sz="2925" b="1">
                <a:solidFill>
                  <a:srgbClr val="C94C5F"/>
                </a:solidFill>
              </a:rPr>
              <a:t>SAFE OUTCOME</a:t>
            </a:r>
          </a:p>
        </p:txBody>
      </p:sp>
      <p:sp>
        <p:nvSpPr>
          <p:cNvPr id="91" name="route-card-body-2">
            <a:extLst xmlns:a="http://schemas.openxmlformats.org/drawingml/2006/main">
              <a:ext uri="{FF2B5EF4-FFF2-40B4-BE49-F238E27FC236}">
                <a16:creationId xmlns:a16="http://schemas.microsoft.com/office/drawing/2014/main" id="{4464ABB0-C34B-4FEF-A0C9-88489460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0" y="20669250"/>
            <a:ext cx="7762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72A3A"/>
                </a:solidFill>
              </a:defRPr>
            </a:pPr>
            <a:r>
              <a:rPr sz="2625" b="0">
                <a:solidFill>
                  <a:srgbClr val="172A3A"/>
                </a:solidFill>
              </a:rPr>
              <a:t>Clarification or no-answer when evidence is insufficient.</a:t>
            </a:r>
          </a:p>
        </p:txBody>
      </p:sp>
      <p:sp>
        <p:nvSpPr>
          <p:cNvPr id="92" name="curated-method-panel">
            <a:extLst xmlns:a="http://schemas.openxmlformats.org/drawingml/2006/main">
              <a:ext uri="{FF2B5EF4-FFF2-40B4-BE49-F238E27FC236}">
                <a16:creationId xmlns:a16="http://schemas.microsoft.com/office/drawing/2014/main" id="{020C5B0B-0E6E-4AC0-9E47-06FD0659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83875"/>
            <a:ext cx="28270200" cy="9048750"/>
          </a:xfrm>
          <a:prstGeom xmlns:a="http://schemas.openxmlformats.org/drawingml/2006/main" prst="roundRect">
            <a:avLst>
              <a:gd name="adj" fmla="val 1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3" name="curated-method-accent">
            <a:extLst xmlns:a="http://schemas.openxmlformats.org/drawingml/2006/main">
              <a:ext uri="{FF2B5EF4-FFF2-40B4-BE49-F238E27FC236}">
                <a16:creationId xmlns:a16="http://schemas.microsoft.com/office/drawing/2014/main" id="{3234B044-BA82-4D69-A1D8-74AF6EF8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83875"/>
            <a:ext cx="114300" cy="904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536"/>
          </a:solidFill>
          <a:ln xmlns:a="http://schemas.openxmlformats.org/drawingml/2006/main" w="0">
            <a:solidFill>
              <a:srgbClr val="D5A536"/>
            </a:solidFill>
            <a:prstDash val="solid"/>
          </a:ln>
        </p:spPr>
      </p:sp>
      <p:sp>
        <p:nvSpPr>
          <p:cNvPr id="94" name="curated-method-heading">
            <a:extLst xmlns:a="http://schemas.openxmlformats.org/drawingml/2006/main">
              <a:ext uri="{FF2B5EF4-FFF2-40B4-BE49-F238E27FC236}">
                <a16:creationId xmlns:a16="http://schemas.microsoft.com/office/drawing/2014/main" id="{D0F54DA8-948D-4047-A4C0-7974730E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574375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A3A"/>
                </a:solidFill>
              </a:defRPr>
            </a:pPr>
            <a:r>
              <a:rPr sz="3750" b="1">
                <a:solidFill>
                  <a:srgbClr val="172A3A"/>
                </a:solidFill>
              </a:rPr>
              <a:t>METHODOLOGY</a:t>
            </a:r>
          </a:p>
        </p:txBody>
      </p:sp>
      <p:sp>
        <p:nvSpPr>
          <p:cNvPr id="95" name="curated-method-heading-line">
            <a:extLst xmlns:a="http://schemas.openxmlformats.org/drawingml/2006/main">
              <a:ext uri="{FF2B5EF4-FFF2-40B4-BE49-F238E27FC236}">
                <a16:creationId xmlns:a16="http://schemas.microsoft.com/office/drawing/2014/main" id="{140EC940-8DF4-4829-89A4-765EFF6A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13635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536"/>
          </a:solidFill>
          <a:ln xmlns:a="http://schemas.openxmlformats.org/drawingml/2006/main" w="0">
            <a:solidFill>
              <a:srgbClr val="D5A536"/>
            </a:solidFill>
            <a:prstDash val="solid"/>
          </a:ln>
        </p:spPr>
      </p:sp>
      <p:sp>
        <p:nvSpPr>
          <p:cNvPr id="96" name="curated-method-separator-0">
            <a:extLst xmlns:a="http://schemas.openxmlformats.org/drawingml/2006/main">
              <a:ext uri="{FF2B5EF4-FFF2-40B4-BE49-F238E27FC236}">
                <a16:creationId xmlns:a16="http://schemas.microsoft.com/office/drawing/2014/main" id="{CC203CC5-D3EB-430C-B846-35387EAB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479250"/>
            <a:ext cx="38100" cy="623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DE"/>
          </a:solidFill>
          <a:ln xmlns:a="http://schemas.openxmlformats.org/drawingml/2006/main" w="0">
            <a:solidFill>
              <a:srgbClr val="C8D4DE"/>
            </a:solidFill>
            <a:prstDash val="solid"/>
          </a:ln>
        </p:spPr>
      </p:sp>
      <p:sp>
        <p:nvSpPr>
          <p:cNvPr id="97" name="curated-method-separator-1">
            <a:extLst xmlns:a="http://schemas.openxmlformats.org/drawingml/2006/main">
              <a:ext uri="{FF2B5EF4-FFF2-40B4-BE49-F238E27FC236}">
                <a16:creationId xmlns:a16="http://schemas.microsoft.com/office/drawing/2014/main" id="{E1457758-94AF-4C53-9E63-0721E6B2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24479250"/>
            <a:ext cx="38100" cy="623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DE"/>
          </a:solidFill>
          <a:ln xmlns:a="http://schemas.openxmlformats.org/drawingml/2006/main" w="0">
            <a:solidFill>
              <a:srgbClr val="C8D4DE"/>
            </a:solidFill>
            <a:prstDash val="solid"/>
          </a:ln>
        </p:spPr>
      </p:sp>
      <p:sp>
        <p:nvSpPr>
          <p:cNvPr id="98" name="curated-method-separator-2">
            <a:extLst xmlns:a="http://schemas.openxmlformats.org/drawingml/2006/main">
              <a:ext uri="{FF2B5EF4-FFF2-40B4-BE49-F238E27FC236}">
                <a16:creationId xmlns:a16="http://schemas.microsoft.com/office/drawing/2014/main" id="{7F0B0EFF-739F-4ABE-A682-101BF4E1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24479250"/>
            <a:ext cx="38100" cy="623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DE"/>
          </a:solidFill>
          <a:ln xmlns:a="http://schemas.openxmlformats.org/drawingml/2006/main" w="0">
            <a:solidFill>
              <a:srgbClr val="C8D4DE"/>
            </a:solidFill>
            <a:prstDash val="solid"/>
          </a:ln>
        </p:spPr>
      </p:sp>
      <p:sp>
        <p:nvSpPr>
          <p:cNvPr id="99" name="curated-fast-eyebrow">
            <a:extLst xmlns:a="http://schemas.openxmlformats.org/drawingml/2006/main">
              <a:ext uri="{FF2B5EF4-FFF2-40B4-BE49-F238E27FC236}">
                <a16:creationId xmlns:a16="http://schemas.microsoft.com/office/drawing/2014/main" id="{F3827E43-35F7-4D61-8C46-128B52C5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57450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2866F"/>
                </a:solidFill>
              </a:defRPr>
            </a:pPr>
            <a:r>
              <a:rPr sz="2700" b="1">
                <a:solidFill>
                  <a:srgbClr val="12866F"/>
                </a:solidFill>
              </a:rPr>
              <a:t>DETERMINISTIC BACKBONE</a:t>
            </a:r>
          </a:p>
        </p:txBody>
      </p:sp>
      <p:sp>
        <p:nvSpPr>
          <p:cNvPr id="100" name="curated-fast-title">
            <a:extLst xmlns:a="http://schemas.openxmlformats.org/drawingml/2006/main">
              <a:ext uri="{FF2B5EF4-FFF2-40B4-BE49-F238E27FC236}">
                <a16:creationId xmlns:a16="http://schemas.microsoft.com/office/drawing/2014/main" id="{07B98D47-E34E-4391-BEB6-51683E65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050750"/>
            <a:ext cx="647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0A2A48"/>
                </a:solidFill>
              </a:defRPr>
            </a:pPr>
            <a:r>
              <a:rPr sz="3750" b="1">
                <a:solidFill>
                  <a:srgbClr val="0A2A48"/>
                </a:solidFill>
              </a:rPr>
              <a:t>FAST + STRUCTURED</a:t>
            </a:r>
          </a:p>
        </p:txBody>
      </p:sp>
      <p:sp>
        <p:nvSpPr>
          <p:cNvPr id="101" name="curated-fast-body">
            <a:extLst xmlns:a="http://schemas.openxmlformats.org/drawingml/2006/main">
              <a:ext uri="{FF2B5EF4-FFF2-40B4-BE49-F238E27FC236}">
                <a16:creationId xmlns:a16="http://schemas.microsoft.com/office/drawing/2014/main" id="{46AFADBE-C1F0-47CB-BFB7-EE0DC765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5888950"/>
            <a:ext cx="61722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2A3A"/>
                </a:solidFill>
              </a:defRPr>
            </a:pPr>
            <a:r>
              <a:rPr sz="2775" b="0">
                <a:solidFill>
                  <a:srgbClr val="172A3A"/>
                </a:solidFill>
              </a:rPr>
              <a:t>Aliases, rules and structured tools return exact operational facts and deterministic calculations.</a:t>
            </a:r>
          </a:p>
        </p:txBody>
      </p:sp>
      <p:sp>
        <p:nvSpPr>
          <p:cNvPr id="102" name="curated-fast-mini-0">
            <a:extLst xmlns:a="http://schemas.openxmlformats.org/drawingml/2006/main">
              <a:ext uri="{FF2B5EF4-FFF2-40B4-BE49-F238E27FC236}">
                <a16:creationId xmlns:a16="http://schemas.microsoft.com/office/drawing/2014/main" id="{EB3168F9-1D23-48C5-970C-43B43436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8098750"/>
            <a:ext cx="1955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7F3"/>
          </a:solidFill>
          <a:ln xmlns:a="http://schemas.openxmlformats.org/drawingml/2006/main" w="19050">
            <a:solidFill>
              <a:srgbClr val="12866F"/>
            </a:solidFill>
            <a:prstDash val="solid"/>
          </a:ln>
        </p:spPr>
      </p:sp>
      <p:sp>
        <p:nvSpPr>
          <p:cNvPr id="103" name="curated-fast-mini-text-0">
            <a:extLst xmlns:a="http://schemas.openxmlformats.org/drawingml/2006/main">
              <a:ext uri="{FF2B5EF4-FFF2-40B4-BE49-F238E27FC236}">
                <a16:creationId xmlns:a16="http://schemas.microsoft.com/office/drawing/2014/main" id="{E5345769-6966-45D1-AC84-1A3A7553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184475"/>
            <a:ext cx="1803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A3A"/>
                </a:solidFill>
              </a:defRPr>
            </a:pPr>
            <a:r>
              <a:rPr sz="2400" b="1">
                <a:solidFill>
                  <a:srgbClr val="172A3A"/>
                </a:solidFill>
              </a:rPr>
              <a:t>Intent</a:t>
            </a:r>
          </a:p>
        </p:txBody>
      </p:sp>
      <p:sp>
        <p:nvSpPr>
          <p:cNvPr id="104" name="curated-fast-mini-1">
            <a:extLst xmlns:a="http://schemas.openxmlformats.org/drawingml/2006/main">
              <a:ext uri="{FF2B5EF4-FFF2-40B4-BE49-F238E27FC236}">
                <a16:creationId xmlns:a16="http://schemas.microsoft.com/office/drawing/2014/main" id="{2A1D2346-8683-410E-B3CF-CA0B38C5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725" y="28098750"/>
            <a:ext cx="1955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7F3"/>
          </a:solidFill>
          <a:ln xmlns:a="http://schemas.openxmlformats.org/drawingml/2006/main" w="19050">
            <a:solidFill>
              <a:srgbClr val="12866F"/>
            </a:solidFill>
            <a:prstDash val="solid"/>
          </a:ln>
        </p:spPr>
      </p:sp>
      <p:sp>
        <p:nvSpPr>
          <p:cNvPr id="105" name="curated-fast-mini-text-1">
            <a:extLst xmlns:a="http://schemas.openxmlformats.org/drawingml/2006/main">
              <a:ext uri="{FF2B5EF4-FFF2-40B4-BE49-F238E27FC236}">
                <a16:creationId xmlns:a16="http://schemas.microsoft.com/office/drawing/2014/main" id="{C08543B4-552E-46ED-9A6F-0F908CB1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7925" y="28184475"/>
            <a:ext cx="1803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A3A"/>
                </a:solidFill>
              </a:defRPr>
            </a:pPr>
            <a:r>
              <a:rPr sz="2400" b="1">
                <a:solidFill>
                  <a:srgbClr val="172A3A"/>
                </a:solidFill>
              </a:rPr>
              <a:t>Exact record</a:t>
            </a:r>
          </a:p>
        </p:txBody>
      </p:sp>
      <p:sp>
        <p:nvSpPr>
          <p:cNvPr id="106" name="curated-fast-mini-2">
            <a:extLst xmlns:a="http://schemas.openxmlformats.org/drawingml/2006/main">
              <a:ext uri="{FF2B5EF4-FFF2-40B4-BE49-F238E27FC236}">
                <a16:creationId xmlns:a16="http://schemas.microsoft.com/office/drawing/2014/main" id="{46605CC3-35B5-4DA3-A7F6-9E95C1B9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025" y="28098750"/>
            <a:ext cx="1955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7F3"/>
          </a:solidFill>
          <a:ln xmlns:a="http://schemas.openxmlformats.org/drawingml/2006/main" w="19050">
            <a:solidFill>
              <a:srgbClr val="12866F"/>
            </a:solidFill>
            <a:prstDash val="solid"/>
          </a:ln>
        </p:spPr>
      </p:sp>
      <p:sp>
        <p:nvSpPr>
          <p:cNvPr id="107" name="curated-fast-mini-text-2">
            <a:extLst xmlns:a="http://schemas.openxmlformats.org/drawingml/2006/main">
              <a:ext uri="{FF2B5EF4-FFF2-40B4-BE49-F238E27FC236}">
                <a16:creationId xmlns:a16="http://schemas.microsoft.com/office/drawing/2014/main" id="{27ECD3B5-E387-4939-9AAD-EE18ADB1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4225" y="28184475"/>
            <a:ext cx="1803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A3A"/>
                </a:solidFill>
              </a:defRPr>
            </a:pPr>
            <a:r>
              <a:rPr sz="2400" b="1">
                <a:solidFill>
                  <a:srgbClr val="172A3A"/>
                </a:solidFill>
              </a:rPr>
              <a:t>Draft</a:t>
            </a:r>
          </a:p>
        </p:txBody>
      </p:sp>
      <p:cxnSp>
        <p:nvCxnSpPr>
          <p:cNvPr id="322" name=""/>
          <p:cNvCxnSpPr>
            <a:stCxn xmlns:a="http://schemas.openxmlformats.org/drawingml/2006/main" id="102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3451225" y="28536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2866F"/>
            </a:solidFill>
            <a:prstDash val="solid"/>
            <a:tailEnd type="arrow" w="med" len="med"/>
          </a:ln>
        </p:spPr>
      </p:cxnSp>
      <p:cxnSp>
        <p:nvCxnSpPr>
          <p:cNvPr id="323" name=""/>
          <p:cNvCxnSpPr>
            <a:stCxn xmlns:a="http://schemas.openxmlformats.org/drawingml/2006/main" id="104" idx="3"/>
            <a:endCxn xmlns:a="http://schemas.openxmlformats.org/drawingml/2006/main" id="106" idx="1"/>
          </p:cNvCxnSpPr>
          <p:nvPr/>
        </p:nvCxnSpPr>
        <p:spPr>
          <a:xfrm xmlns:a="http://schemas.openxmlformats.org/drawingml/2006/main">
            <a:off x="5597525" y="28536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2866F"/>
            </a:solidFill>
            <a:prstDash val="solid"/>
            <a:tailEnd type="arrow" w="med" len="med"/>
          </a:ln>
        </p:spPr>
      </p:cxnSp>
      <p:sp>
        <p:nvSpPr>
          <p:cNvPr id="110" name="curated-fast-footer-box">
            <a:extLst xmlns:a="http://schemas.openxmlformats.org/drawingml/2006/main">
              <a:ext uri="{FF2B5EF4-FFF2-40B4-BE49-F238E27FC236}">
                <a16:creationId xmlns:a16="http://schemas.microsoft.com/office/drawing/2014/main" id="{13CEF637-6A52-4920-A6D6-8D512C54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337000"/>
            <a:ext cx="6286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7F3"/>
          </a:solidFill>
          <a:ln xmlns:a="http://schemas.openxmlformats.org/drawingml/2006/main" w="19050">
            <a:solidFill>
              <a:srgbClr val="12866F"/>
            </a:solidFill>
            <a:prstDash val="solid"/>
          </a:ln>
        </p:spPr>
      </p:sp>
      <p:sp>
        <p:nvSpPr>
          <p:cNvPr id="111" name="curated-fast-footer">
            <a:extLst xmlns:a="http://schemas.openxmlformats.org/drawingml/2006/main">
              <a:ext uri="{FF2B5EF4-FFF2-40B4-BE49-F238E27FC236}">
                <a16:creationId xmlns:a16="http://schemas.microsoft.com/office/drawing/2014/main" id="{1C219228-55E1-476E-83DE-0108E402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9432250"/>
            <a:ext cx="605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2866F"/>
                </a:solidFill>
              </a:defRPr>
            </a:pPr>
            <a:r>
              <a:rPr sz="2475" b="1">
                <a:solidFill>
                  <a:srgbClr val="12866F"/>
                </a:solidFill>
              </a:rPr>
              <a:t>0 LLM CALLS  |  NO QUEUE</a:t>
            </a:r>
          </a:p>
        </p:txBody>
      </p:sp>
      <p:sp>
        <p:nvSpPr>
          <p:cNvPr id="112" name="curated-rag-eyebrow">
            <a:extLst xmlns:a="http://schemas.openxmlformats.org/drawingml/2006/main">
              <a:ext uri="{FF2B5EF4-FFF2-40B4-BE49-F238E27FC236}">
                <a16:creationId xmlns:a16="http://schemas.microsoft.com/office/drawing/2014/main" id="{80BAE353-6C33-43BF-B89B-B0BA7C66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57450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D91D5"/>
                </a:solidFill>
              </a:defRPr>
            </a:pPr>
            <a:r>
              <a:rPr sz="2700" b="1">
                <a:solidFill>
                  <a:srgbClr val="2D91D5"/>
                </a:solidFill>
              </a:rPr>
              <a:t>SEMANTIC RETRIEVAL</a:t>
            </a:r>
          </a:p>
        </p:txBody>
      </p:sp>
      <p:sp>
        <p:nvSpPr>
          <p:cNvPr id="113" name="curated-rag-title">
            <a:extLst xmlns:a="http://schemas.openxmlformats.org/drawingml/2006/main">
              <a:ext uri="{FF2B5EF4-FFF2-40B4-BE49-F238E27FC236}">
                <a16:creationId xmlns:a16="http://schemas.microsoft.com/office/drawing/2014/main" id="{A9F54617-8551-499E-BD1F-51231330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050750"/>
            <a:ext cx="647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0A2A48"/>
                </a:solidFill>
              </a:defRPr>
            </a:pPr>
            <a:r>
              <a:rPr sz="3750" b="1">
                <a:solidFill>
                  <a:srgbClr val="0A2A48"/>
                </a:solidFill>
              </a:rPr>
              <a:t>BGE-M3</a:t>
            </a:r>
          </a:p>
        </p:txBody>
      </p:sp>
      <p:sp>
        <p:nvSpPr>
          <p:cNvPr id="114" name="curated-rag-body">
            <a:extLst xmlns:a="http://schemas.openxmlformats.org/drawingml/2006/main">
              <a:ext uri="{FF2B5EF4-FFF2-40B4-BE49-F238E27FC236}">
                <a16:creationId xmlns:a16="http://schemas.microsoft.com/office/drawing/2014/main" id="{06B0A290-BC1A-4C05-8E93-F36B9968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5888950"/>
            <a:ext cx="61722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2A3A"/>
                </a:solidFill>
              </a:defRPr>
            </a:pPr>
            <a:r>
              <a:rPr sz="2775" b="0">
                <a:solidFill>
                  <a:srgbClr val="172A3A"/>
                </a:solidFill>
              </a:rPr>
              <a:t>Embeds long or newly added content, retrieves relevant evidence and optionally reranks candidates.</a:t>
            </a:r>
          </a:p>
        </p:txBody>
      </p:sp>
      <p:sp>
        <p:nvSpPr>
          <p:cNvPr id="115" name="curated-rag-mini-0">
            <a:extLst xmlns:a="http://schemas.openxmlformats.org/drawingml/2006/main">
              <a:ext uri="{FF2B5EF4-FFF2-40B4-BE49-F238E27FC236}">
                <a16:creationId xmlns:a16="http://schemas.microsoft.com/office/drawing/2014/main" id="{1E9CED7A-D229-4CB9-983C-44D426F1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8098750"/>
            <a:ext cx="1955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9050">
            <a:solidFill>
              <a:srgbClr val="2D91D5"/>
            </a:solidFill>
            <a:prstDash val="solid"/>
          </a:ln>
        </p:spPr>
      </p:sp>
      <p:sp>
        <p:nvSpPr>
          <p:cNvPr id="116" name="curated-rag-mini-text-0">
            <a:extLst xmlns:a="http://schemas.openxmlformats.org/drawingml/2006/main">
              <a:ext uri="{FF2B5EF4-FFF2-40B4-BE49-F238E27FC236}">
                <a16:creationId xmlns:a16="http://schemas.microsoft.com/office/drawing/2014/main" id="{69C38E61-3963-45FE-BC3F-4F364BC4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184475"/>
            <a:ext cx="1803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A3A"/>
                </a:solidFill>
              </a:defRPr>
            </a:pPr>
            <a:r>
              <a:rPr sz="2400" b="1">
                <a:solidFill>
                  <a:srgbClr val="172A3A"/>
                </a:solidFill>
              </a:rPr>
              <a:t>Query</a:t>
            </a:r>
          </a:p>
        </p:txBody>
      </p:sp>
      <p:sp>
        <p:nvSpPr>
          <p:cNvPr id="117" name="curated-rag-mini-1">
            <a:extLst xmlns:a="http://schemas.openxmlformats.org/drawingml/2006/main">
              <a:ext uri="{FF2B5EF4-FFF2-40B4-BE49-F238E27FC236}">
                <a16:creationId xmlns:a16="http://schemas.microsoft.com/office/drawing/2014/main" id="{5256B057-3A63-4687-9716-B236A746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4975" y="28098750"/>
            <a:ext cx="1955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9050">
            <a:solidFill>
              <a:srgbClr val="2D91D5"/>
            </a:solidFill>
            <a:prstDash val="solid"/>
          </a:ln>
        </p:spPr>
      </p:sp>
      <p:sp>
        <p:nvSpPr>
          <p:cNvPr id="118" name="curated-rag-mini-text-1">
            <a:extLst xmlns:a="http://schemas.openxmlformats.org/drawingml/2006/main">
              <a:ext uri="{FF2B5EF4-FFF2-40B4-BE49-F238E27FC236}">
                <a16:creationId xmlns:a16="http://schemas.microsoft.com/office/drawing/2014/main" id="{88CC8A21-B4A0-492F-A1D7-F7FAD514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175" y="28184475"/>
            <a:ext cx="1803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A3A"/>
                </a:solidFill>
              </a:defRPr>
            </a:pPr>
            <a:r>
              <a:rPr sz="2400" b="1">
                <a:solidFill>
                  <a:srgbClr val="172A3A"/>
                </a:solidFill>
              </a:rPr>
              <a:t>BGE-M3</a:t>
            </a:r>
          </a:p>
        </p:txBody>
      </p:sp>
      <p:sp>
        <p:nvSpPr>
          <p:cNvPr id="119" name="curated-rag-mini-2">
            <a:extLst xmlns:a="http://schemas.openxmlformats.org/drawingml/2006/main">
              <a:ext uri="{FF2B5EF4-FFF2-40B4-BE49-F238E27FC236}">
                <a16:creationId xmlns:a16="http://schemas.microsoft.com/office/drawing/2014/main" id="{E0B288D7-7B7E-498E-A514-29F6C963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1275" y="28098750"/>
            <a:ext cx="1955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9050">
            <a:solidFill>
              <a:srgbClr val="2D91D5"/>
            </a:solidFill>
            <a:prstDash val="solid"/>
          </a:ln>
        </p:spPr>
      </p:sp>
      <p:sp>
        <p:nvSpPr>
          <p:cNvPr id="120" name="curated-rag-mini-text-2">
            <a:extLst xmlns:a="http://schemas.openxmlformats.org/drawingml/2006/main">
              <a:ext uri="{FF2B5EF4-FFF2-40B4-BE49-F238E27FC236}">
                <a16:creationId xmlns:a16="http://schemas.microsoft.com/office/drawing/2014/main" id="{D2FDA126-3122-4A80-8D89-E365C318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7475" y="28184475"/>
            <a:ext cx="1803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A3A"/>
                </a:solidFill>
              </a:defRPr>
            </a:pPr>
            <a:r>
              <a:rPr sz="2400" b="1">
                <a:solidFill>
                  <a:srgbClr val="172A3A"/>
                </a:solidFill>
              </a:rPr>
              <a:t>Evidence</a:t>
            </a:r>
          </a:p>
        </p:txBody>
      </p:sp>
      <p:cxnSp>
        <p:nvCxnSpPr>
          <p:cNvPr id="335" name=""/>
          <p:cNvCxnSpPr>
            <a:stCxn xmlns:a="http://schemas.openxmlformats.org/drawingml/2006/main" id="115" idx="3"/>
            <a:endCxn xmlns:a="http://schemas.openxmlformats.org/drawingml/2006/main" id="117" idx="1"/>
          </p:cNvCxnSpPr>
          <p:nvPr/>
        </p:nvCxnSpPr>
        <p:spPr>
          <a:xfrm xmlns:a="http://schemas.openxmlformats.org/drawingml/2006/main">
            <a:off x="10404475" y="28536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D91D5"/>
            </a:solidFill>
            <a:prstDash val="solid"/>
            <a:tailEnd type="arrow" w="med" len="med"/>
          </a:ln>
        </p:spPr>
      </p:cxnSp>
      <p:cxnSp>
        <p:nvCxnSpPr>
          <p:cNvPr id="336" name=""/>
          <p:cNvCxnSpPr>
            <a:stCxn xmlns:a="http://schemas.openxmlformats.org/drawingml/2006/main" id="117" idx="3"/>
            <a:endCxn xmlns:a="http://schemas.openxmlformats.org/drawingml/2006/main" id="119" idx="1"/>
          </p:cNvCxnSpPr>
          <p:nvPr/>
        </p:nvCxnSpPr>
        <p:spPr>
          <a:xfrm xmlns:a="http://schemas.openxmlformats.org/drawingml/2006/main">
            <a:off x="12550775" y="28536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D91D5"/>
            </a:solidFill>
            <a:prstDash val="solid"/>
            <a:tailEnd type="arrow" w="med" len="med"/>
          </a:ln>
        </p:spPr>
      </p:cxnSp>
      <p:sp>
        <p:nvSpPr>
          <p:cNvPr id="123" name="curated-rag-footer-box">
            <a:extLst xmlns:a="http://schemas.openxmlformats.org/drawingml/2006/main">
              <a:ext uri="{FF2B5EF4-FFF2-40B4-BE49-F238E27FC236}">
                <a16:creationId xmlns:a16="http://schemas.microsoft.com/office/drawing/2014/main" id="{7C701A3D-0FEA-49DA-B8A2-CC6B09B8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337000"/>
            <a:ext cx="6286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9050">
            <a:solidFill>
              <a:srgbClr val="2D91D5"/>
            </a:solidFill>
            <a:prstDash val="solid"/>
          </a:ln>
        </p:spPr>
      </p:sp>
      <p:sp>
        <p:nvSpPr>
          <p:cNvPr id="124" name="curated-rag-footer">
            <a:extLst xmlns:a="http://schemas.openxmlformats.org/drawingml/2006/main">
              <a:ext uri="{FF2B5EF4-FFF2-40B4-BE49-F238E27FC236}">
                <a16:creationId xmlns:a16="http://schemas.microsoft.com/office/drawing/2014/main" id="{D300CD52-0CBE-4196-9EF7-F98E161D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9432250"/>
            <a:ext cx="605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2D91D5"/>
                </a:solidFill>
              </a:defRPr>
            </a:pPr>
            <a:r>
              <a:rPr sz="2475" b="1">
                <a:solidFill>
                  <a:srgbClr val="2D91D5"/>
                </a:solidFill>
              </a:rPr>
              <a:t>EMBEDDING  |  OPTIONAL RERANK</a:t>
            </a:r>
          </a:p>
        </p:txBody>
      </p:sp>
      <p:sp>
        <p:nvSpPr>
          <p:cNvPr id="125" name="curated-typhoon-eyebrow">
            <a:extLst xmlns:a="http://schemas.openxmlformats.org/drawingml/2006/main">
              <a:ext uri="{FF2B5EF4-FFF2-40B4-BE49-F238E27FC236}">
                <a16:creationId xmlns:a16="http://schemas.microsoft.com/office/drawing/2014/main" id="{E56D95BF-0E42-4229-8EC0-3B239087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625" y="2457450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E9752A"/>
                </a:solidFill>
              </a:defRPr>
            </a:pPr>
            <a:r>
              <a:rPr sz="2700" b="1">
                <a:solidFill>
                  <a:srgbClr val="E9752A"/>
                </a:solidFill>
              </a:rPr>
              <a:t>GATED LOCAL LLM</a:t>
            </a:r>
          </a:p>
        </p:txBody>
      </p:sp>
      <p:sp>
        <p:nvSpPr>
          <p:cNvPr id="126" name="curated-typhoon-title">
            <a:extLst xmlns:a="http://schemas.openxmlformats.org/drawingml/2006/main">
              <a:ext uri="{FF2B5EF4-FFF2-40B4-BE49-F238E27FC236}">
                <a16:creationId xmlns:a16="http://schemas.microsoft.com/office/drawing/2014/main" id="{A73A6586-9350-4648-989E-47819EFC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625" y="25050750"/>
            <a:ext cx="647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0A2A48"/>
                </a:solidFill>
              </a:defRPr>
            </a:pPr>
            <a:r>
              <a:rPr sz="3750" b="1">
                <a:solidFill>
                  <a:srgbClr val="0A2A48"/>
                </a:solidFill>
              </a:rPr>
              <a:t>TYPHOON2.5 QWEN3 4B</a:t>
            </a:r>
          </a:p>
        </p:txBody>
      </p:sp>
      <p:sp>
        <p:nvSpPr>
          <p:cNvPr id="127" name="curated-typhoon-body">
            <a:extLst xmlns:a="http://schemas.openxmlformats.org/drawingml/2006/main">
              <a:ext uri="{FF2B5EF4-FFF2-40B4-BE49-F238E27FC236}">
                <a16:creationId xmlns:a16="http://schemas.microsoft.com/office/drawing/2014/main" id="{84B363C6-7459-488B-92F7-0878A0F2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0025" y="25888950"/>
            <a:ext cx="61722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2A3A"/>
                </a:solidFill>
              </a:defRPr>
            </a:pPr>
            <a:r>
              <a:rPr sz="2775" b="0">
                <a:solidFill>
                  <a:srgbClr val="172A3A"/>
                </a:solidFill>
              </a:rPr>
              <a:t>Reviews intent, plans dependent questions and composes from verified evidence only.</a:t>
            </a:r>
          </a:p>
        </p:txBody>
      </p:sp>
      <p:sp>
        <p:nvSpPr>
          <p:cNvPr id="128" name="curated-typhoon-mini-0">
            <a:extLst xmlns:a="http://schemas.openxmlformats.org/drawingml/2006/main">
              <a:ext uri="{FF2B5EF4-FFF2-40B4-BE49-F238E27FC236}">
                <a16:creationId xmlns:a16="http://schemas.microsoft.com/office/drawing/2014/main" id="{4C1F81EE-9405-494F-A6CC-A554CF1D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1925" y="28098750"/>
            <a:ext cx="1955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9050">
            <a:solidFill>
              <a:srgbClr val="E9752A"/>
            </a:solidFill>
            <a:prstDash val="solid"/>
          </a:ln>
        </p:spPr>
      </p:sp>
      <p:sp>
        <p:nvSpPr>
          <p:cNvPr id="129" name="curated-typhoon-mini-text-0">
            <a:extLst xmlns:a="http://schemas.openxmlformats.org/drawingml/2006/main">
              <a:ext uri="{FF2B5EF4-FFF2-40B4-BE49-F238E27FC236}">
                <a16:creationId xmlns:a16="http://schemas.microsoft.com/office/drawing/2014/main" id="{59711A5C-1A8D-421F-B61D-CDFE00F1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125" y="28184475"/>
            <a:ext cx="1803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A3A"/>
                </a:solidFill>
              </a:defRPr>
            </a:pPr>
            <a:r>
              <a:rPr sz="2400" b="1">
                <a:solidFill>
                  <a:srgbClr val="172A3A"/>
                </a:solidFill>
              </a:rPr>
              <a:t>Evidence</a:t>
            </a:r>
          </a:p>
        </p:txBody>
      </p:sp>
      <p:sp>
        <p:nvSpPr>
          <p:cNvPr id="130" name="curated-typhoon-mini-1">
            <a:extLst xmlns:a="http://schemas.openxmlformats.org/drawingml/2006/main">
              <a:ext uri="{FF2B5EF4-FFF2-40B4-BE49-F238E27FC236}">
                <a16:creationId xmlns:a16="http://schemas.microsoft.com/office/drawing/2014/main" id="{8F894B6A-598C-4835-830F-389F3129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48225" y="28098750"/>
            <a:ext cx="1955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9050">
            <a:solidFill>
              <a:srgbClr val="E9752A"/>
            </a:solidFill>
            <a:prstDash val="solid"/>
          </a:ln>
        </p:spPr>
      </p:sp>
      <p:sp>
        <p:nvSpPr>
          <p:cNvPr id="131" name="curated-typhoon-mini-text-1">
            <a:extLst xmlns:a="http://schemas.openxmlformats.org/drawingml/2006/main">
              <a:ext uri="{FF2B5EF4-FFF2-40B4-BE49-F238E27FC236}">
                <a16:creationId xmlns:a16="http://schemas.microsoft.com/office/drawing/2014/main" id="{7C50D616-20F0-4C4A-A800-A0E9E79B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4425" y="28184475"/>
            <a:ext cx="1803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A3A"/>
                </a:solidFill>
              </a:defRPr>
            </a:pPr>
            <a:r>
              <a:rPr sz="2400" b="1">
                <a:solidFill>
                  <a:srgbClr val="172A3A"/>
                </a:solidFill>
              </a:rPr>
              <a:t>Typhoon</a:t>
            </a:r>
          </a:p>
        </p:txBody>
      </p:sp>
      <p:sp>
        <p:nvSpPr>
          <p:cNvPr id="132" name="curated-typhoon-mini-2">
            <a:extLst xmlns:a="http://schemas.openxmlformats.org/drawingml/2006/main">
              <a:ext uri="{FF2B5EF4-FFF2-40B4-BE49-F238E27FC236}">
                <a16:creationId xmlns:a16="http://schemas.microsoft.com/office/drawing/2014/main" id="{80D14FDC-30AA-4224-9B7C-E837EC98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4525" y="28098750"/>
            <a:ext cx="1955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9050">
            <a:solidFill>
              <a:srgbClr val="E9752A"/>
            </a:solidFill>
            <a:prstDash val="solid"/>
          </a:ln>
        </p:spPr>
      </p:sp>
      <p:sp>
        <p:nvSpPr>
          <p:cNvPr id="133" name="curated-typhoon-mini-text-2">
            <a:extLst xmlns:a="http://schemas.openxmlformats.org/drawingml/2006/main">
              <a:ext uri="{FF2B5EF4-FFF2-40B4-BE49-F238E27FC236}">
                <a16:creationId xmlns:a16="http://schemas.microsoft.com/office/drawing/2014/main" id="{B9E3387C-BB52-4345-AC8A-085138AA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0725" y="28184475"/>
            <a:ext cx="1803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A3A"/>
                </a:solidFill>
              </a:defRPr>
            </a:pPr>
            <a:r>
              <a:rPr sz="2400" b="1">
                <a:solidFill>
                  <a:srgbClr val="172A3A"/>
                </a:solidFill>
              </a:rPr>
              <a:t>Draft</a:t>
            </a:r>
          </a:p>
        </p:txBody>
      </p:sp>
      <p:cxnSp>
        <p:nvCxnSpPr>
          <p:cNvPr id="348" name=""/>
          <p:cNvCxnSpPr>
            <a:stCxn xmlns:a="http://schemas.openxmlformats.org/drawingml/2006/main" id="128" idx="3"/>
            <a:endCxn xmlns:a="http://schemas.openxmlformats.org/drawingml/2006/main" id="130" idx="1"/>
          </p:cNvCxnSpPr>
          <p:nvPr/>
        </p:nvCxnSpPr>
        <p:spPr>
          <a:xfrm xmlns:a="http://schemas.openxmlformats.org/drawingml/2006/main">
            <a:off x="17357725" y="28536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9752A"/>
            </a:solidFill>
            <a:prstDash val="solid"/>
            <a:tailEnd type="arrow" w="med" len="med"/>
          </a:ln>
        </p:spPr>
      </p:cxnSp>
      <p:cxnSp>
        <p:nvCxnSpPr>
          <p:cNvPr id="349" name=""/>
          <p:cNvCxnSpPr>
            <a:stCxn xmlns:a="http://schemas.openxmlformats.org/drawingml/2006/main" id="130" idx="3"/>
            <a:endCxn xmlns:a="http://schemas.openxmlformats.org/drawingml/2006/main" id="132" idx="1"/>
          </p:cNvCxnSpPr>
          <p:nvPr/>
        </p:nvCxnSpPr>
        <p:spPr>
          <a:xfrm xmlns:a="http://schemas.openxmlformats.org/drawingml/2006/main">
            <a:off x="19504025" y="28536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9752A"/>
            </a:solidFill>
            <a:prstDash val="solid"/>
            <a:tailEnd type="arrow" w="med" len="med"/>
          </a:ln>
        </p:spPr>
      </p:cxnSp>
      <p:sp>
        <p:nvSpPr>
          <p:cNvPr id="136" name="curated-typhoon-footer-box">
            <a:extLst xmlns:a="http://schemas.openxmlformats.org/drawingml/2006/main">
              <a:ext uri="{FF2B5EF4-FFF2-40B4-BE49-F238E27FC236}">
                <a16:creationId xmlns:a16="http://schemas.microsoft.com/office/drawing/2014/main" id="{DC2A1EA4-7578-4E61-8DE5-113351BA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29337000"/>
            <a:ext cx="6286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9050">
            <a:solidFill>
              <a:srgbClr val="E9752A"/>
            </a:solidFill>
            <a:prstDash val="solid"/>
          </a:ln>
        </p:spPr>
      </p:sp>
      <p:sp>
        <p:nvSpPr>
          <p:cNvPr id="137" name="curated-typhoon-footer">
            <a:extLst xmlns:a="http://schemas.openxmlformats.org/drawingml/2006/main">
              <a:ext uri="{FF2B5EF4-FFF2-40B4-BE49-F238E27FC236}">
                <a16:creationId xmlns:a16="http://schemas.microsoft.com/office/drawing/2014/main" id="{52D896AA-2FE2-4E10-9B97-00B59912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7175" y="29432250"/>
            <a:ext cx="605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E9752A"/>
                </a:solidFill>
              </a:defRPr>
            </a:pPr>
            <a:r>
              <a:rPr sz="2475" b="1">
                <a:solidFill>
                  <a:srgbClr val="E9752A"/>
                </a:solidFill>
              </a:rPr>
              <a:t>MAX 2 CALLS  |  CONCURRENCY 1</a:t>
            </a:r>
          </a:p>
        </p:txBody>
      </p:sp>
      <p:sp>
        <p:nvSpPr>
          <p:cNvPr id="138" name="curated-safety-eyebrow">
            <a:extLst xmlns:a="http://schemas.openxmlformats.org/drawingml/2006/main">
              <a:ext uri="{FF2B5EF4-FFF2-40B4-BE49-F238E27FC236}">
                <a16:creationId xmlns:a16="http://schemas.microsoft.com/office/drawing/2014/main" id="{DA206CB7-8505-44F1-A943-D25F7BCF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0875" y="2457450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C94C5F"/>
                </a:solidFill>
              </a:defRPr>
            </a:pPr>
            <a:r>
              <a:rPr sz="2700" b="1">
                <a:solidFill>
                  <a:srgbClr val="C94C5F"/>
                </a:solidFill>
              </a:rPr>
              <a:t>ANSWER SAFETY</a:t>
            </a:r>
          </a:p>
        </p:txBody>
      </p:sp>
      <p:sp>
        <p:nvSpPr>
          <p:cNvPr id="139" name="curated-safety-title">
            <a:extLst xmlns:a="http://schemas.openxmlformats.org/drawingml/2006/main">
              <a:ext uri="{FF2B5EF4-FFF2-40B4-BE49-F238E27FC236}">
                <a16:creationId xmlns:a16="http://schemas.microsoft.com/office/drawing/2014/main" id="{52040A69-3255-4B66-88E7-2DB8AC35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0875" y="25050750"/>
            <a:ext cx="647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0A2A48"/>
                </a:solidFill>
              </a:defRPr>
            </a:pPr>
            <a:r>
              <a:rPr sz="3750" b="1">
                <a:solidFill>
                  <a:srgbClr val="0A2A48"/>
                </a:solidFill>
              </a:rPr>
              <a:t>GUARDS + CONTRACT</a:t>
            </a:r>
          </a:p>
        </p:txBody>
      </p:sp>
      <p:sp>
        <p:nvSpPr>
          <p:cNvPr id="140" name="curated-safety-body">
            <a:extLst xmlns:a="http://schemas.openxmlformats.org/drawingml/2006/main">
              <a:ext uri="{FF2B5EF4-FFF2-40B4-BE49-F238E27FC236}">
                <a16:creationId xmlns:a16="http://schemas.microsoft.com/office/drawing/2014/main" id="{50E007E3-C7AD-4328-9462-B94E9A42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93275" y="25888950"/>
            <a:ext cx="61722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2A3A"/>
                </a:solidFill>
              </a:defRPr>
            </a:pPr>
            <a:r>
              <a:rPr sz="2775" b="0">
                <a:solidFill>
                  <a:srgbClr val="172A3A"/>
                </a:solidFill>
              </a:rPr>
              <a:t>Boundary, Ambiguity and Source checks precede Answer Contract, bounded repair and Final Hard Veto.</a:t>
            </a:r>
          </a:p>
        </p:txBody>
      </p:sp>
      <p:sp>
        <p:nvSpPr>
          <p:cNvPr id="141" name="curated-safety-mini-0">
            <a:extLst xmlns:a="http://schemas.openxmlformats.org/drawingml/2006/main">
              <a:ext uri="{FF2B5EF4-FFF2-40B4-BE49-F238E27FC236}">
                <a16:creationId xmlns:a16="http://schemas.microsoft.com/office/drawing/2014/main" id="{CA8524E4-4E14-4FB3-83A4-0F65FFA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175" y="28098750"/>
            <a:ext cx="1955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19050">
            <a:solidFill>
              <a:srgbClr val="C94C5F"/>
            </a:solidFill>
            <a:prstDash val="solid"/>
          </a:ln>
        </p:spPr>
      </p:sp>
      <p:sp>
        <p:nvSpPr>
          <p:cNvPr id="142" name="curated-safety-mini-text-0">
            <a:extLst xmlns:a="http://schemas.openxmlformats.org/drawingml/2006/main">
              <a:ext uri="{FF2B5EF4-FFF2-40B4-BE49-F238E27FC236}">
                <a16:creationId xmlns:a16="http://schemas.microsoft.com/office/drawing/2014/main" id="{4B75C4B6-F980-4A8C-9DAB-11090B9C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1375" y="28184475"/>
            <a:ext cx="1803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A3A"/>
                </a:solidFill>
              </a:defRPr>
            </a:pPr>
            <a:r>
              <a:rPr sz="2400" b="1">
                <a:solidFill>
                  <a:srgbClr val="172A3A"/>
                </a:solidFill>
              </a:rPr>
              <a:t>Check</a:t>
            </a:r>
          </a:p>
        </p:txBody>
      </p:sp>
      <p:sp>
        <p:nvSpPr>
          <p:cNvPr id="143" name="curated-safety-mini-1">
            <a:extLst xmlns:a="http://schemas.openxmlformats.org/drawingml/2006/main">
              <a:ext uri="{FF2B5EF4-FFF2-40B4-BE49-F238E27FC236}">
                <a16:creationId xmlns:a16="http://schemas.microsoft.com/office/drawing/2014/main" id="{3B45F055-F08E-43FB-B4AC-78D6E77E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1475" y="28098750"/>
            <a:ext cx="1955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19050">
            <a:solidFill>
              <a:srgbClr val="C94C5F"/>
            </a:solidFill>
            <a:prstDash val="solid"/>
          </a:ln>
        </p:spPr>
      </p:sp>
      <p:sp>
        <p:nvSpPr>
          <p:cNvPr id="144" name="curated-safety-mini-text-1">
            <a:extLst xmlns:a="http://schemas.openxmlformats.org/drawingml/2006/main">
              <a:ext uri="{FF2B5EF4-FFF2-40B4-BE49-F238E27FC236}">
                <a16:creationId xmlns:a16="http://schemas.microsoft.com/office/drawing/2014/main" id="{940D1E13-4D91-4007-A541-0AECD2FB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7675" y="28184475"/>
            <a:ext cx="1803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A3A"/>
                </a:solidFill>
              </a:defRPr>
            </a:pPr>
            <a:r>
              <a:rPr sz="2400" b="1">
                <a:solidFill>
                  <a:srgbClr val="172A3A"/>
                </a:solidFill>
              </a:rPr>
              <a:t>Repair</a:t>
            </a:r>
          </a:p>
        </p:txBody>
      </p:sp>
      <p:sp>
        <p:nvSpPr>
          <p:cNvPr id="145" name="curated-safety-mini-2">
            <a:extLst xmlns:a="http://schemas.openxmlformats.org/drawingml/2006/main">
              <a:ext uri="{FF2B5EF4-FFF2-40B4-BE49-F238E27FC236}">
                <a16:creationId xmlns:a16="http://schemas.microsoft.com/office/drawing/2014/main" id="{E7ACC0B1-F53A-4EA5-BABE-4DCAF18F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7775" y="28098750"/>
            <a:ext cx="1955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19050">
            <a:solidFill>
              <a:srgbClr val="C94C5F"/>
            </a:solidFill>
            <a:prstDash val="solid"/>
          </a:ln>
        </p:spPr>
      </p:sp>
      <p:sp>
        <p:nvSpPr>
          <p:cNvPr id="146" name="curated-safety-mini-text-2">
            <a:extLst xmlns:a="http://schemas.openxmlformats.org/drawingml/2006/main">
              <a:ext uri="{FF2B5EF4-FFF2-40B4-BE49-F238E27FC236}">
                <a16:creationId xmlns:a16="http://schemas.microsoft.com/office/drawing/2014/main" id="{6CF5B4AE-EB0A-4792-8860-F1F77607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3975" y="28184475"/>
            <a:ext cx="1803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A3A"/>
                </a:solidFill>
              </a:defRPr>
            </a:pPr>
            <a:r>
              <a:rPr sz="2400" b="1">
                <a:solidFill>
                  <a:srgbClr val="172A3A"/>
                </a:solidFill>
              </a:rPr>
              <a:t>Veto</a:t>
            </a:r>
          </a:p>
        </p:txBody>
      </p:sp>
      <p:cxnSp>
        <p:nvCxnSpPr>
          <p:cNvPr id="361" name=""/>
          <p:cNvCxnSpPr>
            <a:stCxn xmlns:a="http://schemas.openxmlformats.org/drawingml/2006/main" id="141" idx="3"/>
            <a:endCxn xmlns:a="http://schemas.openxmlformats.org/drawingml/2006/main" id="143" idx="1"/>
          </p:cNvCxnSpPr>
          <p:nvPr/>
        </p:nvCxnSpPr>
        <p:spPr>
          <a:xfrm xmlns:a="http://schemas.openxmlformats.org/drawingml/2006/main">
            <a:off x="24310975" y="28536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94C5F"/>
            </a:solidFill>
            <a:prstDash val="solid"/>
            <a:tailEnd type="arrow" w="med" len="med"/>
          </a:ln>
        </p:spPr>
      </p:cxnSp>
      <p:cxnSp>
        <p:nvCxnSpPr>
          <p:cNvPr id="362" name=""/>
          <p:cNvCxnSpPr>
            <a:stCxn xmlns:a="http://schemas.openxmlformats.org/drawingml/2006/main" id="143" idx="3"/>
            <a:endCxn xmlns:a="http://schemas.openxmlformats.org/drawingml/2006/main" id="145" idx="1"/>
          </p:cNvCxnSpPr>
          <p:nvPr/>
        </p:nvCxnSpPr>
        <p:spPr>
          <a:xfrm xmlns:a="http://schemas.openxmlformats.org/drawingml/2006/main">
            <a:off x="26457275" y="28536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94C5F"/>
            </a:solidFill>
            <a:prstDash val="solid"/>
            <a:tailEnd type="arrow" w="med" len="med"/>
          </a:ln>
        </p:spPr>
      </p:cxnSp>
      <p:sp>
        <p:nvSpPr>
          <p:cNvPr id="149" name="curated-safety-footer-box">
            <a:extLst xmlns:a="http://schemas.openxmlformats.org/drawingml/2006/main">
              <a:ext uri="{FF2B5EF4-FFF2-40B4-BE49-F238E27FC236}">
                <a16:creationId xmlns:a16="http://schemas.microsoft.com/office/drawing/2014/main" id="{D8585C6C-8242-43A8-8D2C-D21B98BF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25" y="29337000"/>
            <a:ext cx="6286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19050">
            <a:solidFill>
              <a:srgbClr val="C94C5F"/>
            </a:solidFill>
            <a:prstDash val="solid"/>
          </a:ln>
        </p:spPr>
      </p:sp>
      <p:sp>
        <p:nvSpPr>
          <p:cNvPr id="150" name="curated-safety-footer">
            <a:extLst xmlns:a="http://schemas.openxmlformats.org/drawingml/2006/main">
              <a:ext uri="{FF2B5EF4-FFF2-40B4-BE49-F238E27FC236}">
                <a16:creationId xmlns:a16="http://schemas.microsoft.com/office/drawing/2014/main" id="{2D106E27-2D9F-41B8-9F13-F23A437F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50425" y="29432250"/>
            <a:ext cx="605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C94C5F"/>
                </a:solidFill>
              </a:defRPr>
            </a:pPr>
            <a:r>
              <a:rPr sz="2475" b="1">
                <a:solidFill>
                  <a:srgbClr val="C94C5F"/>
                </a:solidFill>
              </a:rPr>
              <a:t>CLARIFY OR NO-ANSWER</a:t>
            </a:r>
          </a:p>
        </p:txBody>
      </p:sp>
      <p:sp>
        <p:nvSpPr>
          <p:cNvPr id="151" name="shared-controls">
            <a:extLst xmlns:a="http://schemas.openxmlformats.org/drawingml/2006/main">
              <a:ext uri="{FF2B5EF4-FFF2-40B4-BE49-F238E27FC236}">
                <a16:creationId xmlns:a16="http://schemas.microsoft.com/office/drawing/2014/main" id="{C0A6C513-C6F8-419B-A539-B2B18312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003875"/>
            <a:ext cx="2747962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19050">
            <a:solidFill>
              <a:srgbClr val="C8D4DE"/>
            </a:solidFill>
            <a:prstDash val="solid"/>
          </a:ln>
        </p:spPr>
      </p:sp>
      <p:sp>
        <p:nvSpPr>
          <p:cNvPr id="152" name="shared-controls-text">
            <a:extLst xmlns:a="http://schemas.openxmlformats.org/drawingml/2006/main">
              <a:ext uri="{FF2B5EF4-FFF2-40B4-BE49-F238E27FC236}">
                <a16:creationId xmlns:a16="http://schemas.microsoft.com/office/drawing/2014/main" id="{D321305E-93A0-4E1C-A209-DF8FFE41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1118175"/>
            <a:ext cx="2690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A2A48"/>
                </a:solidFill>
              </a:defRPr>
            </a:pPr>
            <a:r>
              <a:rPr sz="2700" b="1">
                <a:solidFill>
                  <a:srgbClr val="0A2A48"/>
                </a:solidFill>
              </a:rPr>
              <a:t>SHARED CONTROLS   Global deadline  |  Session context  |  Source trace  |  Max 2 LLM calls  |  Final answer in Thai</a:t>
            </a:r>
          </a:p>
        </p:txBody>
      </p:sp>
      <p:sp>
        <p:nvSpPr>
          <p:cNvPr id="153" name="curated-results-panel">
            <a:extLst xmlns:a="http://schemas.openxmlformats.org/drawingml/2006/main">
              <a:ext uri="{FF2B5EF4-FFF2-40B4-BE49-F238E27FC236}">
                <a16:creationId xmlns:a16="http://schemas.microsoft.com/office/drawing/2014/main" id="{BDA59AAD-F0D5-4027-AC12-969EE4AD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004125"/>
            <a:ext cx="9334500" cy="6429375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4" name="curated-results-accent">
            <a:extLst xmlns:a="http://schemas.openxmlformats.org/drawingml/2006/main">
              <a:ext uri="{FF2B5EF4-FFF2-40B4-BE49-F238E27FC236}">
                <a16:creationId xmlns:a16="http://schemas.microsoft.com/office/drawing/2014/main" id="{34D6F442-8D1A-4A97-9972-C5850EDC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004125"/>
            <a:ext cx="114300" cy="642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6F"/>
          </a:solidFill>
          <a:ln xmlns:a="http://schemas.openxmlformats.org/drawingml/2006/main" w="0">
            <a:solidFill>
              <a:srgbClr val="12866F"/>
            </a:solidFill>
            <a:prstDash val="solid"/>
          </a:ln>
        </p:spPr>
      </p:sp>
      <p:sp>
        <p:nvSpPr>
          <p:cNvPr id="155" name="curated-results-heading">
            <a:extLst xmlns:a="http://schemas.openxmlformats.org/drawingml/2006/main">
              <a:ext uri="{FF2B5EF4-FFF2-40B4-BE49-F238E27FC236}">
                <a16:creationId xmlns:a16="http://schemas.microsoft.com/office/drawing/2014/main" id="{ACD58DA9-5B78-442C-84B3-5DFA781C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194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A3A"/>
                </a:solidFill>
              </a:defRPr>
            </a:pPr>
            <a:r>
              <a:rPr sz="3750" b="1">
                <a:solidFill>
                  <a:srgbClr val="172A3A"/>
                </a:solidFill>
              </a:rPr>
              <a:t>RESULTS</a:t>
            </a:r>
          </a:p>
        </p:txBody>
      </p:sp>
      <p:sp>
        <p:nvSpPr>
          <p:cNvPr id="156" name="curated-results-heading-line">
            <a:extLst xmlns:a="http://schemas.openxmlformats.org/drawingml/2006/main">
              <a:ext uri="{FF2B5EF4-FFF2-40B4-BE49-F238E27FC236}">
                <a16:creationId xmlns:a16="http://schemas.microsoft.com/office/drawing/2014/main" id="{EAC358BD-3A6C-447F-91A3-E5C7EE66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756600"/>
            <a:ext cx="4000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6F"/>
          </a:solidFill>
          <a:ln xmlns:a="http://schemas.openxmlformats.org/drawingml/2006/main" w="0">
            <a:solidFill>
              <a:srgbClr val="12866F"/>
            </a:solidFill>
            <a:prstDash val="solid"/>
          </a:ln>
        </p:spPr>
      </p:sp>
      <p:sp>
        <p:nvSpPr>
          <p:cNvPr id="157" name="curated-cases-value">
            <a:extLst xmlns:a="http://schemas.openxmlformats.org/drawingml/2006/main">
              <a:ext uri="{FF2B5EF4-FFF2-40B4-BE49-F238E27FC236}">
                <a16:creationId xmlns:a16="http://schemas.microsoft.com/office/drawing/2014/main" id="{104EF965-8ADF-4798-928F-AF794FEF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004250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176BB3"/>
                </a:solidFill>
              </a:defRPr>
            </a:pPr>
            <a:r>
              <a:rPr sz="4950" b="1">
                <a:solidFill>
                  <a:srgbClr val="176BB3"/>
                </a:solidFill>
              </a:rPr>
              <a:t>1,600+</a:t>
            </a:r>
          </a:p>
        </p:txBody>
      </p:sp>
      <p:sp>
        <p:nvSpPr>
          <p:cNvPr id="158" name="curated-cases-label">
            <a:extLst xmlns:a="http://schemas.openxmlformats.org/drawingml/2006/main">
              <a:ext uri="{FF2B5EF4-FFF2-40B4-BE49-F238E27FC236}">
                <a16:creationId xmlns:a16="http://schemas.microsoft.com/office/drawing/2014/main" id="{A08B3142-7D4B-4837-B40B-294C4444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900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36879"/>
                </a:solidFill>
              </a:defRPr>
            </a:pPr>
            <a:r>
              <a:rPr sz="2400" b="1">
                <a:solidFill>
                  <a:srgbClr val="536879"/>
                </a:solidFill>
              </a:rPr>
              <a:t>EVALUATION CASES</a:t>
            </a:r>
          </a:p>
        </p:txBody>
      </p:sp>
      <p:sp>
        <p:nvSpPr>
          <p:cNvPr id="159" name="curated-pass-value">
            <a:extLst xmlns:a="http://schemas.openxmlformats.org/drawingml/2006/main">
              <a:ext uri="{FF2B5EF4-FFF2-40B4-BE49-F238E27FC236}">
                <a16:creationId xmlns:a16="http://schemas.microsoft.com/office/drawing/2014/main" id="{F39245E6-2A27-44DC-955E-AEB7FD7D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04250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12866F"/>
                </a:solidFill>
              </a:defRPr>
            </a:pPr>
            <a:r>
              <a:rPr sz="4950" b="1">
                <a:solidFill>
                  <a:srgbClr val="12866F"/>
                </a:solidFill>
              </a:rPr>
              <a:t>94.75%</a:t>
            </a:r>
          </a:p>
        </p:txBody>
      </p:sp>
      <p:sp>
        <p:nvSpPr>
          <p:cNvPr id="160" name="curated-pass-label">
            <a:extLst xmlns:a="http://schemas.openxmlformats.org/drawingml/2006/main">
              <a:ext uri="{FF2B5EF4-FFF2-40B4-BE49-F238E27FC236}">
                <a16:creationId xmlns:a16="http://schemas.microsoft.com/office/drawing/2014/main" id="{53193157-6429-4C50-8BE0-D6CA9BDC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6900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36879"/>
                </a:solidFill>
              </a:defRPr>
            </a:pPr>
            <a:r>
              <a:rPr sz="2400" b="1">
                <a:solidFill>
                  <a:srgbClr val="536879"/>
                </a:solidFill>
              </a:rPr>
              <a:t>PASS RATE</a:t>
            </a:r>
          </a:p>
        </p:txBody>
      </p:sp>
      <p:sp>
        <p:nvSpPr>
          <p:cNvPr id="161" name="curated-avg-value">
            <a:extLst xmlns:a="http://schemas.openxmlformats.org/drawingml/2006/main">
              <a:ext uri="{FF2B5EF4-FFF2-40B4-BE49-F238E27FC236}">
                <a16:creationId xmlns:a16="http://schemas.microsoft.com/office/drawing/2014/main" id="{022D3584-C9EA-4384-8DAE-9CA53EB1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337750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E9752A"/>
                </a:solidFill>
              </a:defRPr>
            </a:pPr>
            <a:r>
              <a:rPr sz="4950" b="1">
                <a:solidFill>
                  <a:srgbClr val="E9752A"/>
                </a:solidFill>
              </a:rPr>
              <a:t>2.31 s</a:t>
            </a:r>
          </a:p>
        </p:txBody>
      </p:sp>
      <p:sp>
        <p:nvSpPr>
          <p:cNvPr id="162" name="curated-avg-label">
            <a:extLst xmlns:a="http://schemas.openxmlformats.org/drawingml/2006/main">
              <a:ext uri="{FF2B5EF4-FFF2-40B4-BE49-F238E27FC236}">
                <a16:creationId xmlns:a16="http://schemas.microsoft.com/office/drawing/2014/main" id="{6404CC01-0E3B-4477-81EC-81CCDBE4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0235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36879"/>
                </a:solidFill>
              </a:defRPr>
            </a:pPr>
            <a:r>
              <a:rPr sz="2400" b="1">
                <a:solidFill>
                  <a:srgbClr val="536879"/>
                </a:solidFill>
              </a:rPr>
              <a:t>AVERAGE LATENCY</a:t>
            </a:r>
          </a:p>
        </p:txBody>
      </p:sp>
      <p:sp>
        <p:nvSpPr>
          <p:cNvPr id="163" name="curated-p95-value">
            <a:extLst xmlns:a="http://schemas.openxmlformats.org/drawingml/2006/main">
              <a:ext uri="{FF2B5EF4-FFF2-40B4-BE49-F238E27FC236}">
                <a16:creationId xmlns:a16="http://schemas.microsoft.com/office/drawing/2014/main" id="{697C3344-227F-44A9-BE49-1C75D080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337750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C94C5F"/>
                </a:solidFill>
              </a:defRPr>
            </a:pPr>
            <a:r>
              <a:rPr sz="4950" b="1">
                <a:solidFill>
                  <a:srgbClr val="C94C5F"/>
                </a:solidFill>
              </a:rPr>
              <a:t>12.53 s</a:t>
            </a:r>
          </a:p>
        </p:txBody>
      </p:sp>
      <p:sp>
        <p:nvSpPr>
          <p:cNvPr id="164" name="curated-p95-label">
            <a:extLst xmlns:a="http://schemas.openxmlformats.org/drawingml/2006/main">
              <a:ext uri="{FF2B5EF4-FFF2-40B4-BE49-F238E27FC236}">
                <a16:creationId xmlns:a16="http://schemas.microsoft.com/office/drawing/2014/main" id="{7F0B8B5E-2CE7-49AD-A414-E7925DC4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0235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36879"/>
                </a:solidFill>
              </a:defRPr>
            </a:pPr>
            <a:r>
              <a:rPr sz="2400" b="1">
                <a:solidFill>
                  <a:srgbClr val="536879"/>
                </a:solidFill>
              </a:rPr>
              <a:t>P95 LATENCY</a:t>
            </a:r>
          </a:p>
        </p:txBody>
      </p:sp>
      <p:sp>
        <p:nvSpPr>
          <p:cNvPr id="165" name="latency-chart-title">
            <a:extLst xmlns:a="http://schemas.openxmlformats.org/drawingml/2006/main">
              <a:ext uri="{FF2B5EF4-FFF2-40B4-BE49-F238E27FC236}">
                <a16:creationId xmlns:a16="http://schemas.microsoft.com/office/drawing/2014/main" id="{06E08E13-550D-4953-BE18-7D40805A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71887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A2A48"/>
                </a:solidFill>
              </a:defRPr>
            </a:pPr>
            <a:r>
              <a:rPr sz="2475" b="1">
                <a:solidFill>
                  <a:srgbClr val="0A2A48"/>
                </a:solidFill>
              </a:rPr>
              <a:t>LATENCY AGAINST 15-SECOND SCALE</a:t>
            </a:r>
          </a:p>
        </p:txBody>
      </p:sp>
      <p:sp>
        <p:nvSpPr>
          <p:cNvPr id="166" name="latency-avg-label">
            <a:extLst xmlns:a="http://schemas.openxmlformats.org/drawingml/2006/main">
              <a:ext uri="{FF2B5EF4-FFF2-40B4-BE49-F238E27FC236}">
                <a16:creationId xmlns:a16="http://schemas.microsoft.com/office/drawing/2014/main" id="{0D259902-6A4B-4572-8BC6-7311BFB3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147500"/>
            <a:ext cx="1666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A3A"/>
                </a:solidFill>
              </a:defRPr>
            </a:pPr>
            <a:r>
              <a:rPr sz="2325" b="1">
                <a:solidFill>
                  <a:srgbClr val="172A3A"/>
                </a:solidFill>
              </a:rPr>
              <a:t>Average</a:t>
            </a:r>
          </a:p>
        </p:txBody>
      </p:sp>
      <p:sp>
        <p:nvSpPr>
          <p:cNvPr id="167" name="latency-avg-track">
            <a:extLst xmlns:a="http://schemas.openxmlformats.org/drawingml/2006/main">
              <a:ext uri="{FF2B5EF4-FFF2-40B4-BE49-F238E27FC236}">
                <a16:creationId xmlns:a16="http://schemas.microsoft.com/office/drawing/2014/main" id="{34A5B61A-48A2-4499-AD8A-676DDA11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7214175"/>
            <a:ext cx="4953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EEF4"/>
          </a:solidFill>
          <a:ln xmlns:a="http://schemas.openxmlformats.org/drawingml/2006/main" w="0">
            <a:solidFill>
              <a:srgbClr val="E8EEF4"/>
            </a:solidFill>
            <a:prstDash val="solid"/>
          </a:ln>
        </p:spPr>
      </p:sp>
      <p:sp>
        <p:nvSpPr>
          <p:cNvPr id="168" name="latency-avg-bar">
            <a:extLst xmlns:a="http://schemas.openxmlformats.org/drawingml/2006/main">
              <a:ext uri="{FF2B5EF4-FFF2-40B4-BE49-F238E27FC236}">
                <a16:creationId xmlns:a16="http://schemas.microsoft.com/office/drawing/2014/main" id="{FCF109CB-CD5C-48B2-886B-239321A5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7214175"/>
            <a:ext cx="762762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2866F"/>
          </a:solidFill>
          <a:ln xmlns:a="http://schemas.openxmlformats.org/drawingml/2006/main" w="0">
            <a:solidFill>
              <a:srgbClr val="12866F"/>
            </a:solidFill>
            <a:prstDash val="solid"/>
          </a:ln>
        </p:spPr>
      </p:sp>
      <p:sp>
        <p:nvSpPr>
          <p:cNvPr id="169" name="latency-avg-value">
            <a:extLst xmlns:a="http://schemas.openxmlformats.org/drawingml/2006/main">
              <a:ext uri="{FF2B5EF4-FFF2-40B4-BE49-F238E27FC236}">
                <a16:creationId xmlns:a16="http://schemas.microsoft.com/office/drawing/2014/main" id="{35F81286-56FB-4481-8B52-7C4DBF16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14750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12866F"/>
                </a:solidFill>
              </a:defRPr>
            </a:pPr>
            <a:r>
              <a:rPr sz="2175" b="1">
                <a:solidFill>
                  <a:srgbClr val="12866F"/>
                </a:solidFill>
              </a:rPr>
              <a:t>2.31s</a:t>
            </a:r>
          </a:p>
        </p:txBody>
      </p:sp>
      <p:sp>
        <p:nvSpPr>
          <p:cNvPr id="170" name="latency-target-label">
            <a:extLst xmlns:a="http://schemas.openxmlformats.org/drawingml/2006/main">
              <a:ext uri="{FF2B5EF4-FFF2-40B4-BE49-F238E27FC236}">
                <a16:creationId xmlns:a16="http://schemas.microsoft.com/office/drawing/2014/main" id="{4F67CD10-7BDA-4161-BE35-C402A9B3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623750"/>
            <a:ext cx="1666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A3A"/>
                </a:solidFill>
              </a:defRPr>
            </a:pPr>
            <a:r>
              <a:rPr sz="2325" b="1">
                <a:solidFill>
                  <a:srgbClr val="172A3A"/>
                </a:solidFill>
              </a:rPr>
              <a:t>Target</a:t>
            </a:r>
          </a:p>
        </p:txBody>
      </p:sp>
      <p:sp>
        <p:nvSpPr>
          <p:cNvPr id="171" name="latency-target-track">
            <a:extLst xmlns:a="http://schemas.openxmlformats.org/drawingml/2006/main">
              <a:ext uri="{FF2B5EF4-FFF2-40B4-BE49-F238E27FC236}">
                <a16:creationId xmlns:a16="http://schemas.microsoft.com/office/drawing/2014/main" id="{D328392E-1606-4B82-806C-C0452916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7690425"/>
            <a:ext cx="4953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EEF4"/>
          </a:solidFill>
          <a:ln xmlns:a="http://schemas.openxmlformats.org/drawingml/2006/main" w="0">
            <a:solidFill>
              <a:srgbClr val="E8EEF4"/>
            </a:solidFill>
            <a:prstDash val="solid"/>
          </a:ln>
        </p:spPr>
      </p:sp>
      <p:sp>
        <p:nvSpPr>
          <p:cNvPr id="172" name="latency-target-bar">
            <a:extLst xmlns:a="http://schemas.openxmlformats.org/drawingml/2006/main">
              <a:ext uri="{FF2B5EF4-FFF2-40B4-BE49-F238E27FC236}">
                <a16:creationId xmlns:a16="http://schemas.microsoft.com/office/drawing/2014/main" id="{0381A620-B004-472B-823F-7875DA8B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7690425"/>
            <a:ext cx="3302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76BB3"/>
          </a:solidFill>
          <a:ln xmlns:a="http://schemas.openxmlformats.org/drawingml/2006/main" w="0">
            <a:solidFill>
              <a:srgbClr val="176BB3"/>
            </a:solidFill>
            <a:prstDash val="solid"/>
          </a:ln>
        </p:spPr>
      </p:sp>
      <p:sp>
        <p:nvSpPr>
          <p:cNvPr id="173" name="latency-target-value">
            <a:extLst xmlns:a="http://schemas.openxmlformats.org/drawingml/2006/main">
              <a:ext uri="{FF2B5EF4-FFF2-40B4-BE49-F238E27FC236}">
                <a16:creationId xmlns:a16="http://schemas.microsoft.com/office/drawing/2014/main" id="{DEAABE4E-3C4D-45D4-8E3E-7E0D48C3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6237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176BB3"/>
                </a:solidFill>
              </a:defRPr>
            </a:pPr>
            <a:r>
              <a:rPr sz="2175" b="1">
                <a:solidFill>
                  <a:srgbClr val="176BB3"/>
                </a:solidFill>
              </a:rPr>
              <a:t>10.00s</a:t>
            </a:r>
          </a:p>
        </p:txBody>
      </p:sp>
      <p:sp>
        <p:nvSpPr>
          <p:cNvPr id="174" name="latency-p95-label">
            <a:extLst xmlns:a="http://schemas.openxmlformats.org/drawingml/2006/main">
              <a:ext uri="{FF2B5EF4-FFF2-40B4-BE49-F238E27FC236}">
                <a16:creationId xmlns:a16="http://schemas.microsoft.com/office/drawing/2014/main" id="{5989A35B-D02F-4DF9-B1CB-46ECE252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100000"/>
            <a:ext cx="1666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A3A"/>
                </a:solidFill>
              </a:defRPr>
            </a:pPr>
            <a:r>
              <a:rPr sz="2325" b="1">
                <a:solidFill>
                  <a:srgbClr val="172A3A"/>
                </a:solidFill>
              </a:rPr>
              <a:t>P95</a:t>
            </a:r>
          </a:p>
        </p:txBody>
      </p:sp>
      <p:sp>
        <p:nvSpPr>
          <p:cNvPr id="175" name="latency-p95-track">
            <a:extLst xmlns:a="http://schemas.openxmlformats.org/drawingml/2006/main">
              <a:ext uri="{FF2B5EF4-FFF2-40B4-BE49-F238E27FC236}">
                <a16:creationId xmlns:a16="http://schemas.microsoft.com/office/drawing/2014/main" id="{93DF739E-2D43-497C-BF6C-AD41B96D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66675"/>
            <a:ext cx="4953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EEF4"/>
          </a:solidFill>
          <a:ln xmlns:a="http://schemas.openxmlformats.org/drawingml/2006/main" w="0">
            <a:solidFill>
              <a:srgbClr val="E8EEF4"/>
            </a:solidFill>
            <a:prstDash val="solid"/>
          </a:ln>
        </p:spPr>
      </p:sp>
      <p:sp>
        <p:nvSpPr>
          <p:cNvPr id="176" name="latency-p95-bar">
            <a:extLst xmlns:a="http://schemas.openxmlformats.org/drawingml/2006/main">
              <a:ext uri="{FF2B5EF4-FFF2-40B4-BE49-F238E27FC236}">
                <a16:creationId xmlns:a16="http://schemas.microsoft.com/office/drawing/2014/main" id="{F7FE5F0A-7698-482B-931A-A391CDC8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66675"/>
            <a:ext cx="4137406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94C5F"/>
          </a:solidFill>
          <a:ln xmlns:a="http://schemas.openxmlformats.org/drawingml/2006/main" w="0">
            <a:solidFill>
              <a:srgbClr val="C94C5F"/>
            </a:solidFill>
            <a:prstDash val="solid"/>
          </a:ln>
        </p:spPr>
      </p:sp>
      <p:sp>
        <p:nvSpPr>
          <p:cNvPr id="177" name="latency-p95-value">
            <a:extLst xmlns:a="http://schemas.openxmlformats.org/drawingml/2006/main">
              <a:ext uri="{FF2B5EF4-FFF2-40B4-BE49-F238E27FC236}">
                <a16:creationId xmlns:a16="http://schemas.microsoft.com/office/drawing/2014/main" id="{97F0AAF9-A025-45F1-9620-365F6B4F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10000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C94C5F"/>
                </a:solidFill>
              </a:defRPr>
            </a:pPr>
            <a:r>
              <a:rPr sz="2175" b="1">
                <a:solidFill>
                  <a:srgbClr val="C94C5F"/>
                </a:solidFill>
              </a:rPr>
              <a:t>12.53s</a:t>
            </a:r>
          </a:p>
        </p:txBody>
      </p:sp>
      <p:sp>
        <p:nvSpPr>
          <p:cNvPr id="178" name="results-finding">
            <a:extLst xmlns:a="http://schemas.openxmlformats.org/drawingml/2006/main">
              <a:ext uri="{FF2B5EF4-FFF2-40B4-BE49-F238E27FC236}">
                <a16:creationId xmlns:a16="http://schemas.microsoft.com/office/drawing/2014/main" id="{DF77AB93-3F20-470F-8E78-C22F1F79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623875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A3A"/>
                </a:solidFill>
              </a:defRPr>
            </a:pPr>
            <a:r>
              <a:rPr sz="2400" b="1">
                <a:solidFill>
                  <a:srgbClr val="172A3A"/>
                </a:solidFill>
              </a:rPr>
              <a:t>Average meets the target; P95 remains above 10 seconds.</a:t>
            </a:r>
          </a:p>
        </p:txBody>
      </p:sp>
      <p:sp>
        <p:nvSpPr>
          <p:cNvPr id="179" name="curated-conclusion-panel">
            <a:extLst xmlns:a="http://schemas.openxmlformats.org/drawingml/2006/main">
              <a:ext uri="{FF2B5EF4-FFF2-40B4-BE49-F238E27FC236}">
                <a16:creationId xmlns:a16="http://schemas.microsoft.com/office/drawing/2014/main" id="{33A86FF1-6933-4DE2-9920-4BEECC00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3004125"/>
            <a:ext cx="10668000" cy="6429375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0" name="curated-conclusion-accent">
            <a:extLst xmlns:a="http://schemas.openxmlformats.org/drawingml/2006/main">
              <a:ext uri="{FF2B5EF4-FFF2-40B4-BE49-F238E27FC236}">
                <a16:creationId xmlns:a16="http://schemas.microsoft.com/office/drawing/2014/main" id="{612A5D47-5E13-45C4-A09C-629D2ECA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3004125"/>
            <a:ext cx="114300" cy="642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8B8"/>
          </a:solidFill>
          <a:ln xmlns:a="http://schemas.openxmlformats.org/drawingml/2006/main" w="0">
            <a:solidFill>
              <a:srgbClr val="6858B8"/>
            </a:solidFill>
            <a:prstDash val="solid"/>
          </a:ln>
        </p:spPr>
      </p:sp>
      <p:sp>
        <p:nvSpPr>
          <p:cNvPr id="181" name="curated-conclusion-heading">
            <a:extLst xmlns:a="http://schemas.openxmlformats.org/drawingml/2006/main">
              <a:ext uri="{FF2B5EF4-FFF2-40B4-BE49-F238E27FC236}">
                <a16:creationId xmlns:a16="http://schemas.microsoft.com/office/drawing/2014/main" id="{6DD9FAAD-4A90-429D-9AB6-B8A7D50A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319462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A3A"/>
                </a:solidFill>
              </a:defRPr>
            </a:pPr>
            <a:r>
              <a:rPr sz="3750" b="1">
                <a:solidFill>
                  <a:srgbClr val="172A3A"/>
                </a:solidFill>
              </a:rPr>
              <a:t>CONCLUSION</a:t>
            </a:r>
          </a:p>
        </p:txBody>
      </p:sp>
      <p:sp>
        <p:nvSpPr>
          <p:cNvPr id="182" name="curated-conclusion-heading-line">
            <a:extLst xmlns:a="http://schemas.openxmlformats.org/drawingml/2006/main">
              <a:ext uri="{FF2B5EF4-FFF2-40B4-BE49-F238E27FC236}">
                <a16:creationId xmlns:a16="http://schemas.microsoft.com/office/drawing/2014/main" id="{390FABE2-FD3A-4EC4-9606-2AADFF94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375660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8B8"/>
          </a:solidFill>
          <a:ln xmlns:a="http://schemas.openxmlformats.org/drawingml/2006/main" w="0">
            <a:solidFill>
              <a:srgbClr val="6858B8"/>
            </a:solidFill>
            <a:prstDash val="solid"/>
          </a:ln>
        </p:spPr>
      </p:sp>
      <p:sp>
        <p:nvSpPr>
          <p:cNvPr id="183" name="conclusion-speed-dot">
            <a:extLst xmlns:a="http://schemas.openxmlformats.org/drawingml/2006/main">
              <a:ext uri="{FF2B5EF4-FFF2-40B4-BE49-F238E27FC236}">
                <a16:creationId xmlns:a16="http://schemas.microsoft.com/office/drawing/2014/main" id="{596B4B99-1767-43B7-AA98-B25B4F0A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4261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66F"/>
          </a:solidFill>
          <a:ln xmlns:a="http://schemas.openxmlformats.org/drawingml/2006/main" w="0">
            <a:solidFill>
              <a:srgbClr val="12866F"/>
            </a:solidFill>
            <a:prstDash val="solid"/>
          </a:ln>
        </p:spPr>
      </p:sp>
      <p:sp>
        <p:nvSpPr>
          <p:cNvPr id="184" name="conclusion-speed-label">
            <a:extLst xmlns:a="http://schemas.openxmlformats.org/drawingml/2006/main">
              <a:ext uri="{FF2B5EF4-FFF2-40B4-BE49-F238E27FC236}">
                <a16:creationId xmlns:a16="http://schemas.microsoft.com/office/drawing/2014/main" id="{681DFAA3-1B25-45E6-9F2B-2AE01BC6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340995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866F"/>
                </a:solidFill>
              </a:defRPr>
            </a:pPr>
            <a:r>
              <a:rPr sz="2325" b="1">
                <a:solidFill>
                  <a:srgbClr val="12866F"/>
                </a:solidFill>
              </a:rPr>
              <a:t>SPEED</a:t>
            </a:r>
          </a:p>
        </p:txBody>
      </p:sp>
      <p:sp>
        <p:nvSpPr>
          <p:cNvPr id="185" name="conclusion-speed-value">
            <a:extLst xmlns:a="http://schemas.openxmlformats.org/drawingml/2006/main">
              <a:ext uri="{FF2B5EF4-FFF2-40B4-BE49-F238E27FC236}">
                <a16:creationId xmlns:a16="http://schemas.microsoft.com/office/drawing/2014/main" id="{81A4A3E6-840A-478E-9C00-5BE90FB9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3409950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2A3A"/>
                </a:solidFill>
              </a:defRPr>
            </a:pPr>
            <a:r>
              <a:rPr sz="2475" b="0">
                <a:solidFill>
                  <a:srgbClr val="172A3A"/>
                </a:solidFill>
              </a:rPr>
              <a:t>Exact facts bypass the LLM queue.</a:t>
            </a:r>
          </a:p>
        </p:txBody>
      </p:sp>
      <p:sp>
        <p:nvSpPr>
          <p:cNvPr id="186" name="conclusion-cover-dot">
            <a:extLst xmlns:a="http://schemas.openxmlformats.org/drawingml/2006/main">
              <a:ext uri="{FF2B5EF4-FFF2-40B4-BE49-F238E27FC236}">
                <a16:creationId xmlns:a16="http://schemas.microsoft.com/office/drawing/2014/main" id="{9DB27B2A-7A4F-45C7-98E7-D3AEC705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4880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91D5"/>
          </a:solidFill>
          <a:ln xmlns:a="http://schemas.openxmlformats.org/drawingml/2006/main" w="0">
            <a:solidFill>
              <a:srgbClr val="2D91D5"/>
            </a:solidFill>
            <a:prstDash val="solid"/>
          </a:ln>
        </p:spPr>
      </p:sp>
      <p:sp>
        <p:nvSpPr>
          <p:cNvPr id="187" name="conclusion-cover-label">
            <a:extLst xmlns:a="http://schemas.openxmlformats.org/drawingml/2006/main">
              <a:ext uri="{FF2B5EF4-FFF2-40B4-BE49-F238E27FC236}">
                <a16:creationId xmlns:a16="http://schemas.microsoft.com/office/drawing/2014/main" id="{FC78BD83-8407-45FA-86A7-D675631A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347186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D91D5"/>
                </a:solidFill>
              </a:defRPr>
            </a:pPr>
            <a:r>
              <a:rPr sz="2325" b="1">
                <a:solidFill>
                  <a:srgbClr val="2D91D5"/>
                </a:solidFill>
              </a:rPr>
              <a:t>COVERAGE</a:t>
            </a:r>
          </a:p>
        </p:txBody>
      </p:sp>
      <p:sp>
        <p:nvSpPr>
          <p:cNvPr id="188" name="conclusion-cover-value">
            <a:extLst xmlns:a="http://schemas.openxmlformats.org/drawingml/2006/main">
              <a:ext uri="{FF2B5EF4-FFF2-40B4-BE49-F238E27FC236}">
                <a16:creationId xmlns:a16="http://schemas.microsoft.com/office/drawing/2014/main" id="{C81AAD83-D742-45AE-8618-8BE2A00E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34718625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2A3A"/>
                </a:solidFill>
              </a:defRPr>
            </a:pPr>
            <a:r>
              <a:rPr sz="2475" b="0">
                <a:solidFill>
                  <a:srgbClr val="172A3A"/>
                </a:solidFill>
              </a:rPr>
              <a:t>BGE-M3 handles long and new content.</a:t>
            </a:r>
          </a:p>
        </p:txBody>
      </p:sp>
      <p:sp>
        <p:nvSpPr>
          <p:cNvPr id="189" name="conclusion-control-dot">
            <a:extLst xmlns:a="http://schemas.openxmlformats.org/drawingml/2006/main">
              <a:ext uri="{FF2B5EF4-FFF2-40B4-BE49-F238E27FC236}">
                <a16:creationId xmlns:a16="http://schemas.microsoft.com/office/drawing/2014/main" id="{AB0543EB-6AE7-4211-9B9E-459521AB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5499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52A"/>
          </a:solidFill>
          <a:ln xmlns:a="http://schemas.openxmlformats.org/drawingml/2006/main" w="0">
            <a:solidFill>
              <a:srgbClr val="E9752A"/>
            </a:solidFill>
            <a:prstDash val="solid"/>
          </a:ln>
        </p:spPr>
      </p:sp>
      <p:sp>
        <p:nvSpPr>
          <p:cNvPr id="190" name="conclusion-control-label">
            <a:extLst xmlns:a="http://schemas.openxmlformats.org/drawingml/2006/main">
              <a:ext uri="{FF2B5EF4-FFF2-40B4-BE49-F238E27FC236}">
                <a16:creationId xmlns:a16="http://schemas.microsoft.com/office/drawing/2014/main" id="{A1160E85-C6B8-4FE7-A2EF-D46661AE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353377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9752A"/>
                </a:solidFill>
              </a:defRPr>
            </a:pPr>
            <a:r>
              <a:rPr sz="2325" b="1">
                <a:solidFill>
                  <a:srgbClr val="E9752A"/>
                </a:solidFill>
              </a:rPr>
              <a:t>CONTROL</a:t>
            </a:r>
          </a:p>
        </p:txBody>
      </p:sp>
      <p:sp>
        <p:nvSpPr>
          <p:cNvPr id="191" name="conclusion-control-value">
            <a:extLst xmlns:a="http://schemas.openxmlformats.org/drawingml/2006/main">
              <a:ext uri="{FF2B5EF4-FFF2-40B4-BE49-F238E27FC236}">
                <a16:creationId xmlns:a16="http://schemas.microsoft.com/office/drawing/2014/main" id="{355E7386-9B04-4DF3-8EA8-8DE84D28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3533775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2A3A"/>
                </a:solidFill>
              </a:defRPr>
            </a:pPr>
            <a:r>
              <a:rPr sz="2475" b="0">
                <a:solidFill>
                  <a:srgbClr val="172A3A"/>
                </a:solidFill>
              </a:rPr>
              <a:t>Typhoon composes from evidence only.</a:t>
            </a:r>
          </a:p>
        </p:txBody>
      </p:sp>
      <p:sp>
        <p:nvSpPr>
          <p:cNvPr id="192" name="risk-box">
            <a:extLst xmlns:a="http://schemas.openxmlformats.org/drawingml/2006/main">
              <a:ext uri="{FF2B5EF4-FFF2-40B4-BE49-F238E27FC236}">
                <a16:creationId xmlns:a16="http://schemas.microsoft.com/office/drawing/2014/main" id="{F0326CBA-B783-4FB1-9688-57C02FDE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6099750"/>
            <a:ext cx="985837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19050">
            <a:solidFill>
              <a:srgbClr val="C94C5F"/>
            </a:solidFill>
            <a:prstDash val="solid"/>
          </a:ln>
        </p:spPr>
      </p:sp>
      <p:sp>
        <p:nvSpPr>
          <p:cNvPr id="193" name="risk-title">
            <a:extLst xmlns:a="http://schemas.openxmlformats.org/drawingml/2006/main">
              <a:ext uri="{FF2B5EF4-FFF2-40B4-BE49-F238E27FC236}">
                <a16:creationId xmlns:a16="http://schemas.microsoft.com/office/drawing/2014/main" id="{6E79BFB2-3BBC-422B-A1C5-24D78260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94C5F"/>
                </a:solidFill>
              </a:defRPr>
            </a:pPr>
            <a:r>
              <a:rPr sz="2400" b="1">
                <a:solidFill>
                  <a:srgbClr val="C94C5F"/>
                </a:solidFill>
              </a:rPr>
              <a:t>MAIN PRODUCTION RISK</a:t>
            </a:r>
          </a:p>
        </p:txBody>
      </p:sp>
      <p:sp>
        <p:nvSpPr>
          <p:cNvPr id="194" name="risk-body">
            <a:extLst xmlns:a="http://schemas.openxmlformats.org/drawingml/2006/main">
              <a:ext uri="{FF2B5EF4-FFF2-40B4-BE49-F238E27FC236}">
                <a16:creationId xmlns:a16="http://schemas.microsoft.com/office/drawing/2014/main" id="{2A76302F-EDD5-4CB2-BDDE-7BAA5B07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5760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2A3A"/>
                </a:solidFill>
              </a:defRPr>
            </a:pPr>
            <a:r>
              <a:rPr sz="2550" b="1">
                <a:solidFill>
                  <a:srgbClr val="172A3A"/>
                </a:solidFill>
              </a:rPr>
              <a:t>Tail latency and concurrent-user queueing.</a:t>
            </a:r>
          </a:p>
        </p:txBody>
      </p:sp>
      <p:sp>
        <p:nvSpPr>
          <p:cNvPr id="195" name="future-heading">
            <a:extLst xmlns:a="http://schemas.openxmlformats.org/drawingml/2006/main">
              <a:ext uri="{FF2B5EF4-FFF2-40B4-BE49-F238E27FC236}">
                <a16:creationId xmlns:a16="http://schemas.microsoft.com/office/drawing/2014/main" id="{E616135A-3FA8-4DEA-8097-48AC3D24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74332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6858B8"/>
                </a:solidFill>
              </a:defRPr>
            </a:pPr>
            <a:r>
              <a:rPr sz="2625" b="1">
                <a:solidFill>
                  <a:srgbClr val="6858B8"/>
                </a:solidFill>
              </a:rPr>
              <a:t>FUTURE WORK</a:t>
            </a:r>
          </a:p>
        </p:txBody>
      </p:sp>
      <p:sp>
        <p:nvSpPr>
          <p:cNvPr id="196" name="future-body">
            <a:extLst xmlns:a="http://schemas.openxmlformats.org/drawingml/2006/main">
              <a:ext uri="{FF2B5EF4-FFF2-40B4-BE49-F238E27FC236}">
                <a16:creationId xmlns:a16="http://schemas.microsoft.com/office/drawing/2014/main" id="{EE53D841-6058-4A3B-BF3D-ABE777A1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7814250"/>
            <a:ext cx="98583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2A3A"/>
                </a:solidFill>
              </a:defRPr>
            </a:pPr>
            <a:r>
              <a:rPr sz="2475" b="0">
                <a:solidFill>
                  <a:srgbClr val="172A3A"/>
                </a:solidFill>
              </a:rPr>
              <a:t>P95 below 10s  |  Multi-user load test</a:t>
            </a:r>
          </a:p>
          <a:p xmlns:a="http://schemas.openxmlformats.org/drawingml/2006/main">
            <a:pPr algn="l">
              <a:defRPr sz="2475" b="0">
                <a:solidFill>
                  <a:srgbClr val="172A3A"/>
                </a:solidFill>
              </a:defRPr>
            </a:pPr>
            <a:r>
              <a:rPr sz="2475" b="0">
                <a:solidFill>
                  <a:srgbClr val="172A3A"/>
                </a:solidFill>
              </a:rPr>
              <a:t>Shared LLM queue  |  WordPress Slot API</a:t>
            </a:r>
          </a:p>
          <a:p xmlns:a="http://schemas.openxmlformats.org/drawingml/2006/main">
            <a:pPr algn="l">
              <a:defRPr sz="2475" b="0">
                <a:solidFill>
                  <a:srgbClr val="172A3A"/>
                </a:solidFill>
              </a:defRPr>
            </a:pPr>
            <a:r>
              <a:rPr sz="2475" b="0">
                <a:solidFill>
                  <a:srgbClr val="172A3A"/>
                </a:solidFill>
              </a:rPr>
              <a:t>Dual-publish content workflow</a:t>
            </a:r>
          </a:p>
        </p:txBody>
      </p:sp>
      <p:sp>
        <p:nvSpPr>
          <p:cNvPr id="197" name="curated-status-panel">
            <a:extLst xmlns:a="http://schemas.openxmlformats.org/drawingml/2006/main">
              <a:ext uri="{FF2B5EF4-FFF2-40B4-BE49-F238E27FC236}">
                <a16:creationId xmlns:a16="http://schemas.microsoft.com/office/drawing/2014/main" id="{97157CAB-E1AC-4BA8-AD65-F5835285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125" y="33004125"/>
            <a:ext cx="7696200" cy="6429375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8" name="curated-status-accent">
            <a:extLst xmlns:a="http://schemas.openxmlformats.org/drawingml/2006/main">
              <a:ext uri="{FF2B5EF4-FFF2-40B4-BE49-F238E27FC236}">
                <a16:creationId xmlns:a16="http://schemas.microsoft.com/office/drawing/2014/main" id="{2676F302-1E57-4635-9042-965920CC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125" y="33004125"/>
            <a:ext cx="114300" cy="642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B3"/>
          </a:solidFill>
          <a:ln xmlns:a="http://schemas.openxmlformats.org/drawingml/2006/main" w="0">
            <a:solidFill>
              <a:srgbClr val="176BB3"/>
            </a:solidFill>
            <a:prstDash val="solid"/>
          </a:ln>
        </p:spPr>
      </p:sp>
      <p:sp>
        <p:nvSpPr>
          <p:cNvPr id="199" name="curated-status-heading">
            <a:extLst xmlns:a="http://schemas.openxmlformats.org/drawingml/2006/main">
              <a:ext uri="{FF2B5EF4-FFF2-40B4-BE49-F238E27FC236}">
                <a16:creationId xmlns:a16="http://schemas.microsoft.com/office/drawing/2014/main" id="{3FEF0CB1-9D12-4D8D-AA43-6DE41491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5125" y="33194625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A3A"/>
                </a:solidFill>
              </a:defRPr>
            </a:pPr>
            <a:r>
              <a:rPr sz="3750" b="1">
                <a:solidFill>
                  <a:srgbClr val="172A3A"/>
                </a:solidFill>
              </a:rPr>
              <a:t>PRODUCT STATUS</a:t>
            </a:r>
          </a:p>
        </p:txBody>
      </p:sp>
      <p:sp>
        <p:nvSpPr>
          <p:cNvPr id="200" name="curated-status-heading-line">
            <a:extLst xmlns:a="http://schemas.openxmlformats.org/drawingml/2006/main">
              <a:ext uri="{FF2B5EF4-FFF2-40B4-BE49-F238E27FC236}">
                <a16:creationId xmlns:a16="http://schemas.microsoft.com/office/drawing/2014/main" id="{3A7258E3-6E61-4F2D-9E7A-5F62ACE5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5125" y="3375660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B3"/>
          </a:solidFill>
          <a:ln xmlns:a="http://schemas.openxmlformats.org/drawingml/2006/main" w="0">
            <a:solidFill>
              <a:srgbClr val="176BB3"/>
            </a:solidFill>
            <a:prstDash val="solid"/>
          </a:ln>
        </p:spPr>
      </p:sp>
      <p:sp>
        <p:nvSpPr>
          <p:cNvPr id="201" name="curated-status-label-0">
            <a:extLst xmlns:a="http://schemas.openxmlformats.org/drawingml/2006/main">
              <a:ext uri="{FF2B5EF4-FFF2-40B4-BE49-F238E27FC236}">
                <a16:creationId xmlns:a16="http://schemas.microsoft.com/office/drawing/2014/main" id="{604953DC-F591-45A4-9B8C-2C1D2CDD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5125" y="340995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A3A"/>
                </a:solidFill>
              </a:defRPr>
            </a:pPr>
            <a:r>
              <a:rPr sz="2400" b="1">
                <a:solidFill>
                  <a:srgbClr val="172A3A"/>
                </a:solidFill>
              </a:rPr>
              <a:t>FAQ CHATBOT</a:t>
            </a:r>
          </a:p>
        </p:txBody>
      </p:sp>
      <p:sp>
        <p:nvSpPr>
          <p:cNvPr id="202" name="curated-status-chip-0">
            <a:extLst xmlns:a="http://schemas.openxmlformats.org/drawingml/2006/main">
              <a:ext uri="{FF2B5EF4-FFF2-40B4-BE49-F238E27FC236}">
                <a16:creationId xmlns:a16="http://schemas.microsoft.com/office/drawing/2014/main" id="{519BB1CA-E158-4CCA-9FAF-A4731512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0" y="34128075"/>
            <a:ext cx="347662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2866F"/>
          </a:solidFill>
          <a:ln xmlns:a="http://schemas.openxmlformats.org/drawingml/2006/main" w="0">
            <a:solidFill>
              <a:srgbClr val="12866F"/>
            </a:solidFill>
            <a:prstDash val="solid"/>
          </a:ln>
        </p:spPr>
      </p:sp>
      <p:sp>
        <p:nvSpPr>
          <p:cNvPr id="203" name="curated-status-chip-text-0">
            <a:extLst xmlns:a="http://schemas.openxmlformats.org/drawingml/2006/main">
              <a:ext uri="{FF2B5EF4-FFF2-40B4-BE49-F238E27FC236}">
                <a16:creationId xmlns:a16="http://schemas.microsoft.com/office/drawing/2014/main" id="{555A0ACF-887D-4F80-AE50-FD9BABBD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0" y="34137600"/>
            <a:ext cx="3286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READY</a:t>
            </a:r>
          </a:p>
        </p:txBody>
      </p:sp>
      <p:sp>
        <p:nvSpPr>
          <p:cNvPr id="204" name="curated-status-label-1">
            <a:extLst xmlns:a="http://schemas.openxmlformats.org/drawingml/2006/main">
              <a:ext uri="{FF2B5EF4-FFF2-40B4-BE49-F238E27FC236}">
                <a16:creationId xmlns:a16="http://schemas.microsoft.com/office/drawing/2014/main" id="{D673BBEE-F0AC-414B-A554-A049F412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5125" y="34813875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A3A"/>
                </a:solidFill>
              </a:defRPr>
            </a:pPr>
            <a:r>
              <a:rPr sz="2400" b="1">
                <a:solidFill>
                  <a:srgbClr val="172A3A"/>
                </a:solidFill>
              </a:rPr>
              <a:t>CHECK SLOT</a:t>
            </a:r>
          </a:p>
        </p:txBody>
      </p:sp>
      <p:sp>
        <p:nvSpPr>
          <p:cNvPr id="205" name="curated-status-chip-1">
            <a:extLst xmlns:a="http://schemas.openxmlformats.org/drawingml/2006/main">
              <a:ext uri="{FF2B5EF4-FFF2-40B4-BE49-F238E27FC236}">
                <a16:creationId xmlns:a16="http://schemas.microsoft.com/office/drawing/2014/main" id="{EA30E701-CA74-439C-8C7B-9D0B72A4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0" y="34842450"/>
            <a:ext cx="347662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752A"/>
          </a:solidFill>
          <a:ln xmlns:a="http://schemas.openxmlformats.org/drawingml/2006/main" w="0">
            <a:solidFill>
              <a:srgbClr val="E9752A"/>
            </a:solidFill>
            <a:prstDash val="solid"/>
          </a:ln>
        </p:spPr>
      </p:sp>
      <p:sp>
        <p:nvSpPr>
          <p:cNvPr id="206" name="curated-status-chip-text-1">
            <a:extLst xmlns:a="http://schemas.openxmlformats.org/drawingml/2006/main">
              <a:ext uri="{FF2B5EF4-FFF2-40B4-BE49-F238E27FC236}">
                <a16:creationId xmlns:a16="http://schemas.microsoft.com/office/drawing/2014/main" id="{EA18D551-A6B1-426C-90AF-3D95759B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0" y="34851975"/>
            <a:ext cx="3286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WAITING API</a:t>
            </a:r>
          </a:p>
        </p:txBody>
      </p:sp>
      <p:sp>
        <p:nvSpPr>
          <p:cNvPr id="207" name="curated-status-label-2">
            <a:extLst xmlns:a="http://schemas.openxmlformats.org/drawingml/2006/main">
              <a:ext uri="{FF2B5EF4-FFF2-40B4-BE49-F238E27FC236}">
                <a16:creationId xmlns:a16="http://schemas.microsoft.com/office/drawing/2014/main" id="{1F90267B-4298-45A8-AA04-57F82325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5125" y="355282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A3A"/>
                </a:solidFill>
              </a:defRPr>
            </a:pPr>
            <a:r>
              <a:rPr sz="2400" b="1">
                <a:solidFill>
                  <a:srgbClr val="172A3A"/>
                </a:solidFill>
              </a:rPr>
              <a:t>ADMIN INPUT</a:t>
            </a:r>
          </a:p>
        </p:txBody>
      </p:sp>
      <p:sp>
        <p:nvSpPr>
          <p:cNvPr id="208" name="curated-status-chip-2">
            <a:extLst xmlns:a="http://schemas.openxmlformats.org/drawingml/2006/main">
              <a:ext uri="{FF2B5EF4-FFF2-40B4-BE49-F238E27FC236}">
                <a16:creationId xmlns:a16="http://schemas.microsoft.com/office/drawing/2014/main" id="{075BD42F-8306-4E52-B1B2-1180F3C4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0" y="35556825"/>
            <a:ext cx="347662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D91D5"/>
          </a:solidFill>
          <a:ln xmlns:a="http://schemas.openxmlformats.org/drawingml/2006/main" w="0">
            <a:solidFill>
              <a:srgbClr val="2D91D5"/>
            </a:solidFill>
            <a:prstDash val="solid"/>
          </a:ln>
        </p:spPr>
      </p:sp>
      <p:sp>
        <p:nvSpPr>
          <p:cNvPr id="209" name="curated-status-chip-text-2">
            <a:extLst xmlns:a="http://schemas.openxmlformats.org/drawingml/2006/main">
              <a:ext uri="{FF2B5EF4-FFF2-40B4-BE49-F238E27FC236}">
                <a16:creationId xmlns:a16="http://schemas.microsoft.com/office/drawing/2014/main" id="{EE686E71-2B4B-4ACF-8DA0-C344892F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0" y="35566350"/>
            <a:ext cx="3286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DESIGNED</a:t>
            </a:r>
          </a:p>
        </p:txBody>
      </p:sp>
      <p:sp>
        <p:nvSpPr>
          <p:cNvPr id="210" name="curated-status-label-3">
            <a:extLst xmlns:a="http://schemas.openxmlformats.org/drawingml/2006/main">
              <a:ext uri="{FF2B5EF4-FFF2-40B4-BE49-F238E27FC236}">
                <a16:creationId xmlns:a16="http://schemas.microsoft.com/office/drawing/2014/main" id="{6C12A45B-DBBF-45AB-B105-BF5B7F07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5125" y="36242625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A3A"/>
                </a:solidFill>
              </a:defRPr>
            </a:pPr>
            <a:r>
              <a:rPr sz="2400" b="1">
                <a:solidFill>
                  <a:srgbClr val="172A3A"/>
                </a:solidFill>
              </a:rPr>
              <a:t>BOOKING</a:t>
            </a:r>
          </a:p>
        </p:txBody>
      </p:sp>
      <p:sp>
        <p:nvSpPr>
          <p:cNvPr id="211" name="curated-status-chip-3">
            <a:extLst xmlns:a="http://schemas.openxmlformats.org/drawingml/2006/main">
              <a:ext uri="{FF2B5EF4-FFF2-40B4-BE49-F238E27FC236}">
                <a16:creationId xmlns:a16="http://schemas.microsoft.com/office/drawing/2014/main" id="{189D747A-57E2-4393-B824-16BB4961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0" y="36271200"/>
            <a:ext cx="347662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94C5F"/>
          </a:solidFill>
          <a:ln xmlns:a="http://schemas.openxmlformats.org/drawingml/2006/main" w="0">
            <a:solidFill>
              <a:srgbClr val="C94C5F"/>
            </a:solidFill>
            <a:prstDash val="solid"/>
          </a:ln>
        </p:spPr>
      </p:sp>
      <p:sp>
        <p:nvSpPr>
          <p:cNvPr id="212" name="curated-status-chip-text-3">
            <a:extLst xmlns:a="http://schemas.openxmlformats.org/drawingml/2006/main">
              <a:ext uri="{FF2B5EF4-FFF2-40B4-BE49-F238E27FC236}">
                <a16:creationId xmlns:a16="http://schemas.microsoft.com/office/drawing/2014/main" id="{88F92D10-1ED3-44E7-922F-217D2EB8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0" y="36280725"/>
            <a:ext cx="3286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FUTURE</a:t>
            </a:r>
          </a:p>
        </p:txBody>
      </p:sp>
      <p:sp>
        <p:nvSpPr>
          <p:cNvPr id="213" name="sources-heading-curated">
            <a:extLst xmlns:a="http://schemas.openxmlformats.org/drawingml/2006/main">
              <a:ext uri="{FF2B5EF4-FFF2-40B4-BE49-F238E27FC236}">
                <a16:creationId xmlns:a16="http://schemas.microsoft.com/office/drawing/2014/main" id="{9DB46C2C-4D7B-405C-BC76-67C485A7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5125" y="37147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6BB3"/>
                </a:solidFill>
              </a:defRPr>
            </a:pPr>
            <a:r>
              <a:rPr sz="2550" b="1">
                <a:solidFill>
                  <a:srgbClr val="176BB3"/>
                </a:solidFill>
              </a:rPr>
              <a:t>SOURCES</a:t>
            </a:r>
          </a:p>
        </p:txBody>
      </p:sp>
      <p:sp>
        <p:nvSpPr>
          <p:cNvPr id="214" name="sources-body-curated">
            <a:extLst xmlns:a="http://schemas.openxmlformats.org/drawingml/2006/main">
              <a:ext uri="{FF2B5EF4-FFF2-40B4-BE49-F238E27FC236}">
                <a16:creationId xmlns:a16="http://schemas.microsoft.com/office/drawing/2014/main" id="{27463C95-47BB-4BA3-B329-40D1CA5E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5125" y="37528500"/>
            <a:ext cx="676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A3A"/>
                </a:solidFill>
              </a:defRPr>
            </a:pPr>
            <a:r>
              <a:rPr sz="2325" b="0">
                <a:solidFill>
                  <a:srgbClr val="172A3A"/>
                </a:solidFill>
              </a:rPr>
              <a:t>PSU Esports Studio website</a:t>
            </a:r>
          </a:p>
          <a:p xmlns:a="http://schemas.openxmlformats.org/drawingml/2006/main">
            <a:pPr algn="l">
              <a:defRPr sz="2325" b="0">
                <a:solidFill>
                  <a:srgbClr val="172A3A"/>
                </a:solidFill>
              </a:defRPr>
            </a:pPr>
            <a:r>
              <a:rPr sz="2325" b="0">
                <a:solidFill>
                  <a:srgbClr val="172A3A"/>
                </a:solidFill>
              </a:rPr>
              <a:t>Typhoon2.5-Qwen3-4B model card</a:t>
            </a:r>
          </a:p>
          <a:p xmlns:a="http://schemas.openxmlformats.org/drawingml/2006/main">
            <a:pPr algn="l">
              <a:defRPr sz="2325" b="0">
                <a:solidFill>
                  <a:srgbClr val="172A3A"/>
                </a:solidFill>
              </a:defRPr>
            </a:pPr>
            <a:r>
              <a:rPr sz="2325" b="0">
                <a:solidFill>
                  <a:srgbClr val="172A3A"/>
                </a:solidFill>
              </a:rPr>
              <a:t>BGE-M3 paper (arXiv:2402.03216)</a:t>
            </a:r>
          </a:p>
          <a:p xmlns:a="http://schemas.openxmlformats.org/drawingml/2006/main">
            <a:pPr algn="l">
              <a:defRPr sz="2325" b="0">
                <a:solidFill>
                  <a:srgbClr val="172A3A"/>
                </a:solidFill>
              </a:defRPr>
            </a:pPr>
            <a:r>
              <a:rPr sz="2325" b="0">
                <a:solidFill>
                  <a:srgbClr val="172A3A"/>
                </a:solidFill>
              </a:rPr>
              <a:t>Project Flow 43 and evaluation logs</a:t>
            </a:r>
          </a:p>
        </p:txBody>
      </p:sp>
    </p:spTree>
    <p:extLst>
      <p:ext uri="{BB962C8B-B14F-4D97-AF65-F5344CB8AC3E}">
        <p14:creationId xmlns:p14="http://schemas.microsoft.com/office/powerpoint/2010/main" val="1157783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2026-08-27T17:19:31.3810000Z</dcterms:created>
  <dcterms:modified xsi:type="dcterms:W3CDTF">2026-08-27T17:19:31.3810000Z</dcterms:modified>
</coreProperties>
</file>