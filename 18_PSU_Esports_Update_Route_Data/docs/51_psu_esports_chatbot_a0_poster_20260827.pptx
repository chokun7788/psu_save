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e3af2a86c49df" /><Relationship Type="http://schemas.openxmlformats.org/officeDocument/2006/relationships/extended-properties" Target="/docProps/app.xml" Id="Rf34ce9ef21cf460e" /><Relationship Type="http://schemas.openxmlformats.org/officeDocument/2006/relationships/officeDocument" Target="/ppt/presentation.xml" Id="R9a4b4757e25f42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5e94c00bb4e72"/>
  </p:sldMasterIdLst>
  <p:notesMasterIdLst>
    <p:notesMasterId xmlns:r="http://schemas.openxmlformats.org/officeDocument/2006/relationships" r:id="R2374c56f25714f81"/>
  </p:notesMasterIdLst>
  <p:sldIdLst>
    <p:sldId xmlns:r="http://schemas.openxmlformats.org/officeDocument/2006/relationships" id="256" r:id="Ra43ec3dac4c34b68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bdc8e811464830" /><Relationship Type="http://schemas.openxmlformats.org/officeDocument/2006/relationships/slideMaster" Target="/ppt/slideMasters/slideMaster1.xml" Id="R71c5e94c00bb4e72" /><Relationship Type="http://schemas.openxmlformats.org/officeDocument/2006/relationships/notesMaster" Target="/ppt/notesMasters/notesMaster1.xml" Id="R2374c56f25714f81" /><Relationship Type="http://schemas.openxmlformats.org/officeDocument/2006/relationships/presProps" Target="/ppt/presProps.xml" Id="R4dfe22a7975347db" /><Relationship Type="http://schemas.openxmlformats.org/officeDocument/2006/relationships/tableStyles" Target="/ppt/tableStyles.xml" Id="Rcce1f2f0ef8946eb" /><Relationship Type="http://schemas.openxmlformats.org/officeDocument/2006/relationships/slide" Target="/ppt/slides/slide1.xml" Id="Ra43ec3dac4c34b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3b33c9525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cd53eb0cf4297" /><Relationship Type="http://schemas.openxmlformats.org/officeDocument/2006/relationships/notesMaster" Target="/ppt/notesMasters/notesMaster1.xml" Id="R79a3b40eae654a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Current chatbot architecture: docs/43_current_chatbot_full_process_flow_20260824.md</a:t>
            </a:r>
          </a:p>
          <a:p xmlns:a="http://schemas.openxmlformats.org/drawingml/2006/main">
            <a:r>
              <a:t>Core function design: docs/45-49 dated 2026-08-25</a:t>
            </a:r>
          </a:p>
          <a:p xmlns:a="http://schemas.openxmlformats.org/drawingml/2006/main">
            <a:r>
              <a:t>Benchmark values reproduced from the project evaluation summary reviewed on 2026-08-27.</a:t>
            </a:r>
          </a:p>
          <a:p xmlns:a="http://schemas.openxmlformats.org/drawingml/2006/main">
            <a:r>
              <a:t>Hero illustration generated with the built-in image generation tool on 2026-08-27.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c42f56d9e42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034ddbd5b4b8e" /><Relationship Type="http://schemas.openxmlformats.org/officeDocument/2006/relationships/slideLayout" Target="/ppt/slideLayouts/slideLayout1.xml" Id="Rc78c0258e6dc4a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8c0258e6dc4a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77fadf51c44fd" /><Relationship Type="http://schemas.openxmlformats.org/officeDocument/2006/relationships/image" Target="/ppt/media/image.png" Id="R253118231d004a38" /><Relationship Type="http://schemas.openxmlformats.org/officeDocument/2006/relationships/image" Target="/ppt/media/image2.png" Id="Ra27496b617804c6a" /><Relationship Type="http://schemas.openxmlformats.org/officeDocument/2006/relationships/image" Target="/ppt/media/image3.png" Id="R2b6b96263a474fb3" /><Relationship Type="http://schemas.openxmlformats.org/officeDocument/2006/relationships/notesSlide" Target="/ppt/notesSlides/notesSlide1.xml" Id="R690d30e5171a47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118231d004a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sp>
        <p:nvSpPr>
          <p:cNvPr id="2" name="identity-accent">
            <a:extLst xmlns:a="http://schemas.openxmlformats.org/drawingml/2006/main">
              <a:ext uri="{FF2B5EF4-FFF2-40B4-BE49-F238E27FC236}">
                <a16:creationId xmlns:a16="http://schemas.microsoft.com/office/drawing/2014/main" id="{56E0933F-0164-4E4C-987E-8CD82A8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238875"/>
            <a:ext cx="1714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22"/>
          </a:solidFill>
          <a:ln xmlns:a="http://schemas.openxmlformats.org/drawingml/2006/main" w="0">
            <a:solidFill>
              <a:srgbClr val="E86F22"/>
            </a:solidFill>
            <a:prstDash val="solid"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496b617804c6a"/>
          <a:stretch xmlns:a="http://schemas.openxmlformats.org/drawingml/2006/main"/>
        </p:blipFill>
        <p:spPr>
          <a:xfrm xmlns:a="http://schemas.openxmlformats.org/drawingml/2006/main">
            <a:off x="1571625" y="6570266"/>
            <a:ext cx="5238750" cy="1527969"/>
          </a:xfrm>
          <a:prstGeom xmlns:a="http://schemas.openxmlformats.org/drawingml/2006/main" prst="rect">
            <a:avLst/>
          </a:prstGeom>
        </p:spPr>
      </p:pic>
      <p:sp>
        <p:nvSpPr>
          <p:cNvPr id="4" name="local-pill-bg">
            <a:extLst xmlns:a="http://schemas.openxmlformats.org/drawingml/2006/main">
              <a:ext uri="{FF2B5EF4-FFF2-40B4-BE49-F238E27FC236}">
                <a16:creationId xmlns:a16="http://schemas.microsoft.com/office/drawing/2014/main" id="{AFD7BEE2-DF4D-40D5-98BD-6A8C75D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591550"/>
            <a:ext cx="2571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19050">
            <a:solidFill>
              <a:srgbClr val="0A2342"/>
            </a:solidFill>
            <a:prstDash val="solid"/>
          </a:ln>
        </p:spPr>
      </p:sp>
      <p:sp>
        <p:nvSpPr>
          <p:cNvPr id="5" name="local-pill-text">
            <a:extLst xmlns:a="http://schemas.openxmlformats.org/drawingml/2006/main">
              <a:ext uri="{FF2B5EF4-FFF2-40B4-BE49-F238E27FC236}">
                <a16:creationId xmlns:a16="http://schemas.microsoft.com/office/drawing/2014/main" id="{D302FEB0-5C93-4025-ADE8-BDC6643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863917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LOCAL-FIRST</a:t>
            </a:r>
          </a:p>
        </p:txBody>
      </p:sp>
      <p:sp>
        <p:nvSpPr>
          <p:cNvPr id="6" name="target-pill-bg">
            <a:extLst xmlns:a="http://schemas.openxmlformats.org/drawingml/2006/main">
              <a:ext uri="{FF2B5EF4-FFF2-40B4-BE49-F238E27FC236}">
                <a16:creationId xmlns:a16="http://schemas.microsoft.com/office/drawing/2014/main" id="{056D11D6-8BDB-4E5E-B63B-18005BF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8591550"/>
            <a:ext cx="26670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22"/>
          </a:solidFill>
          <a:ln xmlns:a="http://schemas.openxmlformats.org/drawingml/2006/main" w="19050">
            <a:solidFill>
              <a:srgbClr val="E86F22"/>
            </a:solidFill>
            <a:prstDash val="solid"/>
          </a:ln>
        </p:spPr>
      </p:sp>
      <p:sp>
        <p:nvSpPr>
          <p:cNvPr id="7" name="target-pill-text">
            <a:extLst xmlns:a="http://schemas.openxmlformats.org/drawingml/2006/main">
              <a:ext uri="{FF2B5EF4-FFF2-40B4-BE49-F238E27FC236}">
                <a16:creationId xmlns:a16="http://schemas.microsoft.com/office/drawing/2014/main" id="{542E135B-A422-4BDB-BE7A-12C4263F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8639175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TARGET &lt;= 10s</a:t>
            </a:r>
          </a:p>
        </p:txBody>
      </p:sp>
      <p:sp>
        <p:nvSpPr>
          <p:cNvPr id="8" name="overline">
            <a:extLst xmlns:a="http://schemas.openxmlformats.org/drawingml/2006/main">
              <a:ext uri="{FF2B5EF4-FFF2-40B4-BE49-F238E27FC236}">
                <a16:creationId xmlns:a16="http://schemas.microsoft.com/office/drawing/2014/main" id="{E15E12D5-D36A-49A5-90D1-75116FBF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238875"/>
            <a:ext cx="2095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C4F95"/>
                </a:solidFill>
              </a:defRPr>
            </a:pPr>
            <a:r>
              <a:rPr sz="3225" b="1">
                <a:solidFill>
                  <a:srgbClr val="0C4F95"/>
                </a:solidFill>
              </a:rPr>
              <a:t>PSU ESPORTS STUDIO - PHUKET  |  LOCAL-FIRST AI</a:t>
            </a:r>
          </a:p>
        </p:txBody>
      </p:sp>
      <p:sp>
        <p:nvSpPr>
          <p:cNvPr id="9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F3423C6B-7425-460C-9B4F-7467DBA9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838950"/>
            <a:ext cx="210026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A2342"/>
                </a:solidFill>
              </a:defRPr>
            </a:pPr>
            <a:r>
              <a:rPr sz="6000" b="1">
                <a:solidFill>
                  <a:srgbClr val="0A2342"/>
                </a:solidFill>
              </a:rPr>
              <a:t>AI Chatbot for Multi-Route Hybrid</a:t>
            </a:r>
          </a:p>
          <a:p xmlns:a="http://schemas.openxmlformats.org/drawingml/2006/main">
            <a:pPr algn="l">
              <a:defRPr sz="6000" b="1">
                <a:solidFill>
                  <a:srgbClr val="0A2342"/>
                </a:solidFill>
              </a:defRPr>
            </a:pPr>
            <a:r>
              <a:rPr sz="6000" b="1">
                <a:solidFill>
                  <a:srgbClr val="0A2342"/>
                </a:solidFill>
              </a:rPr>
              <a:t>Esports Knowledge Base</a:t>
            </a:r>
          </a:p>
        </p:txBody>
      </p:sp>
      <p:sp>
        <p:nvSpPr>
          <p:cNvPr id="10" name="author">
            <a:extLst xmlns:a="http://schemas.openxmlformats.org/drawingml/2006/main">
              <a:ext uri="{FF2B5EF4-FFF2-40B4-BE49-F238E27FC236}">
                <a16:creationId xmlns:a16="http://schemas.microsoft.com/office/drawing/2014/main" id="{C4E1E7B7-D5EB-469C-B4EE-9E6E569E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058275"/>
            <a:ext cx="2100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263A"/>
                </a:solidFill>
              </a:defRPr>
            </a:pPr>
            <a:r>
              <a:rPr sz="3900" b="1">
                <a:solidFill>
                  <a:srgbClr val="12263A"/>
                </a:solidFill>
              </a:rPr>
              <a:t>นายภาสวุฒิ ชูติประชากิจ  |  รหัสผู้เข้าอบรม 600584</a:t>
            </a:r>
          </a:p>
        </p:txBody>
      </p:sp>
      <p:sp>
        <p:nvSpPr>
          <p:cNvPr id="11" name="training-unit">
            <a:extLst xmlns:a="http://schemas.openxmlformats.org/drawingml/2006/main">
              <a:ext uri="{FF2B5EF4-FFF2-40B4-BE49-F238E27FC236}">
                <a16:creationId xmlns:a16="http://schemas.microsoft.com/office/drawing/2014/main" id="{44FE9518-C746-4252-8498-6BE62C62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734550"/>
            <a:ext cx="2100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52687D"/>
                </a:solidFill>
              </a:defRPr>
            </a:pPr>
            <a:r>
              <a:rPr sz="3600" b="0">
                <a:solidFill>
                  <a:srgbClr val="52687D"/>
                </a:solidFill>
              </a:rPr>
              <a:t>หน่วยงานที่เข้าฝึก: PSU Esports Studio - Phuket</a:t>
            </a:r>
          </a:p>
        </p:txBody>
      </p:sp>
      <p:sp>
        <p:nvSpPr>
          <p:cNvPr id="12" name="concept-heading">
            <a:extLst xmlns:a="http://schemas.openxmlformats.org/drawingml/2006/main">
              <a:ext uri="{FF2B5EF4-FFF2-40B4-BE49-F238E27FC236}">
                <a16:creationId xmlns:a16="http://schemas.microsoft.com/office/drawing/2014/main" id="{AB454BD4-1E04-4373-A6EF-3BCA339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049000"/>
            <a:ext cx="2743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A2342"/>
                </a:solidFill>
              </a:defRPr>
            </a:pPr>
            <a:r>
              <a:rPr sz="4650" b="1">
                <a:solidFill>
                  <a:srgbClr val="0A2342"/>
                </a:solidFill>
              </a:rPr>
              <a:t>แนวคิดหลัก: ตอบจากหลักฐานก่อนให้โมเดลเรียบเรียง</a:t>
            </a:r>
          </a:p>
        </p:txBody>
      </p:sp>
      <p:sp>
        <p:nvSpPr>
          <p:cNvPr id="13" name="hero-frame">
            <a:extLst xmlns:a="http://schemas.openxmlformats.org/drawingml/2006/main">
              <a:ext uri="{FF2B5EF4-FFF2-40B4-BE49-F238E27FC236}">
                <a16:creationId xmlns:a16="http://schemas.microsoft.com/office/drawing/2014/main" id="{E4F55769-2085-44FB-8FC6-F5BB311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49125"/>
            <a:ext cx="106680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0">
            <a:solidFill>
              <a:srgbClr val="0A2342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b96263a474fb3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" y="12049125"/>
            <a:ext cx="10668000" cy="5334000"/>
          </a:xfrm>
          <a:prstGeom xmlns:a="http://schemas.openxmlformats.org/drawingml/2006/main" prst="rect">
            <a:avLst/>
          </a:prstGeom>
        </p:spPr>
      </p:pic>
      <p:sp>
        <p:nvSpPr>
          <p:cNvPr id="15" name="concept-lead">
            <a:extLst xmlns:a="http://schemas.openxmlformats.org/drawingml/2006/main">
              <a:ext uri="{FF2B5EF4-FFF2-40B4-BE49-F238E27FC236}">
                <a16:creationId xmlns:a16="http://schemas.microsoft.com/office/drawing/2014/main" id="{AF7E84EC-6D09-4275-8FCA-53A6D18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2001500"/>
            <a:ext cx="1600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4F95"/>
                </a:solidFill>
              </a:defRPr>
            </a:pPr>
            <a:r>
              <a:rPr sz="4350" b="1">
                <a:solidFill>
                  <a:srgbClr val="0C4F95"/>
                </a:solidFill>
              </a:rPr>
              <a:t>ผู้ช่วย FAQ สำหรับผู้ใช้เว็บไซต์ PSU Esports</a:t>
            </a:r>
          </a:p>
        </p:txBody>
      </p:sp>
      <p:sp>
        <p:nvSpPr>
          <p:cNvPr id="16" name="concept-body">
            <a:extLst xmlns:a="http://schemas.openxmlformats.org/drawingml/2006/main">
              <a:ext uri="{FF2B5EF4-FFF2-40B4-BE49-F238E27FC236}">
                <a16:creationId xmlns:a16="http://schemas.microsoft.com/office/drawing/2014/main" id="{6F31495A-18D3-42B8-A389-F5B5EE1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2858750"/>
            <a:ext cx="16002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2263A"/>
                </a:solidFill>
              </a:defRPr>
            </a:pPr>
            <a:r>
              <a:rPr sz="3075" b="0">
                <a:solidFill>
                  <a:srgbClr val="12263A"/>
                </a:solidFill>
              </a:rPr>
              <a:t>• เข้าใจคำถามและเลือกเส้นทางตอบที่เหมาะสม</a:t>
            </a:r>
          </a:p>
          <a:p xmlns:a="http://schemas.openxmlformats.org/drawingml/2006/main">
            <a:pPr algn="l">
              <a:defRPr sz="3075" b="0">
                <a:solidFill>
                  <a:srgbClr val="12263A"/>
                </a:solidFill>
              </a:defRPr>
            </a:pPr>
            <a:r>
              <a:rPr sz="3075" b="0">
                <a:solidFill>
                  <a:srgbClr val="12263A"/>
                </a:solidFill>
              </a:rPr>
              <a:t>• ใช้ Fast / Structured กับข้อมูล exact เช่น เกม ราคา และอุปกรณ์</a:t>
            </a:r>
          </a:p>
          <a:p xmlns:a="http://schemas.openxmlformats.org/drawingml/2006/main">
            <a:pPr algn="l">
              <a:defRPr sz="3075" b="0">
                <a:solidFill>
                  <a:srgbClr val="12263A"/>
                </a:solidFill>
              </a:defRPr>
            </a:pPr>
            <a:r>
              <a:rPr sz="3075" b="0">
                <a:solidFill>
                  <a:srgbClr val="12263A"/>
                </a:solidFill>
              </a:rPr>
              <a:t>• ใช้ Semantic RAG ค้นกฎ ข่าว เอกสารยาว และข้อมูลใหม่</a:t>
            </a:r>
          </a:p>
          <a:p xmlns:a="http://schemas.openxmlformats.org/drawingml/2006/main">
            <a:pPr algn="l">
              <a:defRPr sz="3075" b="0">
                <a:solidFill>
                  <a:srgbClr val="12263A"/>
                </a:solidFill>
              </a:defRPr>
            </a:pPr>
            <a:r>
              <a:rPr sz="3075" b="0">
                <a:solidFill>
                  <a:srgbClr val="12263A"/>
                </a:solidFill>
              </a:rPr>
              <a:t>• ใช้ Local LLM แบบ gated เพื่อ review, plan, route และ compose</a:t>
            </a:r>
          </a:p>
          <a:p xmlns:a="http://schemas.openxmlformats.org/drawingml/2006/main">
            <a:pPr algn="l">
              <a:defRPr sz="3075" b="0">
                <a:solidFill>
                  <a:srgbClr val="12263A"/>
                </a:solidFill>
              </a:defRPr>
            </a:pPr>
            <a:r>
              <a:rPr sz="3075" b="0">
                <a:solidFill>
                  <a:srgbClr val="12263A"/>
                </a:solidFill>
              </a:rPr>
              <a:t>• ถ้าหลักฐานไม่พอ ระบบจะถามกลับหรือไม่ตอบแทนการเดา</a:t>
            </a:r>
          </a:p>
        </p:txBody>
      </p:sp>
      <p:sp>
        <p:nvSpPr>
          <p:cNvPr id="17" name="model-pill-bg">
            <a:extLst xmlns:a="http://schemas.openxmlformats.org/drawingml/2006/main">
              <a:ext uri="{FF2B5EF4-FFF2-40B4-BE49-F238E27FC236}">
                <a16:creationId xmlns:a16="http://schemas.microsoft.com/office/drawing/2014/main" id="{8E86D47E-49D8-4A6E-A04C-F3349D8A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6506825"/>
            <a:ext cx="43815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22"/>
          </a:solidFill>
          <a:ln xmlns:a="http://schemas.openxmlformats.org/drawingml/2006/main" w="19050">
            <a:solidFill>
              <a:srgbClr val="E86F22"/>
            </a:solidFill>
            <a:prstDash val="solid"/>
          </a:ln>
        </p:spPr>
      </p:sp>
      <p:sp>
        <p:nvSpPr>
          <p:cNvPr id="18" name="model-pill-text">
            <a:extLst xmlns:a="http://schemas.openxmlformats.org/drawingml/2006/main">
              <a:ext uri="{FF2B5EF4-FFF2-40B4-BE49-F238E27FC236}">
                <a16:creationId xmlns:a16="http://schemas.microsoft.com/office/drawing/2014/main" id="{4BA363DB-C84B-4620-84AD-AB947A7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6554450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Typhoon2.5 Qwen3 4B</a:t>
            </a:r>
          </a:p>
        </p:txBody>
      </p:sp>
      <p:sp>
        <p:nvSpPr>
          <p:cNvPr id="19" name="rag-pill-bg">
            <a:extLst xmlns:a="http://schemas.openxmlformats.org/drawingml/2006/main">
              <a:ext uri="{FF2B5EF4-FFF2-40B4-BE49-F238E27FC236}">
                <a16:creationId xmlns:a16="http://schemas.microsoft.com/office/drawing/2014/main" id="{94D93170-DA49-4A6F-A3AA-8B2F9F0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16506825"/>
            <a:ext cx="3714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8D3"/>
          </a:solidFill>
          <a:ln xmlns:a="http://schemas.openxmlformats.org/drawingml/2006/main" w="19050">
            <a:solidFill>
              <a:srgbClr val="1678D3"/>
            </a:solidFill>
            <a:prstDash val="solid"/>
          </a:ln>
        </p:spPr>
      </p:sp>
      <p:sp>
        <p:nvSpPr>
          <p:cNvPr id="20" name="rag-pill-text">
            <a:extLst xmlns:a="http://schemas.openxmlformats.org/drawingml/2006/main">
              <a:ext uri="{FF2B5EF4-FFF2-40B4-BE49-F238E27FC236}">
                <a16:creationId xmlns:a16="http://schemas.microsoft.com/office/drawing/2014/main" id="{82BE6542-024B-429C-BC19-2A9386CF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050" y="165544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BGE-M3 + Rerank</a:t>
            </a:r>
          </a:p>
        </p:txBody>
      </p:sp>
      <p:sp>
        <p:nvSpPr>
          <p:cNvPr id="21" name="games-pill-bg">
            <a:extLst xmlns:a="http://schemas.openxmlformats.org/drawingml/2006/main">
              <a:ext uri="{FF2B5EF4-FFF2-40B4-BE49-F238E27FC236}">
                <a16:creationId xmlns:a16="http://schemas.microsoft.com/office/drawing/2014/main" id="{9B4472AE-BA72-4891-BE18-97692CE6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16506825"/>
            <a:ext cx="2143125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D76"/>
          </a:solidFill>
          <a:ln xmlns:a="http://schemas.openxmlformats.org/drawingml/2006/main" w="19050">
            <a:solidFill>
              <a:srgbClr val="168D76"/>
            </a:solidFill>
            <a:prstDash val="solid"/>
          </a:ln>
        </p:spPr>
      </p:sp>
      <p:sp>
        <p:nvSpPr>
          <p:cNvPr id="22" name="games-pill-text">
            <a:extLst xmlns:a="http://schemas.openxmlformats.org/drawingml/2006/main">
              <a:ext uri="{FF2B5EF4-FFF2-40B4-BE49-F238E27FC236}">
                <a16:creationId xmlns:a16="http://schemas.microsoft.com/office/drawing/2014/main" id="{E24D26ED-5902-4EBD-A4AD-29CBF31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16554450"/>
            <a:ext cx="1914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42 เกม</a:t>
            </a:r>
          </a:p>
        </p:txBody>
      </p:sp>
      <p:sp>
        <p:nvSpPr>
          <p:cNvPr id="23" name="calls-pill-bg">
            <a:extLst xmlns:a="http://schemas.openxmlformats.org/drawingml/2006/main">
              <a:ext uri="{FF2B5EF4-FFF2-40B4-BE49-F238E27FC236}">
                <a16:creationId xmlns:a16="http://schemas.microsoft.com/office/drawing/2014/main" id="{67C1D65E-D171-4979-B83C-1E87159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25" y="16506825"/>
            <a:ext cx="5191125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CC7"/>
          </a:solidFill>
          <a:ln xmlns:a="http://schemas.openxmlformats.org/drawingml/2006/main" w="19050">
            <a:solidFill>
              <a:srgbClr val="6F5CC7"/>
            </a:solidFill>
            <a:prstDash val="solid"/>
          </a:ln>
        </p:spPr>
      </p:sp>
      <p:sp>
        <p:nvSpPr>
          <p:cNvPr id="24" name="calls-pill-text">
            <a:extLst xmlns:a="http://schemas.openxmlformats.org/drawingml/2006/main">
              <a:ext uri="{FF2B5EF4-FFF2-40B4-BE49-F238E27FC236}">
                <a16:creationId xmlns:a16="http://schemas.microsoft.com/office/drawing/2014/main" id="{977467BD-6DB8-4C41-A5DF-3E3C931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3925" y="16554450"/>
            <a:ext cx="496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LLM &lt;= 2 calls/request</a:t>
            </a:r>
          </a:p>
        </p:txBody>
      </p:sp>
      <p:sp>
        <p:nvSpPr>
          <p:cNvPr id="25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7A252ACA-9E7A-4A91-BADF-24C52840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49875"/>
            <a:ext cx="1524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A2342"/>
                </a:solidFill>
              </a:defRPr>
            </a:pPr>
            <a:r>
              <a:rPr sz="4800" b="1">
                <a:solidFill>
                  <a:srgbClr val="0A2342"/>
                </a:solidFill>
              </a:rPr>
              <a:t>End-to-End Chatbot Flow</a:t>
            </a:r>
          </a:p>
        </p:txBody>
      </p:sp>
      <p:sp>
        <p:nvSpPr>
          <p:cNvPr id="26" name="flow-subtitle">
            <a:extLst xmlns:a="http://schemas.openxmlformats.org/drawingml/2006/main">
              <a:ext uri="{FF2B5EF4-FFF2-40B4-BE49-F238E27FC236}">
                <a16:creationId xmlns:a16="http://schemas.microsoft.com/office/drawing/2014/main" id="{C9C2F071-9748-44FC-B161-87A03EB1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764250"/>
            <a:ext cx="2095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52687D"/>
                </a:solidFill>
              </a:defRPr>
            </a:pPr>
            <a:r>
              <a:rPr sz="3000" b="0">
                <a:solidFill>
                  <a:srgbClr val="52687D"/>
                </a:solidFill>
              </a:rPr>
              <a:t>ทุก request ถูก trace ด้วย Request ID และอยู่ภายใต้ deadline เดียวกัน</a:t>
            </a:r>
          </a:p>
        </p:txBody>
      </p:sp>
      <p:sp>
        <p:nvSpPr>
          <p:cNvPr id="27" name="input-box">
            <a:extLst xmlns:a="http://schemas.openxmlformats.org/drawingml/2006/main">
              <a:ext uri="{FF2B5EF4-FFF2-40B4-BE49-F238E27FC236}">
                <a16:creationId xmlns:a16="http://schemas.microsoft.com/office/drawing/2014/main" id="{65246431-4FB7-4024-B50E-F708699D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73875"/>
            <a:ext cx="8191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28575">
            <a:solidFill>
              <a:srgbClr val="1678D3"/>
            </a:solidFill>
            <a:prstDash val="solid"/>
          </a:ln>
        </p:spPr>
      </p:sp>
      <p:sp>
        <p:nvSpPr>
          <p:cNvPr id="28" name="input-number-bg">
            <a:extLst xmlns:a="http://schemas.openxmlformats.org/drawingml/2006/main">
              <a:ext uri="{FF2B5EF4-FFF2-40B4-BE49-F238E27FC236}">
                <a16:creationId xmlns:a16="http://schemas.microsoft.com/office/drawing/2014/main" id="{577422CD-F303-457B-B3AB-47C94257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831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D3"/>
          </a:solidFill>
          <a:ln xmlns:a="http://schemas.openxmlformats.org/drawingml/2006/main" w="0">
            <a:solidFill>
              <a:srgbClr val="1678D3"/>
            </a:solidFill>
            <a:prstDash val="solid"/>
          </a:ln>
        </p:spPr>
      </p:sp>
      <p:sp>
        <p:nvSpPr>
          <p:cNvPr id="29" name="input-number">
            <a:extLst xmlns:a="http://schemas.openxmlformats.org/drawingml/2006/main">
              <a:ext uri="{FF2B5EF4-FFF2-40B4-BE49-F238E27FC236}">
                <a16:creationId xmlns:a16="http://schemas.microsoft.com/office/drawing/2014/main" id="{77DB6110-02AF-4FCB-BAFD-086B573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8691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input-title">
            <a:extLst xmlns:a="http://schemas.openxmlformats.org/drawingml/2006/main">
              <a:ext uri="{FF2B5EF4-FFF2-40B4-BE49-F238E27FC236}">
                <a16:creationId xmlns:a16="http://schemas.microsoft.com/office/drawing/2014/main" id="{4FC91241-1083-4AE9-B04A-BD85482A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764375"/>
            <a:ext cx="689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Web Chat + API</a:t>
            </a:r>
          </a:p>
        </p:txBody>
      </p:sp>
      <p:sp>
        <p:nvSpPr>
          <p:cNvPr id="31" name="input-detail">
            <a:extLst xmlns:a="http://schemas.openxmlformats.org/drawingml/2006/main">
              <a:ext uri="{FF2B5EF4-FFF2-40B4-BE49-F238E27FC236}">
                <a16:creationId xmlns:a16="http://schemas.microsoft.com/office/drawing/2014/main" id="{9A9771A5-4183-4E79-89AB-2CC56FB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459700"/>
            <a:ext cx="7734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รับข้อความ, session_id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สร้าง Request ID + Deadline</a:t>
            </a:r>
          </a:p>
        </p:txBody>
      </p:sp>
      <p:sp>
        <p:nvSpPr>
          <p:cNvPr id="32" name="context-box">
            <a:extLst xmlns:a="http://schemas.openxmlformats.org/drawingml/2006/main">
              <a:ext uri="{FF2B5EF4-FFF2-40B4-BE49-F238E27FC236}">
                <a16:creationId xmlns:a16="http://schemas.microsoft.com/office/drawing/2014/main" id="{08B1D6C8-47C9-4987-8C11-DCD04F2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19573875"/>
            <a:ext cx="8191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28575">
            <a:solidFill>
              <a:srgbClr val="6F5CC7"/>
            </a:solidFill>
            <a:prstDash val="solid"/>
          </a:ln>
        </p:spPr>
      </p:sp>
      <p:sp>
        <p:nvSpPr>
          <p:cNvPr id="33" name="context-number-bg">
            <a:extLst xmlns:a="http://schemas.openxmlformats.org/drawingml/2006/main">
              <a:ext uri="{FF2B5EF4-FFF2-40B4-BE49-F238E27FC236}">
                <a16:creationId xmlns:a16="http://schemas.microsoft.com/office/drawing/2014/main" id="{C0793E41-9AE7-4756-B88C-B6917377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9831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CC7"/>
          </a:solidFill>
          <a:ln xmlns:a="http://schemas.openxmlformats.org/drawingml/2006/main" w="0">
            <a:solidFill>
              <a:srgbClr val="6F5CC7"/>
            </a:solidFill>
            <a:prstDash val="solid"/>
          </a:ln>
        </p:spPr>
      </p:sp>
      <p:sp>
        <p:nvSpPr>
          <p:cNvPr id="34" name="context-number">
            <a:extLst xmlns:a="http://schemas.openxmlformats.org/drawingml/2006/main">
              <a:ext uri="{FF2B5EF4-FFF2-40B4-BE49-F238E27FC236}">
                <a16:creationId xmlns:a16="http://schemas.microsoft.com/office/drawing/2014/main" id="{69DE1F35-9EFD-4B63-8E36-F42F644B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98691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context-title">
            <a:extLst xmlns:a="http://schemas.openxmlformats.org/drawingml/2006/main">
              <a:ext uri="{FF2B5EF4-FFF2-40B4-BE49-F238E27FC236}">
                <a16:creationId xmlns:a16="http://schemas.microsoft.com/office/drawing/2014/main" id="{EA7146AA-E2FA-4DF9-8A99-61ED103F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19764375"/>
            <a:ext cx="689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Context + Complexity</a:t>
            </a:r>
          </a:p>
        </p:txBody>
      </p:sp>
      <p:sp>
        <p:nvSpPr>
          <p:cNvPr id="36" name="context-detail">
            <a:extLst xmlns:a="http://schemas.openxmlformats.org/drawingml/2006/main">
              <a:ext uri="{FF2B5EF4-FFF2-40B4-BE49-F238E27FC236}">
                <a16:creationId xmlns:a16="http://schemas.microsoft.com/office/drawing/2014/main" id="{D02FDBE3-A6B1-410B-9A32-99B6C8DC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0459700"/>
            <a:ext cx="7734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อ่าน history, แก้คำอ้างอิง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Split Multi-question + Gate</a:t>
            </a:r>
          </a:p>
        </p:txBody>
      </p:sp>
      <p:sp>
        <p:nvSpPr>
          <p:cNvPr id="37" name="understand-box">
            <a:extLst xmlns:a="http://schemas.openxmlformats.org/drawingml/2006/main">
              <a:ext uri="{FF2B5EF4-FFF2-40B4-BE49-F238E27FC236}">
                <a16:creationId xmlns:a16="http://schemas.microsoft.com/office/drawing/2014/main" id="{791A6747-C7DB-42FE-A74B-786D5D43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19573875"/>
            <a:ext cx="8191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28575">
            <a:solidFill>
              <a:srgbClr val="E86F22"/>
            </a:solidFill>
            <a:prstDash val="solid"/>
          </a:ln>
        </p:spPr>
      </p:sp>
      <p:sp>
        <p:nvSpPr>
          <p:cNvPr id="38" name="understand-number-bg">
            <a:extLst xmlns:a="http://schemas.openxmlformats.org/drawingml/2006/main">
              <a:ext uri="{FF2B5EF4-FFF2-40B4-BE49-F238E27FC236}">
                <a16:creationId xmlns:a16="http://schemas.microsoft.com/office/drawing/2014/main" id="{4D20888F-E3D0-4B10-99B2-339154E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19831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22"/>
          </a:solidFill>
          <a:ln xmlns:a="http://schemas.openxmlformats.org/drawingml/2006/main" w="0">
            <a:solidFill>
              <a:srgbClr val="E86F22"/>
            </a:solidFill>
            <a:prstDash val="solid"/>
          </a:ln>
        </p:spPr>
      </p:sp>
      <p:sp>
        <p:nvSpPr>
          <p:cNvPr id="39" name="understand-number">
            <a:extLst xmlns:a="http://schemas.openxmlformats.org/drawingml/2006/main">
              <a:ext uri="{FF2B5EF4-FFF2-40B4-BE49-F238E27FC236}">
                <a16:creationId xmlns:a16="http://schemas.microsoft.com/office/drawing/2014/main" id="{272774D9-467E-46D5-B9B2-7936D8C2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198691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understand-title">
            <a:extLst xmlns:a="http://schemas.openxmlformats.org/drawingml/2006/main">
              <a:ext uri="{FF2B5EF4-FFF2-40B4-BE49-F238E27FC236}">
                <a16:creationId xmlns:a16="http://schemas.microsoft.com/office/drawing/2014/main" id="{8116C95F-83EA-475C-8628-D9AF43BA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19764375"/>
            <a:ext cx="689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Understand</a:t>
            </a:r>
          </a:p>
        </p:txBody>
      </p:sp>
      <p:sp>
        <p:nvSpPr>
          <p:cNvPr id="41" name="understand-detail">
            <a:extLst xmlns:a="http://schemas.openxmlformats.org/drawingml/2006/main">
              <a:ext uri="{FF2B5EF4-FFF2-40B4-BE49-F238E27FC236}">
                <a16:creationId xmlns:a16="http://schemas.microsoft.com/office/drawing/2014/main" id="{4364F8AB-FAB2-437E-AAAB-34992328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20459700"/>
            <a:ext cx="7734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Normalize + Entity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Boundary / Ambiguity / Intent</a:t>
            </a:r>
          </a:p>
        </p:txBody>
      </p:sp>
      <p:cxnSp>
        <p:nvCxnSpPr>
          <p:cNvPr id="174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620250" y="20431125"/>
            <a:ext cx="14192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8E6"/>
            </a:solidFill>
            <a:prstDash val="solid"/>
            <a:tailEnd type="arrow" w="med" len="med"/>
          </a:ln>
        </p:spPr>
      </p:cxnSp>
      <p:cxnSp>
        <p:nvCxnSpPr>
          <p:cNvPr id="175" name=""/>
          <p:cNvCxnSpPr>
            <a:stCxn xmlns:a="http://schemas.openxmlformats.org/drawingml/2006/main" id="32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9230975" y="20431125"/>
            <a:ext cx="14192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8E6"/>
            </a:solidFill>
            <a:prstDash val="solid"/>
            <a:tailEnd type="arrow" w="med" len="med"/>
          </a:ln>
        </p:spPr>
      </p:cxnSp>
      <p:sp>
        <p:nvSpPr>
          <p:cNvPr id="44" name="score-box">
            <a:extLst xmlns:a="http://schemas.openxmlformats.org/drawingml/2006/main">
              <a:ext uri="{FF2B5EF4-FFF2-40B4-BE49-F238E27FC236}">
                <a16:creationId xmlns:a16="http://schemas.microsoft.com/office/drawing/2014/main" id="{89F9999B-E8CF-4D73-BD5D-274F2AD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145625"/>
            <a:ext cx="8572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FAFD"/>
          </a:solidFill>
          <a:ln xmlns:a="http://schemas.openxmlformats.org/drawingml/2006/main" w="28575">
            <a:solidFill>
              <a:srgbClr val="12A7C7"/>
            </a:solidFill>
            <a:prstDash val="solid"/>
          </a:ln>
        </p:spPr>
      </p:sp>
      <p:sp>
        <p:nvSpPr>
          <p:cNvPr id="45" name="score-number-bg">
            <a:extLst xmlns:a="http://schemas.openxmlformats.org/drawingml/2006/main">
              <a:ext uri="{FF2B5EF4-FFF2-40B4-BE49-F238E27FC236}">
                <a16:creationId xmlns:a16="http://schemas.microsoft.com/office/drawing/2014/main" id="{D1FE9258-4182-457F-B6DE-E77F539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028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C7"/>
          </a:solidFill>
          <a:ln xmlns:a="http://schemas.openxmlformats.org/drawingml/2006/main" w="0">
            <a:solidFill>
              <a:srgbClr val="12A7C7"/>
            </a:solidFill>
            <a:prstDash val="solid"/>
          </a:ln>
        </p:spPr>
      </p:sp>
      <p:sp>
        <p:nvSpPr>
          <p:cNvPr id="46" name="score-number">
            <a:extLst xmlns:a="http://schemas.openxmlformats.org/drawingml/2006/main">
              <a:ext uri="{FF2B5EF4-FFF2-40B4-BE49-F238E27FC236}">
                <a16:creationId xmlns:a16="http://schemas.microsoft.com/office/drawing/2014/main" id="{42EA3BB5-112E-45E8-B283-AC37135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4090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score-title">
            <a:extLst xmlns:a="http://schemas.openxmlformats.org/drawingml/2006/main">
              <a:ext uri="{FF2B5EF4-FFF2-40B4-BE49-F238E27FC236}">
                <a16:creationId xmlns:a16="http://schemas.microsoft.com/office/drawing/2014/main" id="{74F7CB8E-E4D4-48D0-BE79-29278F0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36125"/>
            <a:ext cx="727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Frame + Score + Preconditions</a:t>
            </a:r>
          </a:p>
        </p:txBody>
      </p:sp>
      <p:sp>
        <p:nvSpPr>
          <p:cNvPr id="48" name="score-detail">
            <a:extLst xmlns:a="http://schemas.openxmlformats.org/drawingml/2006/main">
              <a:ext uri="{FF2B5EF4-FFF2-40B4-BE49-F238E27FC236}">
                <a16:creationId xmlns:a16="http://schemas.microsoft.com/office/drawing/2014/main" id="{09D004E2-56A3-49B2-B33D-A01E7D8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31450"/>
            <a:ext cx="811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สรุป intent/target/source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ให้คะแนน candidate และตรวจเงื่อนไข tool</a:t>
            </a:r>
          </a:p>
        </p:txBody>
      </p:sp>
      <p:sp>
        <p:nvSpPr>
          <p:cNvPr id="49" name="select-box">
            <a:extLst xmlns:a="http://schemas.openxmlformats.org/drawingml/2006/main">
              <a:ext uri="{FF2B5EF4-FFF2-40B4-BE49-F238E27FC236}">
                <a16:creationId xmlns:a16="http://schemas.microsoft.com/office/drawing/2014/main" id="{D8F21852-B910-4E82-8C9A-32085E3D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2145625"/>
            <a:ext cx="8572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28575">
            <a:solidFill>
              <a:srgbClr val="168D76"/>
            </a:solidFill>
            <a:prstDash val="solid"/>
          </a:ln>
        </p:spPr>
      </p:sp>
      <p:sp>
        <p:nvSpPr>
          <p:cNvPr id="50" name="select-number-bg">
            <a:extLst xmlns:a="http://schemas.openxmlformats.org/drawingml/2006/main">
              <a:ext uri="{FF2B5EF4-FFF2-40B4-BE49-F238E27FC236}">
                <a16:creationId xmlns:a16="http://schemas.microsoft.com/office/drawing/2014/main" id="{1782E88E-02A8-41BD-A48F-87089D8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24028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D76"/>
          </a:solidFill>
          <a:ln xmlns:a="http://schemas.openxmlformats.org/drawingml/2006/main" w="0">
            <a:solidFill>
              <a:srgbClr val="168D76"/>
            </a:solidFill>
            <a:prstDash val="solid"/>
          </a:ln>
        </p:spPr>
      </p:sp>
      <p:sp>
        <p:nvSpPr>
          <p:cNvPr id="51" name="select-number">
            <a:extLst xmlns:a="http://schemas.openxmlformats.org/drawingml/2006/main">
              <a:ext uri="{FF2B5EF4-FFF2-40B4-BE49-F238E27FC236}">
                <a16:creationId xmlns:a16="http://schemas.microsoft.com/office/drawing/2014/main" id="{C327C86F-3BA7-43A7-B176-7EC799CA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244090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2" name="select-title">
            <a:extLst xmlns:a="http://schemas.openxmlformats.org/drawingml/2006/main">
              <a:ext uri="{FF2B5EF4-FFF2-40B4-BE49-F238E27FC236}">
                <a16:creationId xmlns:a16="http://schemas.microsoft.com/office/drawing/2014/main" id="{D6C80BB7-AE64-49AA-AAD5-3FC665C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22336125"/>
            <a:ext cx="727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Execution Path Selection</a:t>
            </a:r>
          </a:p>
        </p:txBody>
      </p:sp>
      <p:sp>
        <p:nvSpPr>
          <p:cNvPr id="53" name="select-detail">
            <a:extLst xmlns:a="http://schemas.openxmlformats.org/drawingml/2006/main">
              <a:ext uri="{FF2B5EF4-FFF2-40B4-BE49-F238E27FC236}">
                <a16:creationId xmlns:a16="http://schemas.microsoft.com/office/drawing/2014/main" id="{DC38A907-384D-4885-8CBC-12FD1B8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3031450"/>
            <a:ext cx="811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เลือก path จาก score, policy, evidence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และเวลาที่เหลือใน request</a:t>
            </a:r>
          </a:p>
        </p:txBody>
      </p:sp>
      <p:cxnSp>
        <p:nvCxnSpPr>
          <p:cNvPr id="186" name=""/>
          <p:cNvCxnSpPr>
            <a:stCxn xmlns:a="http://schemas.openxmlformats.org/drawingml/2006/main" id="37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10477500" y="21288375"/>
            <a:ext cx="142684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E86F22"/>
            </a:solidFill>
            <a:prstDash val="solid"/>
            <a:tailEnd type="arrow" w="med" len="med"/>
          </a:ln>
        </p:spPr>
      </p:cxnSp>
      <p:cxnSp>
        <p:nvCxnSpPr>
          <p:cNvPr id="187" name=""/>
          <p:cNvCxnSpPr>
            <a:stCxn xmlns:a="http://schemas.openxmlformats.org/drawingml/2006/main" id="44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4763750" y="23026688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A7C7"/>
            </a:solidFill>
            <a:prstDash val="solid"/>
            <a:tailEnd type="arrow" w="med" len="med"/>
          </a:ln>
        </p:spPr>
      </p:cxnSp>
      <p:sp>
        <p:nvSpPr>
          <p:cNvPr id="56" name="fast-box">
            <a:extLst xmlns:a="http://schemas.openxmlformats.org/drawingml/2006/main">
              <a:ext uri="{FF2B5EF4-FFF2-40B4-BE49-F238E27FC236}">
                <a16:creationId xmlns:a16="http://schemas.microsoft.com/office/drawing/2014/main" id="{ABE95A70-5861-4BD3-B840-F6B2966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0"/>
            <a:ext cx="8382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28575">
            <a:solidFill>
              <a:srgbClr val="168D76"/>
            </a:solidFill>
            <a:prstDash val="solid"/>
          </a:ln>
        </p:spPr>
      </p:sp>
      <p:sp>
        <p:nvSpPr>
          <p:cNvPr id="57" name="fast-number-bg">
            <a:extLst xmlns:a="http://schemas.openxmlformats.org/drawingml/2006/main">
              <a:ext uri="{FF2B5EF4-FFF2-40B4-BE49-F238E27FC236}">
                <a16:creationId xmlns:a16="http://schemas.microsoft.com/office/drawing/2014/main" id="{F49A53AC-30DF-4DF5-A63E-97A709C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831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D76"/>
          </a:solidFill>
          <a:ln xmlns:a="http://schemas.openxmlformats.org/drawingml/2006/main" w="0">
            <a:solidFill>
              <a:srgbClr val="168D76"/>
            </a:solidFill>
            <a:prstDash val="solid"/>
          </a:ln>
        </p:spPr>
      </p:sp>
      <p:sp>
        <p:nvSpPr>
          <p:cNvPr id="58" name="fast-number">
            <a:extLst xmlns:a="http://schemas.openxmlformats.org/drawingml/2006/main">
              <a:ext uri="{FF2B5EF4-FFF2-40B4-BE49-F238E27FC236}">
                <a16:creationId xmlns:a16="http://schemas.microsoft.com/office/drawing/2014/main" id="{66C33BBF-EE57-4BAA-BD4E-FE66DFB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86977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9" name="fast-title">
            <a:extLst xmlns:a="http://schemas.openxmlformats.org/drawingml/2006/main">
              <a:ext uri="{FF2B5EF4-FFF2-40B4-BE49-F238E27FC236}">
                <a16:creationId xmlns:a16="http://schemas.microsoft.com/office/drawing/2014/main" id="{9F8AF684-FC11-4D5F-B78D-671E532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0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Fast / Structured</a:t>
            </a:r>
          </a:p>
        </p:txBody>
      </p:sp>
      <p:sp>
        <p:nvSpPr>
          <p:cNvPr id="60" name="fast-detail">
            <a:extLst xmlns:a="http://schemas.openxmlformats.org/drawingml/2006/main">
              <a:ext uri="{FF2B5EF4-FFF2-40B4-BE49-F238E27FC236}">
                <a16:creationId xmlns:a16="http://schemas.microsoft.com/office/drawing/2014/main" id="{8366EBB3-846E-4C70-BA35-4BF51F8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460325"/>
            <a:ext cx="7924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ข้อมูล exact และ deterministic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เกม ราคา เวลา อุปกรณ์ และ FAQ</a:t>
            </a:r>
          </a:p>
        </p:txBody>
      </p:sp>
      <p:sp>
        <p:nvSpPr>
          <p:cNvPr id="61" name="rag-box">
            <a:extLst xmlns:a="http://schemas.openxmlformats.org/drawingml/2006/main">
              <a:ext uri="{FF2B5EF4-FFF2-40B4-BE49-F238E27FC236}">
                <a16:creationId xmlns:a16="http://schemas.microsoft.com/office/drawing/2014/main" id="{D7DD8353-A12F-4447-AA4D-2A0D7CE3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4574500"/>
            <a:ext cx="8382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28575">
            <a:solidFill>
              <a:srgbClr val="1678D3"/>
            </a:solidFill>
            <a:prstDash val="solid"/>
          </a:ln>
        </p:spPr>
      </p:sp>
      <p:sp>
        <p:nvSpPr>
          <p:cNvPr id="62" name="rag-number-bg">
            <a:extLst xmlns:a="http://schemas.openxmlformats.org/drawingml/2006/main">
              <a:ext uri="{FF2B5EF4-FFF2-40B4-BE49-F238E27FC236}">
                <a16:creationId xmlns:a16="http://schemas.microsoft.com/office/drawing/2014/main" id="{E7E91EA4-1806-483D-98C6-1DC34D5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4831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D3"/>
          </a:solidFill>
          <a:ln xmlns:a="http://schemas.openxmlformats.org/drawingml/2006/main" w="0">
            <a:solidFill>
              <a:srgbClr val="1678D3"/>
            </a:solidFill>
            <a:prstDash val="solid"/>
          </a:ln>
        </p:spPr>
      </p:sp>
      <p:sp>
        <p:nvSpPr>
          <p:cNvPr id="63" name="rag-number">
            <a:extLst xmlns:a="http://schemas.openxmlformats.org/drawingml/2006/main">
              <a:ext uri="{FF2B5EF4-FFF2-40B4-BE49-F238E27FC236}">
                <a16:creationId xmlns:a16="http://schemas.microsoft.com/office/drawing/2014/main" id="{436D22A2-5CD5-4BAD-BE9F-C04B2EA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486977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4" name="rag-title">
            <a:extLst xmlns:a="http://schemas.openxmlformats.org/drawingml/2006/main">
              <a:ext uri="{FF2B5EF4-FFF2-40B4-BE49-F238E27FC236}">
                <a16:creationId xmlns:a16="http://schemas.microsoft.com/office/drawing/2014/main" id="{9E46B4D6-7C0B-4FB1-8AB6-F7B77187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4765000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Semantic RAG</a:t>
            </a:r>
          </a:p>
        </p:txBody>
      </p:sp>
      <p:sp>
        <p:nvSpPr>
          <p:cNvPr id="65" name="rag-detail">
            <a:extLst xmlns:a="http://schemas.openxmlformats.org/drawingml/2006/main">
              <a:ext uri="{FF2B5EF4-FFF2-40B4-BE49-F238E27FC236}">
                <a16:creationId xmlns:a16="http://schemas.microsoft.com/office/drawing/2014/main" id="{8A4424EE-961A-426D-94ED-13537022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460325"/>
            <a:ext cx="7924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BGE Retrieval + Optional Rerank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ค้น evidence จากเอกสารและข้อมูลใหม่</a:t>
            </a:r>
          </a:p>
        </p:txBody>
      </p:sp>
      <p:sp>
        <p:nvSpPr>
          <p:cNvPr id="66" name="safe-box">
            <a:extLst xmlns:a="http://schemas.openxmlformats.org/drawingml/2006/main">
              <a:ext uri="{FF2B5EF4-FFF2-40B4-BE49-F238E27FC236}">
                <a16:creationId xmlns:a16="http://schemas.microsoft.com/office/drawing/2014/main" id="{EBBAEFA0-7F17-404D-A913-353DD36C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24574500"/>
            <a:ext cx="8382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85A"/>
            </a:solidFill>
            <a:prstDash val="solid"/>
          </a:ln>
        </p:spPr>
      </p:sp>
      <p:sp>
        <p:nvSpPr>
          <p:cNvPr id="67" name="safe-number-bg">
            <a:extLst xmlns:a="http://schemas.openxmlformats.org/drawingml/2006/main">
              <a:ext uri="{FF2B5EF4-FFF2-40B4-BE49-F238E27FC236}">
                <a16:creationId xmlns:a16="http://schemas.microsoft.com/office/drawing/2014/main" id="{4D61352F-9F07-43BB-92FA-8D76D3B4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8300" y="24831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485A"/>
          </a:solidFill>
          <a:ln xmlns:a="http://schemas.openxmlformats.org/drawingml/2006/main" w="0">
            <a:solidFill>
              <a:srgbClr val="C6485A"/>
            </a:solidFill>
            <a:prstDash val="solid"/>
          </a:ln>
        </p:spPr>
      </p:sp>
      <p:sp>
        <p:nvSpPr>
          <p:cNvPr id="68" name="safe-number">
            <a:extLst xmlns:a="http://schemas.openxmlformats.org/drawingml/2006/main">
              <a:ext uri="{FF2B5EF4-FFF2-40B4-BE49-F238E27FC236}">
                <a16:creationId xmlns:a16="http://schemas.microsoft.com/office/drawing/2014/main" id="{E2C27E10-9683-4BCE-B9E5-D6D1A880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8300" y="2486977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9" name="safe-title">
            <a:extLst xmlns:a="http://schemas.openxmlformats.org/drawingml/2006/main">
              <a:ext uri="{FF2B5EF4-FFF2-40B4-BE49-F238E27FC236}">
                <a16:creationId xmlns:a16="http://schemas.microsoft.com/office/drawing/2014/main" id="{FA9D6B7D-3CEE-4023-BA4B-C1C10EE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4765000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Safe Outcome</a:t>
            </a:r>
          </a:p>
        </p:txBody>
      </p:sp>
      <p:sp>
        <p:nvSpPr>
          <p:cNvPr id="70" name="safe-detail">
            <a:extLst xmlns:a="http://schemas.openxmlformats.org/drawingml/2006/main">
              <a:ext uri="{FF2B5EF4-FFF2-40B4-BE49-F238E27FC236}">
                <a16:creationId xmlns:a16="http://schemas.microsoft.com/office/drawing/2014/main" id="{3C1C423A-1512-4142-9A05-DE1F9DAF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8300" y="25460325"/>
            <a:ext cx="7924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ข้อมูลไม่พอหรือ target กำกวม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Clarification / No-answer</a:t>
            </a:r>
          </a:p>
        </p:txBody>
      </p:sp>
      <p:cxnSp>
        <p:nvCxnSpPr>
          <p:cNvPr id="203" name=""/>
          <p:cNvCxnSpPr>
            <a:stCxn xmlns:a="http://schemas.openxmlformats.org/drawingml/2006/main" id="49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5619750" y="23907750"/>
            <a:ext cx="147637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68D76"/>
            </a:solidFill>
            <a:prstDash val="solid"/>
            <a:tailEnd type="arrow" w="med" len="med"/>
          </a:ln>
        </p:spPr>
      </p:cxnSp>
      <p:cxnSp>
        <p:nvCxnSpPr>
          <p:cNvPr id="204" name=""/>
          <p:cNvCxnSpPr>
            <a:stCxn xmlns:a="http://schemas.openxmlformats.org/drawingml/2006/main" id="49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 flipH="1">
            <a:off x="15135225" y="23907750"/>
            <a:ext cx="52482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678D3"/>
            </a:solidFill>
            <a:prstDash val="solid"/>
            <a:tailEnd type="arrow" w="med" len="med"/>
          </a:ln>
        </p:spPr>
      </p:cxnSp>
      <p:cxnSp>
        <p:nvCxnSpPr>
          <p:cNvPr id="205" name=""/>
          <p:cNvCxnSpPr>
            <a:stCxn xmlns:a="http://schemas.openxmlformats.org/drawingml/2006/main" id="49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20383500" y="23907750"/>
            <a:ext cx="42672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85A"/>
            </a:solidFill>
            <a:prstDash val="solid"/>
            <a:tailEnd type="arrow" w="med" len="med"/>
          </a:ln>
        </p:spPr>
      </p:cxnSp>
      <p:sp>
        <p:nvSpPr>
          <p:cNvPr id="74" name="evidence-box">
            <a:extLst xmlns:a="http://schemas.openxmlformats.org/drawingml/2006/main">
              <a:ext uri="{FF2B5EF4-FFF2-40B4-BE49-F238E27FC236}">
                <a16:creationId xmlns:a16="http://schemas.microsoft.com/office/drawing/2014/main" id="{BD13572E-D928-47D3-A0A7-5E58E93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384375"/>
            <a:ext cx="8382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8D76"/>
            </a:solidFill>
            <a:prstDash val="solid"/>
          </a:ln>
        </p:spPr>
      </p:sp>
      <p:sp>
        <p:nvSpPr>
          <p:cNvPr id="75" name="evidence-number-bg">
            <a:extLst xmlns:a="http://schemas.openxmlformats.org/drawingml/2006/main">
              <a:ext uri="{FF2B5EF4-FFF2-40B4-BE49-F238E27FC236}">
                <a16:creationId xmlns:a16="http://schemas.microsoft.com/office/drawing/2014/main" id="{D33D0F75-086B-4A7B-AF0D-B5F50974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415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D76"/>
          </a:solidFill>
          <a:ln xmlns:a="http://schemas.openxmlformats.org/drawingml/2006/main" w="0">
            <a:solidFill>
              <a:srgbClr val="168D76"/>
            </a:solidFill>
            <a:prstDash val="solid"/>
          </a:ln>
        </p:spPr>
      </p:sp>
      <p:sp>
        <p:nvSpPr>
          <p:cNvPr id="76" name="evidence-number">
            <a:extLst xmlns:a="http://schemas.openxmlformats.org/drawingml/2006/main">
              <a:ext uri="{FF2B5EF4-FFF2-40B4-BE49-F238E27FC236}">
                <a16:creationId xmlns:a16="http://schemas.microsoft.com/office/drawing/2014/main" id="{FF1471CD-C783-4043-83DF-87B1AE9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796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31D10351-9EF7-42DB-B1EC-5F155A28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574875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Evidence + Draft</a:t>
            </a:r>
          </a:p>
        </p:txBody>
      </p:sp>
      <p:sp>
        <p:nvSpPr>
          <p:cNvPr id="78" name="evidence-detail">
            <a:extLst xmlns:a="http://schemas.openxmlformats.org/drawingml/2006/main">
              <a:ext uri="{FF2B5EF4-FFF2-40B4-BE49-F238E27FC236}">
                <a16:creationId xmlns:a16="http://schemas.microsoft.com/office/drawing/2014/main" id="{4D37A03E-2FEE-4CB2-AACA-A6EA2A4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70200"/>
            <a:ext cx="7924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รวบรวมหลักฐานและคำตอบตั้งต้น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Draft ผ่าน Validation ได้แม้ไม่เรียก LLM</a:t>
            </a:r>
          </a:p>
        </p:txBody>
      </p:sp>
      <p:sp>
        <p:nvSpPr>
          <p:cNvPr id="79" name="llm-box">
            <a:extLst xmlns:a="http://schemas.openxmlformats.org/drawingml/2006/main">
              <a:ext uri="{FF2B5EF4-FFF2-40B4-BE49-F238E27FC236}">
                <a16:creationId xmlns:a16="http://schemas.microsoft.com/office/drawing/2014/main" id="{89EFC95A-F54E-4571-8120-F4259A46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7384375"/>
            <a:ext cx="8382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28575">
            <a:solidFill>
              <a:srgbClr val="E86F22"/>
            </a:solidFill>
            <a:prstDash val="solid"/>
          </a:ln>
        </p:spPr>
      </p:sp>
      <p:sp>
        <p:nvSpPr>
          <p:cNvPr id="80" name="llm-number-bg">
            <a:extLst xmlns:a="http://schemas.openxmlformats.org/drawingml/2006/main">
              <a:ext uri="{FF2B5EF4-FFF2-40B4-BE49-F238E27FC236}">
                <a16:creationId xmlns:a16="http://schemas.microsoft.com/office/drawing/2014/main" id="{7D01E7DA-567C-4DF7-81D0-2F1FD64B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76415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22"/>
          </a:solidFill>
          <a:ln xmlns:a="http://schemas.openxmlformats.org/drawingml/2006/main" w="0">
            <a:solidFill>
              <a:srgbClr val="E86F22"/>
            </a:solidFill>
            <a:prstDash val="solid"/>
          </a:ln>
        </p:spPr>
      </p:sp>
      <p:sp>
        <p:nvSpPr>
          <p:cNvPr id="81" name="llm-number">
            <a:extLst xmlns:a="http://schemas.openxmlformats.org/drawingml/2006/main">
              <a:ext uri="{FF2B5EF4-FFF2-40B4-BE49-F238E27FC236}">
                <a16:creationId xmlns:a16="http://schemas.microsoft.com/office/drawing/2014/main" id="{54E61379-D7FF-4677-844D-2481167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76796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2" name="llm-title">
            <a:extLst xmlns:a="http://schemas.openxmlformats.org/drawingml/2006/main">
              <a:ext uri="{FF2B5EF4-FFF2-40B4-BE49-F238E27FC236}">
                <a16:creationId xmlns:a16="http://schemas.microsoft.com/office/drawing/2014/main" id="{62476607-6730-4B23-B8F0-1104C874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7574875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Optional Local LLM</a:t>
            </a:r>
          </a:p>
        </p:txBody>
      </p:sp>
      <p:sp>
        <p:nvSpPr>
          <p:cNvPr id="83" name="llm-detail">
            <a:extLst xmlns:a="http://schemas.openxmlformats.org/drawingml/2006/main">
              <a:ext uri="{FF2B5EF4-FFF2-40B4-BE49-F238E27FC236}">
                <a16:creationId xmlns:a16="http://schemas.microsoft.com/office/drawing/2014/main" id="{99786D34-D47E-4DF7-8A03-B9210C89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8270200"/>
            <a:ext cx="7924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Intent Review / Query Planner / Tool Router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Composer ห้ามเพิ่ม fact นอก Evidence</a:t>
            </a:r>
          </a:p>
        </p:txBody>
      </p:sp>
      <p:sp>
        <p:nvSpPr>
          <p:cNvPr id="84" name="validate-box">
            <a:extLst xmlns:a="http://schemas.openxmlformats.org/drawingml/2006/main">
              <a:ext uri="{FF2B5EF4-FFF2-40B4-BE49-F238E27FC236}">
                <a16:creationId xmlns:a16="http://schemas.microsoft.com/office/drawing/2014/main" id="{22E775D8-7B9E-4584-9CA5-D3562264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27384375"/>
            <a:ext cx="8382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85A"/>
            </a:solidFill>
            <a:prstDash val="solid"/>
          </a:ln>
        </p:spPr>
      </p:sp>
      <p:sp>
        <p:nvSpPr>
          <p:cNvPr id="85" name="validate-number-bg">
            <a:extLst xmlns:a="http://schemas.openxmlformats.org/drawingml/2006/main">
              <a:ext uri="{FF2B5EF4-FFF2-40B4-BE49-F238E27FC236}">
                <a16:creationId xmlns:a16="http://schemas.microsoft.com/office/drawing/2014/main" id="{50AA078D-3A8A-4E4D-B2F6-F0F22BC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8300" y="276415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485A"/>
          </a:solidFill>
          <a:ln xmlns:a="http://schemas.openxmlformats.org/drawingml/2006/main" w="0">
            <a:solidFill>
              <a:srgbClr val="C6485A"/>
            </a:solidFill>
            <a:prstDash val="solid"/>
          </a:ln>
        </p:spPr>
      </p:sp>
      <p:sp>
        <p:nvSpPr>
          <p:cNvPr id="86" name="validate-number">
            <a:extLst xmlns:a="http://schemas.openxmlformats.org/drawingml/2006/main">
              <a:ext uri="{FF2B5EF4-FFF2-40B4-BE49-F238E27FC236}">
                <a16:creationId xmlns:a16="http://schemas.microsoft.com/office/drawing/2014/main" id="{201E27E7-CABC-4A07-83A8-28EF1319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8300" y="276796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7" name="validate-title">
            <a:extLst xmlns:a="http://schemas.openxmlformats.org/drawingml/2006/main">
              <a:ext uri="{FF2B5EF4-FFF2-40B4-BE49-F238E27FC236}">
                <a16:creationId xmlns:a16="http://schemas.microsoft.com/office/drawing/2014/main" id="{9795CE3F-4EC0-41BA-B0EB-67F7A4D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7574875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Validate + Repair + Veto</a:t>
            </a:r>
          </a:p>
        </p:txBody>
      </p:sp>
      <p:sp>
        <p:nvSpPr>
          <p:cNvPr id="88" name="validate-detail">
            <a:extLst xmlns:a="http://schemas.openxmlformats.org/drawingml/2006/main">
              <a:ext uri="{FF2B5EF4-FFF2-40B4-BE49-F238E27FC236}">
                <a16:creationId xmlns:a16="http://schemas.microsoft.com/office/drawing/2014/main" id="{6902240D-D8FD-4CAA-AF8B-C8845369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8300" y="28270200"/>
            <a:ext cx="7924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ตรวจ target, claim, source และ contract</a:t>
            </a:r>
          </a:p>
          <a:p xmlns:a="http://schemas.openxmlformats.org/drawingml/2006/main">
            <a:pPr algn="l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ซ่อมจำกัดรอบ; เสี่ยงแล้วห้ามส่ง</a:t>
            </a:r>
          </a:p>
        </p:txBody>
      </p:sp>
      <p:cxnSp>
        <p:nvCxnSpPr>
          <p:cNvPr id="221" name=""/>
          <p:cNvCxnSpPr>
            <a:stCxn xmlns:a="http://schemas.openxmlformats.org/drawingml/2006/main" id="56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619750" y="264318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8D76"/>
            </a:solidFill>
            <a:prstDash val="solid"/>
            <a:tailEnd type="arrow" w="med" len="med"/>
          </a:ln>
        </p:spPr>
      </p:cxnSp>
      <p:cxnSp>
        <p:nvCxnSpPr>
          <p:cNvPr id="222" name=""/>
          <p:cNvCxnSpPr>
            <a:stCxn xmlns:a="http://schemas.openxmlformats.org/drawingml/2006/main" id="61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5619750" y="26431875"/>
            <a:ext cx="95154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678D3"/>
            </a:solidFill>
            <a:prstDash val="solid"/>
            <a:tailEnd type="arrow" w="med" len="med"/>
          </a:ln>
        </p:spPr>
      </p:cxnSp>
      <p:cxnSp>
        <p:nvCxnSpPr>
          <p:cNvPr id="223" name=""/>
          <p:cNvCxnSpPr>
            <a:stCxn xmlns:a="http://schemas.openxmlformats.org/drawingml/2006/main" id="66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24650700" y="264318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6485A"/>
            </a:solidFill>
            <a:prstDash val="solid"/>
            <a:tailEnd type="arrow" w="med" len="med"/>
          </a:ln>
        </p:spPr>
      </p:cxnSp>
      <p:cxnSp>
        <p:nvCxnSpPr>
          <p:cNvPr id="224" name=""/>
          <p:cNvCxnSpPr>
            <a:stCxn xmlns:a="http://schemas.openxmlformats.org/drawingml/2006/main" id="74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9810750" y="28313063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F22"/>
            </a:solidFill>
            <a:prstDash val="solid"/>
            <a:tailEnd type="arrow" w="med" len="med"/>
          </a:ln>
        </p:spPr>
      </p:cxnSp>
      <p:cxnSp>
        <p:nvCxnSpPr>
          <p:cNvPr id="225" name=""/>
          <p:cNvCxnSpPr>
            <a:stCxn xmlns:a="http://schemas.openxmlformats.org/drawingml/2006/main" id="79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9326225" y="28313063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F22"/>
            </a:solidFill>
            <a:prstDash val="solid"/>
            <a:tailEnd type="arrow" w="med" len="med"/>
          </a:ln>
        </p:spPr>
      </p:cxnSp>
      <p:sp>
        <p:nvSpPr>
          <p:cNvPr id="94" name="final-answer">
            <a:extLst xmlns:a="http://schemas.openxmlformats.org/drawingml/2006/main">
              <a:ext uri="{FF2B5EF4-FFF2-40B4-BE49-F238E27FC236}">
                <a16:creationId xmlns:a16="http://schemas.microsoft.com/office/drawing/2014/main" id="{40A93C18-6D12-4BBA-A5F1-606557E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51375"/>
            <a:ext cx="1752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0">
            <a:solidFill>
              <a:srgbClr val="0A2342"/>
            </a:solidFill>
            <a:prstDash val="solid"/>
          </a:ln>
        </p:spPr>
      </p:sp>
      <p:sp>
        <p:nvSpPr>
          <p:cNvPr id="95" name="final-answer-title">
            <a:extLst xmlns:a="http://schemas.openxmlformats.org/drawingml/2006/main">
              <a:ext uri="{FF2B5EF4-FFF2-40B4-BE49-F238E27FC236}">
                <a16:creationId xmlns:a16="http://schemas.microsoft.com/office/drawing/2014/main" id="{FA80F93B-B8C7-40A1-B148-24561B45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228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9  Final Thai Answer</a:t>
            </a:r>
          </a:p>
        </p:txBody>
      </p:sp>
      <p:sp>
        <p:nvSpPr>
          <p:cNvPr id="96" name="final-answer-body">
            <a:extLst xmlns:a="http://schemas.openxmlformats.org/drawingml/2006/main">
              <a:ext uri="{FF2B5EF4-FFF2-40B4-BE49-F238E27FC236}">
                <a16:creationId xmlns:a16="http://schemas.microsoft.com/office/drawing/2014/main" id="{D68E74D7-D467-45DC-9948-025A9985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02228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D8E9FA"/>
                </a:solidFill>
              </a:defRPr>
            </a:pPr>
            <a:r>
              <a:rPr sz="3000" b="0">
                <a:solidFill>
                  <a:srgbClr val="D8E9FA"/>
                </a:solidFill>
              </a:rPr>
              <a:t>Answer-first -&gt; JSON Response -&gt; แสดงผลบน Website พร้อม Request ID สำหรับ trace</a:t>
            </a:r>
          </a:p>
        </p:txBody>
      </p:sp>
      <p:cxnSp>
        <p:nvCxnSpPr>
          <p:cNvPr id="229" name=""/>
          <p:cNvCxnSpPr>
            <a:stCxn xmlns:a="http://schemas.openxmlformats.org/drawingml/2006/main" id="84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 flipH="1">
            <a:off x="15144750" y="29241750"/>
            <a:ext cx="95059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0A2342"/>
            </a:solidFill>
            <a:prstDash val="solid"/>
            <a:tailEnd type="arrow" w="med" len="med"/>
          </a:ln>
        </p:spPr>
      </p:cxnSp>
      <p:sp>
        <p:nvSpPr>
          <p:cNvPr id="98" name="roles-heading">
            <a:extLst xmlns:a="http://schemas.openxmlformats.org/drawingml/2006/main">
              <a:ext uri="{FF2B5EF4-FFF2-40B4-BE49-F238E27FC236}">
                <a16:creationId xmlns:a16="http://schemas.microsoft.com/office/drawing/2014/main" id="{F5C589F3-8A09-454D-8212-E2DDB21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56375"/>
            <a:ext cx="1333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A2342"/>
                </a:solidFill>
              </a:defRPr>
            </a:pPr>
            <a:r>
              <a:rPr sz="4500" b="1">
                <a:solidFill>
                  <a:srgbClr val="0A2342"/>
                </a:solidFill>
              </a:rPr>
              <a:t>บทบาทของแต่ละส่วน</a:t>
            </a:r>
          </a:p>
        </p:txBody>
      </p:sp>
      <p:sp>
        <p:nvSpPr>
          <p:cNvPr id="99" name="role-fast-bg">
            <a:extLst xmlns:a="http://schemas.openxmlformats.org/drawingml/2006/main">
              <a:ext uri="{FF2B5EF4-FFF2-40B4-BE49-F238E27FC236}">
                <a16:creationId xmlns:a16="http://schemas.microsoft.com/office/drawing/2014/main" id="{D800FB74-FABB-4C14-9DAF-DF4563DA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0"/>
            <a:ext cx="6572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28575">
            <a:solidFill>
              <a:srgbClr val="168D76"/>
            </a:solidFill>
            <a:prstDash val="solid"/>
          </a:ln>
        </p:spPr>
      </p:sp>
      <p:sp>
        <p:nvSpPr>
          <p:cNvPr id="100" name="role-fast-bar">
            <a:extLst xmlns:a="http://schemas.openxmlformats.org/drawingml/2006/main">
              <a:ext uri="{FF2B5EF4-FFF2-40B4-BE49-F238E27FC236}">
                <a16:creationId xmlns:a16="http://schemas.microsoft.com/office/drawing/2014/main" id="{65F32391-4D5A-4615-AAE3-4F96732F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0"/>
            <a:ext cx="133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76"/>
          </a:solidFill>
          <a:ln xmlns:a="http://schemas.openxmlformats.org/drawingml/2006/main" w="0">
            <a:solidFill>
              <a:srgbClr val="168D76"/>
            </a:solidFill>
            <a:prstDash val="solid"/>
          </a:ln>
        </p:spPr>
      </p:sp>
      <p:sp>
        <p:nvSpPr>
          <p:cNvPr id="101" name="role-fast-title">
            <a:extLst xmlns:a="http://schemas.openxmlformats.org/drawingml/2006/main">
              <a:ext uri="{FF2B5EF4-FFF2-40B4-BE49-F238E27FC236}">
                <a16:creationId xmlns:a16="http://schemas.microsoft.com/office/drawing/2014/main" id="{2C45837C-4E58-4868-A018-261E05A1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0898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8D76"/>
                </a:solidFill>
              </a:defRPr>
            </a:pPr>
            <a:r>
              <a:rPr sz="3600" b="1">
                <a:solidFill>
                  <a:srgbClr val="168D76"/>
                </a:solidFill>
              </a:rPr>
              <a:t>Fast / Structured</a:t>
            </a:r>
          </a:p>
        </p:txBody>
      </p:sp>
      <p:sp>
        <p:nvSpPr>
          <p:cNvPr id="102" name="role-fast-body">
            <a:extLst xmlns:a="http://schemas.openxmlformats.org/drawingml/2006/main">
              <a:ext uri="{FF2B5EF4-FFF2-40B4-BE49-F238E27FC236}">
                <a16:creationId xmlns:a16="http://schemas.microsoft.com/office/drawing/2014/main" id="{6F1E01C0-F667-42A1-A9E9-2712DD4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75650"/>
            <a:ext cx="59055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จับ pattern และดึง record ที่ตรง</a:t>
            </a:r>
          </a:p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เร็ว แม่น และเหมาะกับข้อมูล exact</a:t>
            </a:r>
          </a:p>
        </p:txBody>
      </p:sp>
      <p:sp>
        <p:nvSpPr>
          <p:cNvPr id="103" name="role-rag-bg">
            <a:extLst xmlns:a="http://schemas.openxmlformats.org/drawingml/2006/main">
              <a:ext uri="{FF2B5EF4-FFF2-40B4-BE49-F238E27FC236}">
                <a16:creationId xmlns:a16="http://schemas.microsoft.com/office/drawing/2014/main" id="{A509CDF8-01B9-43A0-92A8-D5F2919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0"/>
            <a:ext cx="6572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28575">
            <a:solidFill>
              <a:srgbClr val="1678D3"/>
            </a:solidFill>
            <a:prstDash val="solid"/>
          </a:ln>
        </p:spPr>
      </p:sp>
      <p:sp>
        <p:nvSpPr>
          <p:cNvPr id="104" name="role-rag-bar">
            <a:extLst xmlns:a="http://schemas.openxmlformats.org/drawingml/2006/main">
              <a:ext uri="{FF2B5EF4-FFF2-40B4-BE49-F238E27FC236}">
                <a16:creationId xmlns:a16="http://schemas.microsoft.com/office/drawing/2014/main" id="{F0F810C7-1D93-4C67-A15B-AA2CB2BA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0"/>
            <a:ext cx="133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8D3"/>
          </a:solidFill>
          <a:ln xmlns:a="http://schemas.openxmlformats.org/drawingml/2006/main" w="0">
            <a:solidFill>
              <a:srgbClr val="1678D3"/>
            </a:solidFill>
            <a:prstDash val="solid"/>
          </a:ln>
        </p:spPr>
      </p:sp>
      <p:sp>
        <p:nvSpPr>
          <p:cNvPr id="105" name="role-rag-title">
            <a:extLst xmlns:a="http://schemas.openxmlformats.org/drawingml/2006/main">
              <a:ext uri="{FF2B5EF4-FFF2-40B4-BE49-F238E27FC236}">
                <a16:creationId xmlns:a16="http://schemas.microsoft.com/office/drawing/2014/main" id="{19F6AA17-9D69-48F1-8B15-9B18B6AD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0898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8D3"/>
                </a:solidFill>
              </a:defRPr>
            </a:pPr>
            <a:r>
              <a:rPr sz="3600" b="1">
                <a:solidFill>
                  <a:srgbClr val="1678D3"/>
                </a:solidFill>
              </a:rPr>
              <a:t>Semantic RAG</a:t>
            </a:r>
          </a:p>
        </p:txBody>
      </p:sp>
      <p:sp>
        <p:nvSpPr>
          <p:cNvPr id="106" name="role-rag-body">
            <a:extLst xmlns:a="http://schemas.openxmlformats.org/drawingml/2006/main">
              <a:ext uri="{FF2B5EF4-FFF2-40B4-BE49-F238E27FC236}">
                <a16:creationId xmlns:a16="http://schemas.microsoft.com/office/drawing/2014/main" id="{A9FFCE4E-862B-46E0-81AA-2737577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75650"/>
            <a:ext cx="59055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ค้นข้อมูลตามความหมายด้วย BGE</a:t>
            </a:r>
          </a:p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rerank แล้วคืนหลักฐานพร้อม source</a:t>
            </a:r>
          </a:p>
        </p:txBody>
      </p:sp>
      <p:sp>
        <p:nvSpPr>
          <p:cNvPr id="107" name="role-llm-bg">
            <a:extLst xmlns:a="http://schemas.openxmlformats.org/drawingml/2006/main">
              <a:ext uri="{FF2B5EF4-FFF2-40B4-BE49-F238E27FC236}">
                <a16:creationId xmlns:a16="http://schemas.microsoft.com/office/drawing/2014/main" id="{B40CFB55-3A8C-48FF-ABB7-0AB46977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2861250"/>
            <a:ext cx="6572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28575">
            <a:solidFill>
              <a:srgbClr val="E86F22"/>
            </a:solidFill>
            <a:prstDash val="solid"/>
          </a:ln>
        </p:spPr>
      </p:sp>
      <p:sp>
        <p:nvSpPr>
          <p:cNvPr id="108" name="role-llm-bar">
            <a:extLst xmlns:a="http://schemas.openxmlformats.org/drawingml/2006/main">
              <a:ext uri="{FF2B5EF4-FFF2-40B4-BE49-F238E27FC236}">
                <a16:creationId xmlns:a16="http://schemas.microsoft.com/office/drawing/2014/main" id="{46880C03-274D-4F21-B7E0-C677A365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2861250"/>
            <a:ext cx="133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22"/>
          </a:solidFill>
          <a:ln xmlns:a="http://schemas.openxmlformats.org/drawingml/2006/main" w="0">
            <a:solidFill>
              <a:srgbClr val="E86F22"/>
            </a:solidFill>
            <a:prstDash val="solid"/>
          </a:ln>
        </p:spPr>
      </p:sp>
      <p:sp>
        <p:nvSpPr>
          <p:cNvPr id="109" name="role-llm-title">
            <a:extLst xmlns:a="http://schemas.openxmlformats.org/drawingml/2006/main">
              <a:ext uri="{FF2B5EF4-FFF2-40B4-BE49-F238E27FC236}">
                <a16:creationId xmlns:a16="http://schemas.microsoft.com/office/drawing/2014/main" id="{E31D861C-67AD-476A-9A24-B02852F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30898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6F22"/>
                </a:solidFill>
              </a:defRPr>
            </a:pPr>
            <a:r>
              <a:rPr sz="3600" b="1">
                <a:solidFill>
                  <a:srgbClr val="E86F22"/>
                </a:solidFill>
              </a:rPr>
              <a:t>Gated Local LLM</a:t>
            </a:r>
          </a:p>
        </p:txBody>
      </p:sp>
      <p:sp>
        <p:nvSpPr>
          <p:cNvPr id="110" name="role-llm-body">
            <a:extLst xmlns:a="http://schemas.openxmlformats.org/drawingml/2006/main">
              <a:ext uri="{FF2B5EF4-FFF2-40B4-BE49-F238E27FC236}">
                <a16:creationId xmlns:a16="http://schemas.microsoft.com/office/drawing/2014/main" id="{98F324CF-B573-42AB-9E67-1AD2B000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3775650"/>
            <a:ext cx="59055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ช่วย review, วางแผน และเรียบเรียง</a:t>
            </a:r>
          </a:p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ไม่ใช่แหล่งข้อเท็จจริงของ PSU</a:t>
            </a:r>
          </a:p>
        </p:txBody>
      </p:sp>
      <p:sp>
        <p:nvSpPr>
          <p:cNvPr id="111" name="role-safe-bg">
            <a:extLst xmlns:a="http://schemas.openxmlformats.org/drawingml/2006/main">
              <a:ext uri="{FF2B5EF4-FFF2-40B4-BE49-F238E27FC236}">
                <a16:creationId xmlns:a16="http://schemas.microsoft.com/office/drawing/2014/main" id="{FFF82F9D-1916-4D41-B3F1-6C6BF32E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32861250"/>
            <a:ext cx="6572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85A"/>
            </a:solidFill>
            <a:prstDash val="solid"/>
          </a:ln>
        </p:spPr>
      </p:sp>
      <p:sp>
        <p:nvSpPr>
          <p:cNvPr id="112" name="role-safe-bar">
            <a:extLst xmlns:a="http://schemas.openxmlformats.org/drawingml/2006/main">
              <a:ext uri="{FF2B5EF4-FFF2-40B4-BE49-F238E27FC236}">
                <a16:creationId xmlns:a16="http://schemas.microsoft.com/office/drawing/2014/main" id="{E1F9FC91-E720-4961-9FE5-E1469FC1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32861250"/>
            <a:ext cx="133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85A"/>
          </a:solidFill>
          <a:ln xmlns:a="http://schemas.openxmlformats.org/drawingml/2006/main" w="0">
            <a:solidFill>
              <a:srgbClr val="C6485A"/>
            </a:solidFill>
            <a:prstDash val="solid"/>
          </a:ln>
        </p:spPr>
      </p:sp>
      <p:sp>
        <p:nvSpPr>
          <p:cNvPr id="113" name="role-safe-title">
            <a:extLst xmlns:a="http://schemas.openxmlformats.org/drawingml/2006/main">
              <a:ext uri="{FF2B5EF4-FFF2-40B4-BE49-F238E27FC236}">
                <a16:creationId xmlns:a16="http://schemas.microsoft.com/office/drawing/2014/main" id="{CD3DCD9F-28C9-4C27-B37D-6259B66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330898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6485A"/>
                </a:solidFill>
              </a:defRPr>
            </a:pPr>
            <a:r>
              <a:rPr sz="3600" b="1">
                <a:solidFill>
                  <a:srgbClr val="C6485A"/>
                </a:solidFill>
              </a:rPr>
              <a:t>Answer Safety</a:t>
            </a:r>
          </a:p>
        </p:txBody>
      </p:sp>
      <p:sp>
        <p:nvSpPr>
          <p:cNvPr id="114" name="role-safe-body">
            <a:extLst xmlns:a="http://schemas.openxmlformats.org/drawingml/2006/main">
              <a:ext uri="{FF2B5EF4-FFF2-40B4-BE49-F238E27FC236}">
                <a16:creationId xmlns:a16="http://schemas.microsoft.com/office/drawing/2014/main" id="{F914F6D6-EE4D-44C9-B778-77DF363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33775650"/>
            <a:ext cx="59055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Boundary + Ambiguity + Contract</a:t>
            </a:r>
          </a:p>
          <a:p xmlns:a="http://schemas.openxmlformats.org/drawingml/2006/main">
            <a:pPr algn="l">
              <a:defRPr sz="2850" b="0">
                <a:solidFill>
                  <a:srgbClr val="12263A"/>
                </a:solidFill>
              </a:defRPr>
            </a:pPr>
            <a:r>
              <a:rPr sz="2850" b="0">
                <a:solidFill>
                  <a:srgbClr val="12263A"/>
                </a:solidFill>
              </a:rPr>
              <a:t>Bounded Repair และ Final Hard Veto</a:t>
            </a:r>
          </a:p>
        </p:txBody>
      </p:sp>
      <p:sp>
        <p:nvSpPr>
          <p:cNvPr id="115" name="metrics-heading">
            <a:extLst xmlns:a="http://schemas.openxmlformats.org/drawingml/2006/main">
              <a:ext uri="{FF2B5EF4-FFF2-40B4-BE49-F238E27FC236}">
                <a16:creationId xmlns:a16="http://schemas.microsoft.com/office/drawing/2014/main" id="{ADEA3FB1-14BE-457F-92C1-9AECB9B5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480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2342"/>
                </a:solidFill>
              </a:defRPr>
            </a:pPr>
            <a:r>
              <a:rPr sz="4350" b="1">
                <a:solidFill>
                  <a:srgbClr val="0A2342"/>
                </a:solidFill>
              </a:rPr>
              <a:t>ผลทดสอบปัจจุบัน</a:t>
            </a:r>
          </a:p>
        </p:txBody>
      </p:sp>
      <p:sp>
        <p:nvSpPr>
          <p:cNvPr id="116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84333235-E55C-48EE-BF03-99DA7F9E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24275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1678D3"/>
                </a:solidFill>
              </a:defRPr>
            </a:pPr>
            <a:r>
              <a:rPr sz="5250" b="1">
                <a:solidFill>
                  <a:srgbClr val="1678D3"/>
                </a:solidFill>
              </a:rPr>
              <a:t>1,600+</a:t>
            </a:r>
          </a:p>
        </p:txBody>
      </p:sp>
      <p:sp>
        <p:nvSpPr>
          <p:cNvPr id="11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7FC6757B-758A-4991-98AE-F5672D7D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Evaluation cases</a:t>
            </a:r>
          </a:p>
        </p:txBody>
      </p:sp>
      <p:sp>
        <p:nvSpPr>
          <p:cNvPr id="11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CC88D1DB-0894-4CB3-8FF1-FA84923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24275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168D76"/>
                </a:solidFill>
              </a:defRPr>
            </a:pPr>
            <a:r>
              <a:rPr sz="5250" b="1">
                <a:solidFill>
                  <a:srgbClr val="168D76"/>
                </a:solidFill>
              </a:rPr>
              <a:t>94.75%</a:t>
            </a:r>
          </a:p>
        </p:txBody>
      </p:sp>
      <p:sp>
        <p:nvSpPr>
          <p:cNvPr id="11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A7C3F14-ACBD-49C5-9651-B1EB9DB1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Pass rate</a:t>
            </a:r>
          </a:p>
        </p:txBody>
      </p:sp>
      <p:sp>
        <p:nvSpPr>
          <p:cNvPr id="12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C7C75395-07EC-40D3-8803-6F473D0D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724275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E86F22"/>
                </a:solidFill>
              </a:defRPr>
            </a:pPr>
            <a:r>
              <a:rPr sz="5250" b="1">
                <a:solidFill>
                  <a:srgbClr val="E86F22"/>
                </a:solidFill>
              </a:rPr>
              <a:t>2.31s</a:t>
            </a:r>
          </a:p>
        </p:txBody>
      </p:sp>
      <p:sp>
        <p:nvSpPr>
          <p:cNvPr id="12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6645FC58-D414-4011-A8F9-60AAB8BF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81000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Average latency</a:t>
            </a:r>
          </a:p>
        </p:txBody>
      </p:sp>
      <p:sp>
        <p:nvSpPr>
          <p:cNvPr id="12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3291100D-7BC0-4BE2-A85A-31DBEC6F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724275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C6485A"/>
                </a:solidFill>
              </a:defRPr>
            </a:pPr>
            <a:r>
              <a:rPr sz="5250" b="1">
                <a:solidFill>
                  <a:srgbClr val="C6485A"/>
                </a:solidFill>
              </a:rPr>
              <a:t>12.53s</a:t>
            </a:r>
          </a:p>
        </p:txBody>
      </p:sp>
      <p:sp>
        <p:nvSpPr>
          <p:cNvPr id="12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D70F814-A81E-4A1F-9736-3344A5F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81000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2687D"/>
                </a:solidFill>
              </a:defRPr>
            </a:pPr>
            <a:r>
              <a:rPr sz="2850" b="0">
                <a:solidFill>
                  <a:srgbClr val="52687D"/>
                </a:solidFill>
              </a:rPr>
              <a:t>P95 - ยังเกินเป้า 10s</a:t>
            </a:r>
          </a:p>
        </p:txBody>
      </p:sp>
      <p:sp>
        <p:nvSpPr>
          <p:cNvPr id="124" name="status-title">
            <a:extLst xmlns:a="http://schemas.openxmlformats.org/drawingml/2006/main">
              <a:ext uri="{FF2B5EF4-FFF2-40B4-BE49-F238E27FC236}">
                <a16:creationId xmlns:a16="http://schemas.microsoft.com/office/drawing/2014/main" id="{23D11EAE-1E23-47C6-85F8-ECBD023E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957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2342"/>
                </a:solidFill>
              </a:defRPr>
            </a:pPr>
            <a:r>
              <a:rPr sz="3300" b="1">
                <a:solidFill>
                  <a:srgbClr val="0A2342"/>
                </a:solidFill>
              </a:rPr>
              <a:t>Core Functions</a:t>
            </a:r>
          </a:p>
        </p:txBody>
      </p:sp>
      <p:sp>
        <p:nvSpPr>
          <p:cNvPr id="125" name="status-faq-bg">
            <a:extLst xmlns:a="http://schemas.openxmlformats.org/drawingml/2006/main">
              <a:ext uri="{FF2B5EF4-FFF2-40B4-BE49-F238E27FC236}">
                <a16:creationId xmlns:a16="http://schemas.microsoft.com/office/drawing/2014/main" id="{430C6D25-FB84-43C0-AFDE-EB80EF4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938200"/>
            <a:ext cx="51435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D76"/>
          </a:solidFill>
          <a:ln xmlns:a="http://schemas.openxmlformats.org/drawingml/2006/main" w="19050">
            <a:solidFill>
              <a:srgbClr val="168D76"/>
            </a:solidFill>
            <a:prstDash val="solid"/>
          </a:ln>
        </p:spPr>
      </p:sp>
      <p:sp>
        <p:nvSpPr>
          <p:cNvPr id="126" name="status-faq-text">
            <a:extLst xmlns:a="http://schemas.openxmlformats.org/drawingml/2006/main">
              <a:ext uri="{FF2B5EF4-FFF2-40B4-BE49-F238E27FC236}">
                <a16:creationId xmlns:a16="http://schemas.microsoft.com/office/drawing/2014/main" id="{ADE266F6-DC32-453A-8923-6EA5CDA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985825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FAQ CHATBOT | READY</a:t>
            </a:r>
          </a:p>
        </p:txBody>
      </p:sp>
      <p:sp>
        <p:nvSpPr>
          <p:cNvPr id="127" name="status-slot-bg">
            <a:extLst xmlns:a="http://schemas.openxmlformats.org/drawingml/2006/main">
              <a:ext uri="{FF2B5EF4-FFF2-40B4-BE49-F238E27FC236}">
                <a16:creationId xmlns:a16="http://schemas.microsoft.com/office/drawing/2014/main" id="{E5713D4B-113C-4BEE-B56A-09F8E00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938200"/>
            <a:ext cx="6381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22"/>
          </a:solidFill>
          <a:ln xmlns:a="http://schemas.openxmlformats.org/drawingml/2006/main" w="19050">
            <a:solidFill>
              <a:srgbClr val="E86F22"/>
            </a:solidFill>
            <a:prstDash val="solid"/>
          </a:ln>
        </p:spPr>
      </p:sp>
      <p:sp>
        <p:nvSpPr>
          <p:cNvPr id="128" name="status-slot-text">
            <a:extLst xmlns:a="http://schemas.openxmlformats.org/drawingml/2006/main">
              <a:ext uri="{FF2B5EF4-FFF2-40B4-BE49-F238E27FC236}">
                <a16:creationId xmlns:a16="http://schemas.microsoft.com/office/drawing/2014/main" id="{6031EE96-B84D-478C-A0C7-B290BD0C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985825"/>
            <a:ext cx="615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CHECK SLOT | WAITING WP API</a:t>
            </a:r>
          </a:p>
        </p:txBody>
      </p:sp>
      <p:sp>
        <p:nvSpPr>
          <p:cNvPr id="129" name="status-admin-bg">
            <a:extLst xmlns:a="http://schemas.openxmlformats.org/drawingml/2006/main">
              <a:ext uri="{FF2B5EF4-FFF2-40B4-BE49-F238E27FC236}">
                <a16:creationId xmlns:a16="http://schemas.microsoft.com/office/drawing/2014/main" id="{507C22FF-27C8-4602-AE63-71597C3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38938200"/>
            <a:ext cx="5572125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8D3"/>
          </a:solidFill>
          <a:ln xmlns:a="http://schemas.openxmlformats.org/drawingml/2006/main" w="19050">
            <a:solidFill>
              <a:srgbClr val="1678D3"/>
            </a:solidFill>
            <a:prstDash val="solid"/>
          </a:ln>
        </p:spPr>
      </p:sp>
      <p:sp>
        <p:nvSpPr>
          <p:cNvPr id="130" name="status-admin-text">
            <a:extLst xmlns:a="http://schemas.openxmlformats.org/drawingml/2006/main">
              <a:ext uri="{FF2B5EF4-FFF2-40B4-BE49-F238E27FC236}">
                <a16:creationId xmlns:a16="http://schemas.microsoft.com/office/drawing/2014/main" id="{86B63FE4-55BA-4E43-B144-225FE2C8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75" y="38985825"/>
            <a:ext cx="5343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ADMIN INPUT | DESIGNED</a:t>
            </a:r>
          </a:p>
        </p:txBody>
      </p:sp>
      <p:sp>
        <p:nvSpPr>
          <p:cNvPr id="131" name="status-booking-bg">
            <a:extLst xmlns:a="http://schemas.openxmlformats.org/drawingml/2006/main">
              <a:ext uri="{FF2B5EF4-FFF2-40B4-BE49-F238E27FC236}">
                <a16:creationId xmlns:a16="http://schemas.microsoft.com/office/drawing/2014/main" id="{81FF7E12-F563-41A3-96CD-D70CFC18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8938200"/>
            <a:ext cx="49530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85A"/>
          </a:solidFill>
          <a:ln xmlns:a="http://schemas.openxmlformats.org/drawingml/2006/main" w="19050">
            <a:solidFill>
              <a:srgbClr val="C6485A"/>
            </a:solidFill>
            <a:prstDash val="solid"/>
          </a:ln>
        </p:spPr>
      </p:sp>
      <p:sp>
        <p:nvSpPr>
          <p:cNvPr id="132" name="status-booking-text">
            <a:extLst xmlns:a="http://schemas.openxmlformats.org/drawingml/2006/main">
              <a:ext uri="{FF2B5EF4-FFF2-40B4-BE49-F238E27FC236}">
                <a16:creationId xmlns:a16="http://schemas.microsoft.com/office/drawing/2014/main" id="{3C92E7B6-56B5-405E-AE4E-FBD4B307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0425" y="38985825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BOOKING | FUTURE</a:t>
            </a:r>
          </a:p>
        </p:txBody>
      </p:sp>
    </p:spTree>
    <p:extLst>
      <p:ext uri="{BB962C8B-B14F-4D97-AF65-F5344CB8AC3E}">
        <p14:creationId xmlns:p14="http://schemas.microsoft.com/office/powerpoint/2010/main" val="1691540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2026-08-27T09:17:38.3300000Z</dcterms:created>
  <dcterms:modified xsi:type="dcterms:W3CDTF">2026-08-27T09:17:38.3300000Z</dcterms:modified>
</coreProperties>
</file>