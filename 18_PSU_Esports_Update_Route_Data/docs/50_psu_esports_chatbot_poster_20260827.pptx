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387d46ba0e4041" /><Relationship Type="http://schemas.openxmlformats.org/officeDocument/2006/relationships/extended-properties" Target="/docProps/app.xml" Id="R7f4e9b3c91244aa4" /><Relationship Type="http://schemas.openxmlformats.org/officeDocument/2006/relationships/officeDocument" Target="/ppt/presentation.xml" Id="R4ffbfc6b3cf840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ee268a587d4cc8"/>
  </p:sldMasterIdLst>
  <p:notesMasterIdLst>
    <p:notesMasterId xmlns:r="http://schemas.openxmlformats.org/officeDocument/2006/relationships" r:id="R994a83bedb6647ec"/>
  </p:notesMasterIdLst>
  <p:sldIdLst>
    <p:sldId xmlns:r="http://schemas.openxmlformats.org/officeDocument/2006/relationships" id="256" r:id="R4372a6a288b34220"/>
  </p:sldIdLst>
  <p:sldSz cx="15240000" cy="107727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a927cea7b3444a" /><Relationship Type="http://schemas.openxmlformats.org/officeDocument/2006/relationships/slideMaster" Target="/ppt/slideMasters/slideMaster1.xml" Id="R3fee268a587d4cc8" /><Relationship Type="http://schemas.openxmlformats.org/officeDocument/2006/relationships/notesMaster" Target="/ppt/notesMasters/notesMaster1.xml" Id="R994a83bedb6647ec" /><Relationship Type="http://schemas.openxmlformats.org/officeDocument/2006/relationships/presProps" Target="/ppt/presProps.xml" Id="R57c18ccb8c534a89" /><Relationship Type="http://schemas.openxmlformats.org/officeDocument/2006/relationships/tableStyles" Target="/ppt/tableStyles.xml" Id="R605b0e4055e14713" /><Relationship Type="http://schemas.openxmlformats.org/officeDocument/2006/relationships/slide" Target="/ppt/slides/slide1.xml" Id="R4372a6a288b342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1341a516a847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295c33ee5a46f9" /><Relationship Type="http://schemas.openxmlformats.org/officeDocument/2006/relationships/notesMaster" Target="/ppt/notesMasters/notesMaster1.xml" Id="R5fda7521a4614b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architecture and current flow: docs/43_current_chatbot_full_process_flow_20260824.md</a:t>
            </a:r>
          </a:p>
          <a:p xmlns:a="http://schemas.openxmlformats.org/drawingml/2006/main">
            <a:r>
              <a:t>Core function design: docs/45-49 dated 2026-08-25</a:t>
            </a:r>
          </a:p>
          <a:p xmlns:a="http://schemas.openxmlformats.org/drawingml/2006/main">
            <a:r>
              <a:t>Benchmark values reproduced from the user-provided presentation reviewed on 2026-08-25.</a:t>
            </a:r>
          </a:p>
          <a:p xmlns:a="http://schemas.openxmlformats.org/drawingml/2006/main">
            <a:r>
              <a:t>Hero illustration generated with the built-in image generation tool on 2026-08-27; no external asset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26f03fb1e4a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94291515274fee" /><Relationship Type="http://schemas.openxmlformats.org/officeDocument/2006/relationships/slideLayout" Target="/ppt/slideLayouts/slideLayout1.xml" Id="Rd452e4959a5a45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52e4959a5a45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ee3e1d0a942f3" /><Relationship Type="http://schemas.openxmlformats.org/officeDocument/2006/relationships/image" Target="/ppt/media/image.png" Id="R1e7b886d170f45fe" /><Relationship Type="http://schemas.openxmlformats.org/officeDocument/2006/relationships/notesSlide" Target="/ppt/notesSlides/notesSlide1.xml" Id="R7d9c1ceadb274d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header-band">
            <a:extLst xmlns:a="http://schemas.openxmlformats.org/drawingml/2006/main">
              <a:ext uri="{FF2B5EF4-FFF2-40B4-BE49-F238E27FC236}">
                <a16:creationId xmlns:a16="http://schemas.microsoft.com/office/drawing/2014/main" id="{B5755393-1010-4A5D-959D-AEFBCD9A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0">
            <a:solidFill>
              <a:srgbClr val="071B33"/>
            </a:solidFill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CB9645AA-86FA-4236-A7FE-F064A842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A22"/>
          </a:solidFill>
          <a:ln xmlns:a="http://schemas.openxmlformats.org/drawingml/2006/main" w="0">
            <a:solidFill>
              <a:srgbClr val="F47A22"/>
            </a:solidFill>
            <a:prstDash val="solid"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75A57EAA-3E25-4E16-9702-AD5A4F15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B9F5"/>
                </a:solidFill>
              </a:defRPr>
            </a:pPr>
            <a:r>
              <a:rPr sz="1350" b="1">
                <a:solidFill>
                  <a:srgbClr val="76B9F5"/>
                </a:solidFill>
              </a:rPr>
              <a:t>PSU ESPORTS STUDIO - PHUKET</a:t>
            </a:r>
          </a:p>
        </p:txBody>
      </p:sp>
      <p:sp>
        <p:nvSpPr>
          <p:cNvPr id="4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35BEFEB8-8832-4DD7-BA25-C348B183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PSU ESPORTS CHATBOT</a:t>
            </a:r>
          </a:p>
        </p:txBody>
      </p:sp>
      <p:sp>
        <p:nvSpPr>
          <p:cNvPr id="5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BF62ACB0-1A0E-40A6-970C-4E875B8F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Local-first AI ผู้ช่วยตอบ FAQ ที่ค้นหลักฐานก่อนตอบ</a:t>
            </a:r>
          </a:p>
        </p:txBody>
      </p:sp>
      <p:sp>
        <p:nvSpPr>
          <p:cNvPr id="6" name="poster-promise">
            <a:extLst xmlns:a="http://schemas.openxmlformats.org/drawingml/2006/main">
              <a:ext uri="{FF2B5EF4-FFF2-40B4-BE49-F238E27FC236}">
                <a16:creationId xmlns:a16="http://schemas.microsoft.com/office/drawing/2014/main" id="{BE3D10D8-B243-463E-8D73-530C2252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BFA"/>
                </a:solidFill>
              </a:defRPr>
            </a:pPr>
            <a:r>
              <a:rPr sz="1275" b="1">
                <a:solidFill>
                  <a:srgbClr val="DCEBFA"/>
                </a:solidFill>
              </a:rPr>
              <a:t>เร็ว  |  ตรงคำถาม  |  มีที่มา  |  ไม่เดาข้อมูล PSU</a:t>
            </a:r>
          </a:p>
        </p:txBody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b886d170f45fe"/>
          <a:srcRect xmlns:a="http://schemas.openxmlformats.org/drawingml/2006/main" l="0" t="20000" r="0" b="2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0" y="0"/>
            <a:ext cx="5619750" cy="2247900"/>
          </a:xfrm>
          <a:prstGeom xmlns:a="http://schemas.openxmlformats.org/drawingml/2006/main" prst="rect">
            <a:avLst/>
          </a:prstGeom>
        </p:spPr>
      </p:pic>
      <p:sp>
        <p:nvSpPr>
          <p:cNvPr id="8" name="model-label-bg">
            <a:extLst xmlns:a="http://schemas.openxmlformats.org/drawingml/2006/main">
              <a:ext uri="{FF2B5EF4-FFF2-40B4-BE49-F238E27FC236}">
                <a16:creationId xmlns:a16="http://schemas.microsoft.com/office/drawing/2014/main" id="{8A1E6DDC-9857-42F2-A550-50DA2345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"/>
            <a:ext cx="2762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6D4"/>
          </a:solidFill>
          <a:ln xmlns:a="http://schemas.openxmlformats.org/drawingml/2006/main" w="9525">
            <a:solidFill>
              <a:srgbClr val="1576D4"/>
            </a:solidFill>
            <a:prstDash val="solid"/>
          </a:ln>
        </p:spPr>
      </p:sp>
      <p:sp>
        <p:nvSpPr>
          <p:cNvPr id="9" name="model-label-text">
            <a:extLst xmlns:a="http://schemas.openxmlformats.org/drawingml/2006/main">
              <a:ext uri="{FF2B5EF4-FFF2-40B4-BE49-F238E27FC236}">
                <a16:creationId xmlns:a16="http://schemas.microsoft.com/office/drawing/2014/main" id="{7290C0B2-E770-4051-AD38-917FEA0A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Local LLM: Typhoon Qwen3 4B</a:t>
            </a:r>
          </a:p>
        </p:txBody>
      </p:sp>
      <p:sp>
        <p:nvSpPr>
          <p:cNvPr id="10" name="rag-label-bg">
            <a:extLst xmlns:a="http://schemas.openxmlformats.org/drawingml/2006/main">
              <a:ext uri="{FF2B5EF4-FFF2-40B4-BE49-F238E27FC236}">
                <a16:creationId xmlns:a16="http://schemas.microsoft.com/office/drawing/2014/main" id="{B285F038-0B73-4C90-BDAF-D5B84207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66750"/>
            <a:ext cx="2286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9525">
            <a:solidFill>
              <a:srgbClr val="16A085"/>
            </a:solidFill>
            <a:prstDash val="solid"/>
          </a:ln>
        </p:spPr>
      </p:sp>
      <p:sp>
        <p:nvSpPr>
          <p:cNvPr id="11" name="rag-label-text">
            <a:extLst xmlns:a="http://schemas.openxmlformats.org/drawingml/2006/main">
              <a:ext uri="{FF2B5EF4-FFF2-40B4-BE49-F238E27FC236}">
                <a16:creationId xmlns:a16="http://schemas.microsoft.com/office/drawing/2014/main" id="{A16776B9-C019-4006-9BCF-1952DF76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7143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RAG: BGE-M3 + Rerank</a:t>
            </a:r>
          </a:p>
        </p:txBody>
      </p:sp>
      <p:sp>
        <p:nvSpPr>
          <p:cNvPr id="12" name="target-label-bg">
            <a:extLst xmlns:a="http://schemas.openxmlformats.org/drawingml/2006/main">
              <a:ext uri="{FF2B5EF4-FFF2-40B4-BE49-F238E27FC236}">
                <a16:creationId xmlns:a16="http://schemas.microsoft.com/office/drawing/2014/main" id="{6FD37261-C95E-4805-BE72-297BB419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47750"/>
            <a:ext cx="22383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A22"/>
          </a:solidFill>
          <a:ln xmlns:a="http://schemas.openxmlformats.org/drawingml/2006/main" w="9525">
            <a:solidFill>
              <a:srgbClr val="F47A22"/>
            </a:solidFill>
            <a:prstDash val="solid"/>
          </a:ln>
        </p:spPr>
      </p:sp>
      <p:sp>
        <p:nvSpPr>
          <p:cNvPr id="13" name="target-label-text">
            <a:extLst xmlns:a="http://schemas.openxmlformats.org/drawingml/2006/main">
              <a:ext uri="{FF2B5EF4-FFF2-40B4-BE49-F238E27FC236}">
                <a16:creationId xmlns:a16="http://schemas.microsoft.com/office/drawing/2014/main" id="{36039F1D-BF5F-4FB2-939E-B2C37C29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095375"/>
            <a:ext cx="2085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Product target &lt;= 10 sec</a:t>
            </a:r>
          </a:p>
        </p:txBody>
      </p:sp>
      <p:sp>
        <p:nvSpPr>
          <p:cNvPr id="14" name="flow-heading">
            <a:extLst xmlns:a="http://schemas.openxmlformats.org/drawingml/2006/main">
              <a:ext uri="{FF2B5EF4-FFF2-40B4-BE49-F238E27FC236}">
                <a16:creationId xmlns:a16="http://schemas.microsoft.com/office/drawing/2014/main" id="{2B6872AB-FA75-4DD7-9CA3-8BB05B71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63A"/>
                </a:solidFill>
              </a:defRPr>
            </a:pPr>
            <a:r>
              <a:rPr sz="2175" b="1">
                <a:solidFill>
                  <a:srgbClr val="13263A"/>
                </a:solidFill>
              </a:rPr>
              <a:t>End-to-End FAQ Answering Flow</a:t>
            </a:r>
          </a:p>
        </p:txBody>
      </p:sp>
      <p:sp>
        <p:nvSpPr>
          <p:cNvPr id="15" name="flow-kicker">
            <a:extLst xmlns:a="http://schemas.openxmlformats.org/drawingml/2006/main">
              <a:ext uri="{FF2B5EF4-FFF2-40B4-BE49-F238E27FC236}">
                <a16:creationId xmlns:a16="http://schemas.microsoft.com/office/drawing/2014/main" id="{C27278ED-73A2-4C76-9D9B-66BC66B5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702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F82"/>
                </a:solidFill>
              </a:defRPr>
            </a:pPr>
            <a:r>
              <a:rPr sz="1125" b="0">
                <a:solidFill>
                  <a:srgbClr val="5D6F82"/>
                </a:solidFill>
              </a:rPr>
              <a:t>ทุกคำถามต้องผ่านการเข้าใจ เลือกแหล่งข้อมูล และตรวจหลักฐานก่อนส่ง</a:t>
            </a:r>
          </a:p>
        </p:txBody>
      </p:sp>
      <p:sp>
        <p:nvSpPr>
          <p:cNvPr id="16" name="ai-heading">
            <a:extLst xmlns:a="http://schemas.openxmlformats.org/drawingml/2006/main">
              <a:ext uri="{FF2B5EF4-FFF2-40B4-BE49-F238E27FC236}">
                <a16:creationId xmlns:a16="http://schemas.microsoft.com/office/drawing/2014/main" id="{B466C6FF-6D3C-46F6-9D71-78E09BE3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63A"/>
                </a:solidFill>
              </a:defRPr>
            </a:pPr>
            <a:r>
              <a:rPr sz="2175" b="1">
                <a:solidFill>
                  <a:srgbClr val="13263A"/>
                </a:solidFill>
              </a:rPr>
              <a:t>AI ทำหน้าที่ตรงไหน</a:t>
            </a:r>
          </a:p>
        </p:txBody>
      </p:sp>
      <p:sp>
        <p:nvSpPr>
          <p:cNvPr id="17" name="ai-kicker">
            <a:extLst xmlns:a="http://schemas.openxmlformats.org/drawingml/2006/main">
              <a:ext uri="{FF2B5EF4-FFF2-40B4-BE49-F238E27FC236}">
                <a16:creationId xmlns:a16="http://schemas.microsoft.com/office/drawing/2014/main" id="{648D12D3-750E-4776-AEBA-42D3A5EB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670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F82"/>
                </a:solidFill>
              </a:defRPr>
            </a:pPr>
            <a:r>
              <a:rPr sz="1125" b="0">
                <a:solidFill>
                  <a:srgbClr val="5D6F82"/>
                </a:solidFill>
              </a:rPr>
              <a:t>LLM เป็นผู้ช่วยแบบ gated ไม่ใช่แหล่งข้อเท็จจริง</a:t>
            </a:r>
          </a:p>
        </p:txBody>
      </p:sp>
      <p:sp>
        <p:nvSpPr>
          <p:cNvPr id="18" name="stage-1-box">
            <a:extLst xmlns:a="http://schemas.openxmlformats.org/drawingml/2006/main">
              <a:ext uri="{FF2B5EF4-FFF2-40B4-BE49-F238E27FC236}">
                <a16:creationId xmlns:a16="http://schemas.microsoft.com/office/drawing/2014/main" id="{1A9FEDCF-F850-4E80-96BE-1A3DC04F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2000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576D4"/>
            </a:solidFill>
            <a:prstDash val="solid"/>
          </a:ln>
        </p:spPr>
      </p:sp>
      <p:sp>
        <p:nvSpPr>
          <p:cNvPr id="19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8D9D421A-2D81-425D-956D-1CF9094B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6D4"/>
          </a:solidFill>
          <a:ln xmlns:a="http://schemas.openxmlformats.org/drawingml/2006/main" w="0">
            <a:solidFill>
              <a:srgbClr val="1576D4"/>
            </a:solidFill>
            <a:prstDash val="solid"/>
          </a:ln>
        </p:spPr>
      </p:sp>
      <p:sp>
        <p:nvSpPr>
          <p:cNvPr id="20" name="stage-1-number-label">
            <a:extLst xmlns:a="http://schemas.openxmlformats.org/drawingml/2006/main">
              <a:ext uri="{FF2B5EF4-FFF2-40B4-BE49-F238E27FC236}">
                <a16:creationId xmlns:a16="http://schemas.microsoft.com/office/drawing/2014/main" id="{E5754F4B-6C47-47E8-B4AC-7795E086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AA749A23-BBB5-4815-8A24-D2207344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3909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63A"/>
                </a:solidFill>
              </a:defRPr>
            </a:pPr>
            <a:r>
              <a:rPr sz="1350" b="1">
                <a:solidFill>
                  <a:srgbClr val="13263A"/>
                </a:solidFill>
              </a:rPr>
              <a:t>Web Chat + API</a:t>
            </a:r>
          </a:p>
        </p:txBody>
      </p:sp>
      <p:sp>
        <p:nvSpPr>
          <p:cNvPr id="22" name="stage-1-detail">
            <a:extLst xmlns:a="http://schemas.openxmlformats.org/drawingml/2006/main">
              <a:ext uri="{FF2B5EF4-FFF2-40B4-BE49-F238E27FC236}">
                <a16:creationId xmlns:a16="http://schemas.microsoft.com/office/drawing/2014/main" id="{13D4915D-BFAC-4F46-A73D-47E44A19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81425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6F82"/>
                </a:solidFill>
              </a:defRPr>
            </a:pPr>
            <a:r>
              <a:rPr sz="1013" b="0">
                <a:solidFill>
                  <a:srgbClr val="5D6F82"/>
                </a:solidFill>
              </a:rPr>
              <a:t>รับข้อความและ session_id</a:t>
            </a:r>
          </a:p>
          <a:p xmlns:a="http://schemas.openxmlformats.org/drawingml/2006/main">
            <a:pPr algn="l">
              <a:defRPr sz="1013" b="0">
                <a:solidFill>
                  <a:srgbClr val="5D6F82"/>
                </a:solidFill>
              </a:defRPr>
            </a:pPr>
            <a:r>
              <a:rPr sz="1013" b="0">
                <a:solidFill>
                  <a:srgbClr val="5D6F82"/>
                </a:solidFill>
              </a:rPr>
              <a:t>สร้าง request_id + เริ่ม deadline</a:t>
            </a:r>
          </a:p>
        </p:txBody>
      </p:sp>
      <p:sp>
        <p:nvSpPr>
          <p:cNvPr id="23" name="stage-2-box">
            <a:extLst xmlns:a="http://schemas.openxmlformats.org/drawingml/2006/main">
              <a:ext uri="{FF2B5EF4-FFF2-40B4-BE49-F238E27FC236}">
                <a16:creationId xmlns:a16="http://schemas.microsoft.com/office/drawing/2014/main" id="{A9FE0456-3536-435D-BA1C-3E5FC11C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22098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1F0FF"/>
          </a:solidFill>
          <a:ln xmlns:a="http://schemas.openxmlformats.org/drawingml/2006/main" w="9525">
            <a:solidFill>
              <a:srgbClr val="6C63C7"/>
            </a:solidFill>
            <a:prstDash val="solid"/>
          </a:ln>
        </p:spPr>
      </p:sp>
      <p:sp>
        <p:nvSpPr>
          <p:cNvPr id="24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CE73993E-F880-4B95-9794-B528AC04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09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63C7"/>
          </a:solidFill>
          <a:ln xmlns:a="http://schemas.openxmlformats.org/drawingml/2006/main" w="0">
            <a:solidFill>
              <a:srgbClr val="6C63C7"/>
            </a:solidFill>
            <a:prstDash val="solid"/>
          </a:ln>
        </p:spPr>
      </p:sp>
      <p:sp>
        <p:nvSpPr>
          <p:cNvPr id="25" name="stage-2-number-label">
            <a:extLst xmlns:a="http://schemas.openxmlformats.org/drawingml/2006/main">
              <a:ext uri="{FF2B5EF4-FFF2-40B4-BE49-F238E27FC236}">
                <a16:creationId xmlns:a16="http://schemas.microsoft.com/office/drawing/2014/main" id="{35556E62-4717-48A7-8761-D1938348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385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E2FE3C9C-35B8-4D01-9A74-410A2020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390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63A"/>
                </a:solidFill>
              </a:defRPr>
            </a:pPr>
            <a:r>
              <a:rPr sz="1350" b="1">
                <a:solidFill>
                  <a:srgbClr val="13263A"/>
                </a:solidFill>
              </a:rPr>
              <a:t>Context + Split</a:t>
            </a:r>
          </a:p>
        </p:txBody>
      </p:sp>
      <p:sp>
        <p:nvSpPr>
          <p:cNvPr id="27" name="stage-2-detail">
            <a:extLst xmlns:a="http://schemas.openxmlformats.org/drawingml/2006/main">
              <a:ext uri="{FF2B5EF4-FFF2-40B4-BE49-F238E27FC236}">
                <a16:creationId xmlns:a16="http://schemas.microsoft.com/office/drawing/2014/main" id="{AE899041-0AD3-4D77-B9E9-06CB44BC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6F82"/>
                </a:solidFill>
              </a:defRPr>
            </a:pPr>
            <a:r>
              <a:rPr sz="1013" b="0">
                <a:solidFill>
                  <a:srgbClr val="5D6F82"/>
                </a:solidFill>
              </a:rPr>
              <a:t>อ่าน history แก้คำอ้างอิง</a:t>
            </a:r>
          </a:p>
          <a:p xmlns:a="http://schemas.openxmlformats.org/drawingml/2006/main">
            <a:pPr algn="l">
              <a:defRPr sz="1013" b="0">
                <a:solidFill>
                  <a:srgbClr val="5D6F82"/>
                </a:solidFill>
              </a:defRPr>
            </a:pPr>
            <a:r>
              <a:rPr sz="1013" b="0">
                <a:solidFill>
                  <a:srgbClr val="5D6F82"/>
                </a:solidFill>
              </a:rPr>
              <a:t>แยกหลายคำถาม + Complexity Gate</a:t>
            </a:r>
          </a:p>
        </p:txBody>
      </p:sp>
      <p:sp>
        <p:nvSpPr>
          <p:cNvPr id="28" name="stage-3-box">
            <a:extLst xmlns:a="http://schemas.openxmlformats.org/drawingml/2006/main">
              <a:ext uri="{FF2B5EF4-FFF2-40B4-BE49-F238E27FC236}">
                <a16:creationId xmlns:a16="http://schemas.microsoft.com/office/drawing/2014/main" id="{131D9BC1-E982-47BD-BA32-F1945DAD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76600"/>
            <a:ext cx="2000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9525">
            <a:solidFill>
              <a:srgbClr val="F47A22"/>
            </a:solidFill>
            <a:prstDash val="solid"/>
          </a:ln>
        </p:spPr>
      </p:sp>
      <p:sp>
        <p:nvSpPr>
          <p:cNvPr id="29" name="stage-3-number">
            <a:extLst xmlns:a="http://schemas.openxmlformats.org/drawingml/2006/main">
              <a:ext uri="{FF2B5EF4-FFF2-40B4-BE49-F238E27FC236}">
                <a16:creationId xmlns:a16="http://schemas.microsoft.com/office/drawing/2014/main" id="{646AE23B-4229-4277-82B6-C589B11A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09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A22"/>
          </a:solidFill>
          <a:ln xmlns:a="http://schemas.openxmlformats.org/drawingml/2006/main" w="0">
            <a:solidFill>
              <a:srgbClr val="F47A22"/>
            </a:solidFill>
            <a:prstDash val="solid"/>
          </a:ln>
        </p:spPr>
      </p:sp>
      <p:sp>
        <p:nvSpPr>
          <p:cNvPr id="30" name="stage-3-number-label">
            <a:extLst xmlns:a="http://schemas.openxmlformats.org/drawingml/2006/main">
              <a:ext uri="{FF2B5EF4-FFF2-40B4-BE49-F238E27FC236}">
                <a16:creationId xmlns:a16="http://schemas.microsoft.com/office/drawing/2014/main" id="{88B4AFC3-814C-4C8D-905F-ED89D426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385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1A0E9F46-8181-4C16-B5B4-D5F92F40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3909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63A"/>
                </a:solidFill>
              </a:defRPr>
            </a:pPr>
            <a:r>
              <a:rPr sz="1350" b="1">
                <a:solidFill>
                  <a:srgbClr val="13263A"/>
                </a:solidFill>
              </a:rPr>
              <a:t>Understand</a:t>
            </a:r>
          </a:p>
        </p:txBody>
      </p:sp>
      <p:sp>
        <p:nvSpPr>
          <p:cNvPr id="32" name="stage-3-detail">
            <a:extLst xmlns:a="http://schemas.openxmlformats.org/drawingml/2006/main">
              <a:ext uri="{FF2B5EF4-FFF2-40B4-BE49-F238E27FC236}">
                <a16:creationId xmlns:a16="http://schemas.microsoft.com/office/drawing/2014/main" id="{CD48363F-3E01-4FAC-905A-4FC97EA7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81425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6F82"/>
                </a:solidFill>
              </a:defRPr>
            </a:pPr>
            <a:r>
              <a:rPr sz="1013" b="0">
                <a:solidFill>
                  <a:srgbClr val="5D6F82"/>
                </a:solidFill>
              </a:rPr>
              <a:t>Normalize + Entity</a:t>
            </a:r>
          </a:p>
          <a:p xmlns:a="http://schemas.openxmlformats.org/drawingml/2006/main">
            <a:pPr algn="l">
              <a:defRPr sz="1013" b="0">
                <a:solidFill>
                  <a:srgbClr val="5D6F82"/>
                </a:solidFill>
              </a:defRPr>
            </a:pPr>
            <a:r>
              <a:rPr sz="1013" b="0">
                <a:solidFill>
                  <a:srgbClr val="5D6F82"/>
                </a:solidFill>
              </a:rPr>
              <a:t>Boundary / Ambiguity / Intent</a:t>
            </a:r>
          </a:p>
        </p:txBody>
      </p:sp>
      <p:sp>
        <p:nvSpPr>
          <p:cNvPr id="33" name="stage-4-box">
            <a:extLst xmlns:a="http://schemas.openxmlformats.org/drawingml/2006/main">
              <a:ext uri="{FF2B5EF4-FFF2-40B4-BE49-F238E27FC236}">
                <a16:creationId xmlns:a16="http://schemas.microsoft.com/office/drawing/2014/main" id="{395777A6-2CBE-4331-BAE7-8862EFFA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76600"/>
            <a:ext cx="2286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9F8F4"/>
          </a:solidFill>
          <a:ln xmlns:a="http://schemas.openxmlformats.org/drawingml/2006/main" w="9525">
            <a:solidFill>
              <a:srgbClr val="16A085"/>
            </a:solidFill>
            <a:prstDash val="solid"/>
          </a:ln>
        </p:spPr>
      </p:sp>
      <p:sp>
        <p:nvSpPr>
          <p:cNvPr id="34" name="stage-4-number">
            <a:extLst xmlns:a="http://schemas.openxmlformats.org/drawingml/2006/main">
              <a:ext uri="{FF2B5EF4-FFF2-40B4-BE49-F238E27FC236}">
                <a16:creationId xmlns:a16="http://schemas.microsoft.com/office/drawing/2014/main" id="{8F62EB65-3A87-46F0-A9DD-F7E50A8E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09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</p:sp>
      <p:sp>
        <p:nvSpPr>
          <p:cNvPr id="35" name="stage-4-number-label">
            <a:extLst xmlns:a="http://schemas.openxmlformats.org/drawingml/2006/main">
              <a:ext uri="{FF2B5EF4-FFF2-40B4-BE49-F238E27FC236}">
                <a16:creationId xmlns:a16="http://schemas.microsoft.com/office/drawing/2014/main" id="{B7FDF27D-E045-4796-B19D-954EEE9E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385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7CB4A908-3E3C-4818-9774-27209E95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909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63A"/>
                </a:solidFill>
              </a:defRPr>
            </a:pPr>
            <a:r>
              <a:rPr sz="1350" b="1">
                <a:solidFill>
                  <a:srgbClr val="13263A"/>
                </a:solidFill>
              </a:rPr>
              <a:t>Score + Preconditions</a:t>
            </a:r>
          </a:p>
        </p:txBody>
      </p:sp>
      <p:sp>
        <p:nvSpPr>
          <p:cNvPr id="37" name="stage-4-detail">
            <a:extLst xmlns:a="http://schemas.openxmlformats.org/drawingml/2006/main">
              <a:ext uri="{FF2B5EF4-FFF2-40B4-BE49-F238E27FC236}">
                <a16:creationId xmlns:a16="http://schemas.microsoft.com/office/drawing/2014/main" id="{25CFA1DD-A39B-4147-9E48-DB1AB5C7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81425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6F82"/>
                </a:solidFill>
              </a:defRPr>
            </a:pPr>
            <a:r>
              <a:rPr sz="1013" b="0">
                <a:solidFill>
                  <a:srgbClr val="5D6F82"/>
                </a:solidFill>
              </a:rPr>
              <a:t>Question Frame + Candidate Scoring</a:t>
            </a:r>
          </a:p>
          <a:p xmlns:a="http://schemas.openxmlformats.org/drawingml/2006/main">
            <a:pPr algn="l">
              <a:defRPr sz="1013" b="0">
                <a:solidFill>
                  <a:srgbClr val="5D6F82"/>
                </a:solidFill>
              </a:defRPr>
            </a:pPr>
            <a:r>
              <a:rPr sz="1013" b="0">
                <a:solidFill>
                  <a:srgbClr val="5D6F82"/>
                </a:solidFill>
              </a:rPr>
              <a:t>ตรวจ target/source ก่อนใช้ tool</a:t>
            </a:r>
          </a:p>
        </p:txBody>
      </p:sp>
      <p:cxnSp>
        <p:nvCxnSpPr>
          <p:cNvPr id="145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552700" y="38385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AD7E4"/>
            </a:solidFill>
            <a:prstDash val="solid"/>
            <a:tailEnd type="arrow" w="sm" len="sm"/>
          </a:ln>
        </p:spPr>
      </p:cxnSp>
      <p:cxnSp>
        <p:nvCxnSpPr>
          <p:cNvPr id="146" name=""/>
          <p:cNvCxnSpPr>
            <a:stCxn xmlns:a="http://schemas.openxmlformats.org/drawingml/2006/main" id="23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4972050" y="38385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AD7E4"/>
            </a:solidFill>
            <a:prstDash val="solid"/>
            <a:tailEnd type="arrow" w="sm" len="sm"/>
          </a:ln>
        </p:spPr>
      </p:cxnSp>
      <p:cxnSp>
        <p:nvCxnSpPr>
          <p:cNvPr id="147" name=""/>
          <p:cNvCxnSpPr>
            <a:stCxn xmlns:a="http://schemas.openxmlformats.org/drawingml/2006/main" id="28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7181850" y="38385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AD7E4"/>
            </a:solidFill>
            <a:prstDash val="solid"/>
            <a:tailEnd type="arrow" w="sm" len="sm"/>
          </a:ln>
        </p:spPr>
      </p:cxnSp>
      <p:sp>
        <p:nvSpPr>
          <p:cNvPr id="41" name="path-heading">
            <a:extLst xmlns:a="http://schemas.openxmlformats.org/drawingml/2006/main">
              <a:ext uri="{FF2B5EF4-FFF2-40B4-BE49-F238E27FC236}">
                <a16:creationId xmlns:a16="http://schemas.microsoft.com/office/drawing/2014/main" id="{B64C2CAC-73E2-42A7-A515-DB52B393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38675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63A"/>
                </a:solidFill>
              </a:defRPr>
            </a:pPr>
            <a:r>
              <a:rPr sz="1500" b="1">
                <a:solidFill>
                  <a:srgbClr val="13263A"/>
                </a:solidFill>
              </a:rPr>
              <a:t>5   Execution Path Selection</a:t>
            </a:r>
          </a:p>
        </p:txBody>
      </p:sp>
      <p:sp>
        <p:nvSpPr>
          <p:cNvPr id="42" name="fast-path">
            <a:extLst xmlns:a="http://schemas.openxmlformats.org/drawingml/2006/main">
              <a:ext uri="{FF2B5EF4-FFF2-40B4-BE49-F238E27FC236}">
                <a16:creationId xmlns:a16="http://schemas.microsoft.com/office/drawing/2014/main" id="{4E6BC2D4-7271-4790-925F-C359E91B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9675"/>
            <a:ext cx="28003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F8F4"/>
          </a:solidFill>
          <a:ln xmlns:a="http://schemas.openxmlformats.org/drawingml/2006/main" w="9525">
            <a:solidFill>
              <a:srgbClr val="16A085"/>
            </a:solidFill>
            <a:prstDash val="solid"/>
          </a:ln>
        </p:spPr>
      </p:sp>
      <p:sp>
        <p:nvSpPr>
          <p:cNvPr id="43" name="rag-path">
            <a:extLst xmlns:a="http://schemas.openxmlformats.org/drawingml/2006/main">
              <a:ext uri="{FF2B5EF4-FFF2-40B4-BE49-F238E27FC236}">
                <a16:creationId xmlns:a16="http://schemas.microsoft.com/office/drawing/2014/main" id="{CA54521A-25B7-4E85-BFEF-FB43A537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019675"/>
            <a:ext cx="28003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576D4"/>
            </a:solidFill>
            <a:prstDash val="solid"/>
          </a:ln>
        </p:spPr>
      </p:sp>
      <p:sp>
        <p:nvSpPr>
          <p:cNvPr id="44" name="safe-path">
            <a:extLst xmlns:a="http://schemas.openxmlformats.org/drawingml/2006/main">
              <a:ext uri="{FF2B5EF4-FFF2-40B4-BE49-F238E27FC236}">
                <a16:creationId xmlns:a16="http://schemas.microsoft.com/office/drawing/2014/main" id="{33B2DBF6-3DA6-4840-BD6F-8ABFE041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9675"/>
            <a:ext cx="29718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C94B5D"/>
            </a:solidFill>
            <a:prstDash val="solid"/>
          </a:ln>
        </p:spPr>
      </p:sp>
      <p:sp>
        <p:nvSpPr>
          <p:cNvPr id="45" name="fast-title">
            <a:extLst xmlns:a="http://schemas.openxmlformats.org/drawingml/2006/main">
              <a:ext uri="{FF2B5EF4-FFF2-40B4-BE49-F238E27FC236}">
                <a16:creationId xmlns:a16="http://schemas.microsoft.com/office/drawing/2014/main" id="{70897894-DE49-4A4E-ABCD-9AAD3C97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A085"/>
                </a:solidFill>
              </a:defRPr>
            </a:pPr>
            <a:r>
              <a:rPr sz="1425" b="1">
                <a:solidFill>
                  <a:srgbClr val="16A085"/>
                </a:solidFill>
              </a:rPr>
              <a:t>Fast / Structured</a:t>
            </a:r>
          </a:p>
        </p:txBody>
      </p:sp>
      <p:sp>
        <p:nvSpPr>
          <p:cNvPr id="46" name="fast-detail">
            <a:extLst xmlns:a="http://schemas.openxmlformats.org/drawingml/2006/main">
              <a:ext uri="{FF2B5EF4-FFF2-40B4-BE49-F238E27FC236}">
                <a16:creationId xmlns:a16="http://schemas.microsoft.com/office/drawing/2014/main" id="{0995F64B-485C-4F04-9AD6-0C194C52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497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3263A"/>
                </a:solidFill>
              </a:defRPr>
            </a:pPr>
            <a:r>
              <a:rPr sz="1013" b="0">
                <a:solidFill>
                  <a:srgbClr val="13263A"/>
                </a:solidFill>
              </a:rPr>
              <a:t>ข้อมูล exact: ราคา เกม อุปกรณ์ เวลาเปิด</a:t>
            </a:r>
          </a:p>
          <a:p xmlns:a="http://schemas.openxmlformats.org/drawingml/2006/main">
            <a:pPr algn="l">
              <a:defRPr sz="1013" b="0">
                <a:solidFill>
                  <a:srgbClr val="13263A"/>
                </a:solidFill>
              </a:defRPr>
            </a:pPr>
            <a:r>
              <a:rPr sz="1013" b="0">
                <a:solidFill>
                  <a:srgbClr val="13263A"/>
                </a:solidFill>
              </a:rPr>
              <a:t>จับ intent เร็ว แล้วดึง record ที่ตรง</a:t>
            </a:r>
          </a:p>
        </p:txBody>
      </p:sp>
      <p:sp>
        <p:nvSpPr>
          <p:cNvPr id="47" name="rag-title">
            <a:extLst xmlns:a="http://schemas.openxmlformats.org/drawingml/2006/main">
              <a:ext uri="{FF2B5EF4-FFF2-40B4-BE49-F238E27FC236}">
                <a16:creationId xmlns:a16="http://schemas.microsoft.com/office/drawing/2014/main" id="{AA00415A-D042-4E15-A98E-8BB634E1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17207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76D4"/>
                </a:solidFill>
              </a:defRPr>
            </a:pPr>
            <a:r>
              <a:rPr sz="1425" b="1">
                <a:solidFill>
                  <a:srgbClr val="1576D4"/>
                </a:solidFill>
              </a:rPr>
              <a:t>Semantic RAG</a:t>
            </a:r>
          </a:p>
        </p:txBody>
      </p:sp>
      <p:sp>
        <p:nvSpPr>
          <p:cNvPr id="48" name="rag-detail">
            <a:extLst xmlns:a="http://schemas.openxmlformats.org/drawingml/2006/main">
              <a:ext uri="{FF2B5EF4-FFF2-40B4-BE49-F238E27FC236}">
                <a16:creationId xmlns:a16="http://schemas.microsoft.com/office/drawing/2014/main" id="{63A06F11-7B95-403C-96DE-9706C0F4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51497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3263A"/>
                </a:solidFill>
              </a:defRPr>
            </a:pPr>
            <a:r>
              <a:rPr sz="1013" b="0">
                <a:solidFill>
                  <a:srgbClr val="13263A"/>
                </a:solidFill>
              </a:rPr>
              <a:t>ข่าว กฎยาว FAQ และข้อมูลใหม่</a:t>
            </a:r>
          </a:p>
          <a:p xmlns:a="http://schemas.openxmlformats.org/drawingml/2006/main">
            <a:pPr algn="l">
              <a:defRPr sz="1013" b="0">
                <a:solidFill>
                  <a:srgbClr val="13263A"/>
                </a:solidFill>
              </a:defRPr>
            </a:pPr>
            <a:r>
              <a:rPr sz="1013" b="0">
                <a:solidFill>
                  <a:srgbClr val="13263A"/>
                </a:solidFill>
              </a:rPr>
              <a:t>BGE Retrieval -&gt; Rerank -&gt; Source Guard</a:t>
            </a:r>
          </a:p>
        </p:txBody>
      </p:sp>
      <p:sp>
        <p:nvSpPr>
          <p:cNvPr id="49" name="safe-title">
            <a:extLst xmlns:a="http://schemas.openxmlformats.org/drawingml/2006/main">
              <a:ext uri="{FF2B5EF4-FFF2-40B4-BE49-F238E27FC236}">
                <a16:creationId xmlns:a16="http://schemas.microsoft.com/office/drawing/2014/main" id="{59AC9E7D-9689-4A46-8A7A-2FFEA2AE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72075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4B5D"/>
                </a:solidFill>
              </a:defRPr>
            </a:pPr>
            <a:r>
              <a:rPr sz="1425" b="1">
                <a:solidFill>
                  <a:srgbClr val="C94B5D"/>
                </a:solidFill>
              </a:rPr>
              <a:t>Safe Outcome</a:t>
            </a:r>
          </a:p>
        </p:txBody>
      </p:sp>
      <p:sp>
        <p:nvSpPr>
          <p:cNvPr id="50" name="safe-detail">
            <a:extLst xmlns:a="http://schemas.openxmlformats.org/drawingml/2006/main">
              <a:ext uri="{FF2B5EF4-FFF2-40B4-BE49-F238E27FC236}">
                <a16:creationId xmlns:a16="http://schemas.microsoft.com/office/drawing/2014/main" id="{055FC7C8-4062-448D-B4C7-FBB66C11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51497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3263A"/>
                </a:solidFill>
              </a:defRPr>
            </a:pPr>
            <a:r>
              <a:rPr sz="1013" b="0">
                <a:solidFill>
                  <a:srgbClr val="13263A"/>
                </a:solidFill>
              </a:rPr>
              <a:t>ข้อมูลไม่พอหรือ target กำกวม</a:t>
            </a:r>
          </a:p>
          <a:p xmlns:a="http://schemas.openxmlformats.org/drawingml/2006/main">
            <a:pPr algn="l">
              <a:defRPr sz="1013" b="0">
                <a:solidFill>
                  <a:srgbClr val="13263A"/>
                </a:solidFill>
              </a:defRPr>
            </a:pPr>
            <a:r>
              <a:rPr sz="1013" b="0">
                <a:solidFill>
                  <a:srgbClr val="13263A"/>
                </a:solidFill>
              </a:rPr>
              <a:t>ถามกลับ (clarification) หรือ no-answer</a:t>
            </a:r>
          </a:p>
        </p:txBody>
      </p:sp>
      <p:cxnSp>
        <p:nvCxnSpPr>
          <p:cNvPr id="158" name=""/>
          <p:cNvCxnSpPr>
            <a:stCxn xmlns:a="http://schemas.openxmlformats.org/drawingml/2006/main" id="33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 flipH="1">
            <a:off x="1952625" y="4400550"/>
            <a:ext cx="6581775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6A085"/>
            </a:solidFill>
            <a:prstDash val="solid"/>
            <a:tailEnd type="arrow" w="sm" len="sm"/>
          </a:ln>
        </p:spPr>
      </p:cxnSp>
      <p:cxnSp>
        <p:nvCxnSpPr>
          <p:cNvPr id="159" name=""/>
          <p:cNvCxnSpPr>
            <a:stCxn xmlns:a="http://schemas.openxmlformats.org/drawingml/2006/main" id="33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 flipH="1">
            <a:off x="5029200" y="4400550"/>
            <a:ext cx="3505200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76D4"/>
            </a:solidFill>
            <a:prstDash val="solid"/>
            <a:tailEnd type="arrow" w="sm" len="sm"/>
          </a:ln>
        </p:spPr>
      </p:cxnSp>
      <p:cxnSp>
        <p:nvCxnSpPr>
          <p:cNvPr id="160" name=""/>
          <p:cNvCxnSpPr>
            <a:stCxn xmlns:a="http://schemas.openxmlformats.org/drawingml/2006/main" id="3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 flipH="1">
            <a:off x="8191500" y="4400550"/>
            <a:ext cx="342900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94B5D"/>
            </a:solidFill>
            <a:prstDash val="solid"/>
            <a:tailEnd type="arrow" w="sm" len="sm"/>
          </a:ln>
        </p:spPr>
      </p:cxnSp>
      <p:sp>
        <p:nvSpPr>
          <p:cNvPr id="54" name="stage-6-box">
            <a:extLst xmlns:a="http://schemas.openxmlformats.org/drawingml/2006/main">
              <a:ext uri="{FF2B5EF4-FFF2-40B4-BE49-F238E27FC236}">
                <a16:creationId xmlns:a16="http://schemas.microsoft.com/office/drawing/2014/main" id="{4FB77634-E386-4FAC-BD70-233D3479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28003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085"/>
            </a:solidFill>
            <a:prstDash val="solid"/>
          </a:ln>
        </p:spPr>
      </p:sp>
      <p:sp>
        <p:nvSpPr>
          <p:cNvPr id="55" name="stage-6-number">
            <a:extLst xmlns:a="http://schemas.openxmlformats.org/drawingml/2006/main">
              <a:ext uri="{FF2B5EF4-FFF2-40B4-BE49-F238E27FC236}">
                <a16:creationId xmlns:a16="http://schemas.microsoft.com/office/drawing/2014/main" id="{D055ED76-73E6-4B7F-A2D7-01DE5616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</p:sp>
      <p:sp>
        <p:nvSpPr>
          <p:cNvPr id="56" name="stage-6-number-label">
            <a:extLst xmlns:a="http://schemas.openxmlformats.org/drawingml/2006/main">
              <a:ext uri="{FF2B5EF4-FFF2-40B4-BE49-F238E27FC236}">
                <a16:creationId xmlns:a16="http://schemas.microsoft.com/office/drawing/2014/main" id="{9A6CCE0A-329F-45A6-BF72-33E58272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7" name="stage-6-title">
            <a:extLst xmlns:a="http://schemas.openxmlformats.org/drawingml/2006/main">
              <a:ext uri="{FF2B5EF4-FFF2-40B4-BE49-F238E27FC236}">
                <a16:creationId xmlns:a16="http://schemas.microsoft.com/office/drawing/2014/main" id="{86196CEF-1509-424F-B94A-50A83816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54367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63A"/>
                </a:solidFill>
              </a:defRPr>
            </a:pPr>
            <a:r>
              <a:rPr sz="1350" b="1">
                <a:solidFill>
                  <a:srgbClr val="13263A"/>
                </a:solidFill>
              </a:rPr>
              <a:t>Evidence + Draft</a:t>
            </a:r>
          </a:p>
        </p:txBody>
      </p:sp>
      <p:sp>
        <p:nvSpPr>
          <p:cNvPr id="58" name="stage-6-detail">
            <a:extLst xmlns:a="http://schemas.openxmlformats.org/drawingml/2006/main">
              <a:ext uri="{FF2B5EF4-FFF2-40B4-BE49-F238E27FC236}">
                <a16:creationId xmlns:a16="http://schemas.microsoft.com/office/drawing/2014/main" id="{1033B4FE-2E2D-4F1C-8502-2E921C0B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34200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6F82"/>
                </a:solidFill>
              </a:defRPr>
            </a:pPr>
            <a:r>
              <a:rPr sz="1013" b="0">
                <a:solidFill>
                  <a:srgbClr val="5D6F82"/>
                </a:solidFill>
              </a:rPr>
              <a:t>ทุก path คืนหลักฐานและคำตอบตั้งต้นที่ตรวจสอบได้</a:t>
            </a:r>
          </a:p>
          <a:p xmlns:a="http://schemas.openxmlformats.org/drawingml/2006/main">
            <a:pPr algn="l">
              <a:defRPr sz="1013" b="0">
                <a:solidFill>
                  <a:srgbClr val="5D6F82"/>
                </a:solidFill>
              </a:defRPr>
            </a:pPr>
            <a:r>
              <a:rPr sz="1013" b="0">
                <a:solidFill>
                  <a:srgbClr val="5D6F82"/>
                </a:solidFill>
              </a:rPr>
              <a:t>หาก LLM timeout ยังใช้ Draft สำรองได้</a:t>
            </a:r>
          </a:p>
        </p:txBody>
      </p:sp>
      <p:sp>
        <p:nvSpPr>
          <p:cNvPr id="59" name="stage-7-box">
            <a:extLst xmlns:a="http://schemas.openxmlformats.org/drawingml/2006/main">
              <a:ext uri="{FF2B5EF4-FFF2-40B4-BE49-F238E27FC236}">
                <a16:creationId xmlns:a16="http://schemas.microsoft.com/office/drawing/2014/main" id="{3DE5CA50-702C-464F-B817-538C7DD8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6429375"/>
            <a:ext cx="28003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7A22"/>
            </a:solidFill>
            <a:prstDash val="solid"/>
          </a:ln>
        </p:spPr>
      </p:sp>
      <p:sp>
        <p:nvSpPr>
          <p:cNvPr id="60" name="stage-7-number">
            <a:extLst xmlns:a="http://schemas.openxmlformats.org/drawingml/2006/main">
              <a:ext uri="{FF2B5EF4-FFF2-40B4-BE49-F238E27FC236}">
                <a16:creationId xmlns:a16="http://schemas.microsoft.com/office/drawing/2014/main" id="{09489E07-D4BB-407D-ACD8-94DC86BF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6562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A22"/>
          </a:solidFill>
          <a:ln xmlns:a="http://schemas.openxmlformats.org/drawingml/2006/main" w="0">
            <a:solidFill>
              <a:srgbClr val="F47A22"/>
            </a:solidFill>
            <a:prstDash val="solid"/>
          </a:ln>
        </p:spPr>
      </p:sp>
      <p:sp>
        <p:nvSpPr>
          <p:cNvPr id="61" name="stage-7-number-label">
            <a:extLst xmlns:a="http://schemas.openxmlformats.org/drawingml/2006/main">
              <a:ext uri="{FF2B5EF4-FFF2-40B4-BE49-F238E27FC236}">
                <a16:creationId xmlns:a16="http://schemas.microsoft.com/office/drawing/2014/main" id="{F997B9FC-4D0D-47EC-8AD2-2B0FA8E5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65913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2" name="stage-7-title">
            <a:extLst xmlns:a="http://schemas.openxmlformats.org/drawingml/2006/main">
              <a:ext uri="{FF2B5EF4-FFF2-40B4-BE49-F238E27FC236}">
                <a16:creationId xmlns:a16="http://schemas.microsoft.com/office/drawing/2014/main" id="{D9ECCEEF-CDE6-440E-BB91-A8C000A5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54367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63A"/>
                </a:solidFill>
              </a:defRPr>
            </a:pPr>
            <a:r>
              <a:rPr sz="1350" b="1">
                <a:solidFill>
                  <a:srgbClr val="13263A"/>
                </a:solidFill>
              </a:rPr>
              <a:t>Optional Local LLM</a:t>
            </a:r>
          </a:p>
        </p:txBody>
      </p:sp>
      <p:sp>
        <p:nvSpPr>
          <p:cNvPr id="63" name="stage-7-detail">
            <a:extLst xmlns:a="http://schemas.openxmlformats.org/drawingml/2006/main">
              <a:ext uri="{FF2B5EF4-FFF2-40B4-BE49-F238E27FC236}">
                <a16:creationId xmlns:a16="http://schemas.microsoft.com/office/drawing/2014/main" id="{FEC25D80-E96A-4D48-93F1-54E9BB5C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6934200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6F82"/>
                </a:solidFill>
              </a:defRPr>
            </a:pPr>
            <a:r>
              <a:rPr sz="1013" b="0">
                <a:solidFill>
                  <a:srgbClr val="5D6F82"/>
                </a:solidFill>
              </a:rPr>
              <a:t>ช่วยเข้าใจ วางแผน เลือก tool และเรียบเรียง</a:t>
            </a:r>
          </a:p>
          <a:p xmlns:a="http://schemas.openxmlformats.org/drawingml/2006/main">
            <a:pPr algn="l">
              <a:defRPr sz="1013" b="0">
                <a:solidFill>
                  <a:srgbClr val="5D6F82"/>
                </a:solidFill>
              </a:defRPr>
            </a:pPr>
            <a:r>
              <a:rPr sz="1013" b="0">
                <a:solidFill>
                  <a:srgbClr val="5D6F82"/>
                </a:solidFill>
              </a:rPr>
              <a:t>ห้ามเพิ่ม fact ที่ไม่มีใน Evidence</a:t>
            </a:r>
          </a:p>
        </p:txBody>
      </p:sp>
      <p:sp>
        <p:nvSpPr>
          <p:cNvPr id="64" name="stage-8-box">
            <a:extLst xmlns:a="http://schemas.openxmlformats.org/drawingml/2006/main">
              <a:ext uri="{FF2B5EF4-FFF2-40B4-BE49-F238E27FC236}">
                <a16:creationId xmlns:a16="http://schemas.microsoft.com/office/drawing/2014/main" id="{2EFC8C0F-1E66-4469-A6A1-EFDE86D5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29375"/>
            <a:ext cx="29718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4B5D"/>
            </a:solidFill>
            <a:prstDash val="solid"/>
          </a:ln>
        </p:spPr>
      </p:sp>
      <p:sp>
        <p:nvSpPr>
          <p:cNvPr id="65" name="stage-8-number">
            <a:extLst xmlns:a="http://schemas.openxmlformats.org/drawingml/2006/main">
              <a:ext uri="{FF2B5EF4-FFF2-40B4-BE49-F238E27FC236}">
                <a16:creationId xmlns:a16="http://schemas.microsoft.com/office/drawing/2014/main" id="{EB105394-398E-4094-A67D-D0803036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562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B5D"/>
          </a:solidFill>
          <a:ln xmlns:a="http://schemas.openxmlformats.org/drawingml/2006/main" w="0">
            <a:solidFill>
              <a:srgbClr val="C94B5D"/>
            </a:solidFill>
            <a:prstDash val="solid"/>
          </a:ln>
        </p:spPr>
      </p:sp>
      <p:sp>
        <p:nvSpPr>
          <p:cNvPr id="66" name="stage-8-number-label">
            <a:extLst xmlns:a="http://schemas.openxmlformats.org/drawingml/2006/main">
              <a:ext uri="{FF2B5EF4-FFF2-40B4-BE49-F238E27FC236}">
                <a16:creationId xmlns:a16="http://schemas.microsoft.com/office/drawing/2014/main" id="{A9BD0A5C-7A88-4D7A-B1A1-7CDB61A1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5913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7" name="stage-8-title">
            <a:extLst xmlns:a="http://schemas.openxmlformats.org/drawingml/2006/main">
              <a:ext uri="{FF2B5EF4-FFF2-40B4-BE49-F238E27FC236}">
                <a16:creationId xmlns:a16="http://schemas.microsoft.com/office/drawing/2014/main" id="{69D9C11D-E5FC-42AF-9DCD-547A5078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65436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63A"/>
                </a:solidFill>
              </a:defRPr>
            </a:pPr>
            <a:r>
              <a:rPr sz="1350" b="1">
                <a:solidFill>
                  <a:srgbClr val="13263A"/>
                </a:solidFill>
              </a:rPr>
              <a:t>Validate + Repair + Veto</a:t>
            </a:r>
          </a:p>
        </p:txBody>
      </p:sp>
      <p:sp>
        <p:nvSpPr>
          <p:cNvPr id="68" name="stage-8-detail">
            <a:extLst xmlns:a="http://schemas.openxmlformats.org/drawingml/2006/main">
              <a:ext uri="{FF2B5EF4-FFF2-40B4-BE49-F238E27FC236}">
                <a16:creationId xmlns:a16="http://schemas.microsoft.com/office/drawing/2014/main" id="{5EE81176-9F5B-49D9-9FA7-FBACD35D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9342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6F82"/>
                </a:solidFill>
              </a:defRPr>
            </a:pPr>
            <a:r>
              <a:rPr sz="1013" b="0">
                <a:solidFill>
                  <a:srgbClr val="5D6F82"/>
                </a:solidFill>
              </a:rPr>
              <a:t>ตรวจ intent / target / source / claim / เวลา</a:t>
            </a:r>
          </a:p>
          <a:p xmlns:a="http://schemas.openxmlformats.org/drawingml/2006/main">
            <a:pPr algn="l">
              <a:defRPr sz="1013" b="0">
                <a:solidFill>
                  <a:srgbClr val="5D6F82"/>
                </a:solidFill>
              </a:defRPr>
            </a:pPr>
            <a:r>
              <a:rPr sz="1013" b="0">
                <a:solidFill>
                  <a:srgbClr val="5D6F82"/>
                </a:solidFill>
              </a:rPr>
              <a:t>ซ่อมจำกัดรอบ; เสี่ยงแล้วห้ามส่ง</a:t>
            </a:r>
          </a:p>
        </p:txBody>
      </p:sp>
      <p:cxnSp>
        <p:nvCxnSpPr>
          <p:cNvPr id="176" name=""/>
          <p:cNvCxnSpPr>
            <a:stCxn xmlns:a="http://schemas.openxmlformats.org/drawingml/2006/main" id="42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>
            <a:off x="1952625" y="61150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085"/>
            </a:solidFill>
            <a:prstDash val="solid"/>
            <a:tailEnd type="arrow" w="sm" len="sm"/>
          </a:ln>
        </p:spPr>
      </p:cxnSp>
      <p:cxnSp>
        <p:nvCxnSpPr>
          <p:cNvPr id="177" name=""/>
          <p:cNvCxnSpPr>
            <a:stCxn xmlns:a="http://schemas.openxmlformats.org/drawingml/2006/main" id="43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 flipH="1">
            <a:off x="1952625" y="6115050"/>
            <a:ext cx="3076575" cy="314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76D4"/>
            </a:solidFill>
            <a:prstDash val="solid"/>
            <a:tailEnd type="arrow" w="sm" len="sm"/>
          </a:ln>
        </p:spPr>
      </p:cxnSp>
      <p:cxnSp>
        <p:nvCxnSpPr>
          <p:cNvPr id="178" name=""/>
          <p:cNvCxnSpPr>
            <a:stCxn xmlns:a="http://schemas.openxmlformats.org/drawingml/2006/main" id="44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8191500" y="61150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4B5D"/>
            </a:solidFill>
            <a:prstDash val="solid"/>
            <a:tailEnd type="arrow" w="sm" len="sm"/>
          </a:ln>
        </p:spPr>
      </p:cxnSp>
      <p:cxnSp>
        <p:nvCxnSpPr>
          <p:cNvPr id="179" name=""/>
          <p:cNvCxnSpPr>
            <a:stCxn xmlns:a="http://schemas.openxmlformats.org/drawingml/2006/main" id="54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3352800" y="69818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7A22"/>
            </a:solidFill>
            <a:prstDash val="solid"/>
            <a:tailEnd type="arrow" w="sm" len="sm"/>
          </a:ln>
        </p:spPr>
      </p:cxnSp>
      <p:cxnSp>
        <p:nvCxnSpPr>
          <p:cNvPr id="180" name=""/>
          <p:cNvCxnSpPr>
            <a:stCxn xmlns:a="http://schemas.openxmlformats.org/drawingml/2006/main" id="59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6429375" y="69818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7A22"/>
            </a:solidFill>
            <a:prstDash val="solid"/>
            <a:tailEnd type="arrow" w="sm" len="sm"/>
          </a:ln>
        </p:spPr>
      </p:cxnSp>
      <p:sp>
        <p:nvSpPr>
          <p:cNvPr id="74" name="final-answer">
            <a:extLst xmlns:a="http://schemas.openxmlformats.org/drawingml/2006/main">
              <a:ext uri="{FF2B5EF4-FFF2-40B4-BE49-F238E27FC236}">
                <a16:creationId xmlns:a16="http://schemas.microsoft.com/office/drawing/2014/main" id="{E638A61A-3EF9-497E-BE5A-57EA8339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781925"/>
            <a:ext cx="9124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A2B52"/>
          </a:solidFill>
          <a:ln xmlns:a="http://schemas.openxmlformats.org/drawingml/2006/main" w="9525">
            <a:solidFill>
              <a:srgbClr val="0A2B52"/>
            </a:solidFill>
            <a:prstDash val="solid"/>
          </a:ln>
        </p:spPr>
      </p:sp>
      <p:sp>
        <p:nvSpPr>
          <p:cNvPr id="75" name="final-answer-title">
            <a:extLst xmlns:a="http://schemas.openxmlformats.org/drawingml/2006/main">
              <a:ext uri="{FF2B5EF4-FFF2-40B4-BE49-F238E27FC236}">
                <a16:creationId xmlns:a16="http://schemas.microsoft.com/office/drawing/2014/main" id="{000D4B91-3770-4ED2-A3EB-48C786E1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924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9   Final Thai Answer</a:t>
            </a:r>
          </a:p>
        </p:txBody>
      </p:sp>
      <p:sp>
        <p:nvSpPr>
          <p:cNvPr id="76" name="final-answer-detail">
            <a:extLst xmlns:a="http://schemas.openxmlformats.org/drawingml/2006/main">
              <a:ext uri="{FF2B5EF4-FFF2-40B4-BE49-F238E27FC236}">
                <a16:creationId xmlns:a16="http://schemas.microsoft.com/office/drawing/2014/main" id="{E2B6E5A0-D617-457E-BF18-B6DA8474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9343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Answer-first + JSON Response -&gt; แสดงผลบน Website พร้อม request_id สำหรับ trace</a:t>
            </a:r>
          </a:p>
        </p:txBody>
      </p:sp>
      <p:cxnSp>
        <p:nvCxnSpPr>
          <p:cNvPr id="184" name=""/>
          <p:cNvCxnSpPr>
            <a:stCxn xmlns:a="http://schemas.openxmlformats.org/drawingml/2006/main" id="64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 flipH="1">
            <a:off x="5114925" y="7534275"/>
            <a:ext cx="3076575" cy="247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A2B52"/>
            </a:solidFill>
            <a:prstDash val="solid"/>
            <a:tailEnd type="arrow" w="sm" len="sm"/>
          </a:ln>
        </p:spPr>
      </p:cxnSp>
      <p:sp>
        <p:nvSpPr>
          <p:cNvPr id="78" name="llm-assist-panel">
            <a:extLst xmlns:a="http://schemas.openxmlformats.org/drawingml/2006/main">
              <a:ext uri="{FF2B5EF4-FFF2-40B4-BE49-F238E27FC236}">
                <a16:creationId xmlns:a16="http://schemas.microsoft.com/office/drawing/2014/main" id="{E38B73F5-5F9D-4D7F-BC4A-6853DA65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440055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9525">
            <a:solidFill>
              <a:srgbClr val="F47A22"/>
            </a:solidFill>
            <a:prstDash val="solid"/>
          </a:ln>
        </p:spPr>
      </p:sp>
      <p:sp>
        <p:nvSpPr>
          <p:cNvPr id="79" name="llm-assist-title">
            <a:extLst xmlns:a="http://schemas.openxmlformats.org/drawingml/2006/main">
              <a:ext uri="{FF2B5EF4-FFF2-40B4-BE49-F238E27FC236}">
                <a16:creationId xmlns:a16="http://schemas.microsoft.com/office/drawing/2014/main" id="{557FD7D3-1B2F-422E-9025-15B10D80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480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7A22"/>
                </a:solidFill>
              </a:defRPr>
            </a:pPr>
            <a:r>
              <a:rPr sz="1575" b="1">
                <a:solidFill>
                  <a:srgbClr val="F47A22"/>
                </a:solidFill>
              </a:rPr>
              <a:t>Gated Local LLM Assist</a:t>
            </a:r>
          </a:p>
        </p:txBody>
      </p:sp>
      <p:sp>
        <p:nvSpPr>
          <p:cNvPr id="80" name="llm-assist-body">
            <a:extLst xmlns:a="http://schemas.openxmlformats.org/drawingml/2006/main">
              <a:ext uri="{FF2B5EF4-FFF2-40B4-BE49-F238E27FC236}">
                <a16:creationId xmlns:a16="http://schemas.microsoft.com/office/drawing/2014/main" id="{17F2B9C0-F888-432C-8AA1-206954EF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38575"/>
            <a:ext cx="39052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3263A"/>
                </a:solidFill>
              </a:defRPr>
            </a:pPr>
            <a:r>
              <a:rPr sz="1088" b="0">
                <a:solidFill>
                  <a:srgbClr val="13263A"/>
                </a:solidFill>
              </a:rPr>
              <a:t>1. Intent Review เมื่อ route ยังไม่มั่นใจ</a:t>
            </a:r>
          </a:p>
          <a:p xmlns:a="http://schemas.openxmlformats.org/drawingml/2006/main">
            <a:pPr algn="l">
              <a:defRPr sz="1088" b="0">
                <a:solidFill>
                  <a:srgbClr val="13263A"/>
                </a:solidFill>
              </a:defRPr>
            </a:pPr>
            <a:r>
              <a:rPr sz="1088" b="0">
                <a:solidFill>
                  <a:srgbClr val="13263A"/>
                </a:solidFill>
              </a:rPr>
              <a:t>2. Query Planner แตกคำถามที่พึ่งพากัน</a:t>
            </a:r>
          </a:p>
          <a:p xmlns:a="http://schemas.openxmlformats.org/drawingml/2006/main">
            <a:pPr algn="l">
              <a:defRPr sz="1088" b="0">
                <a:solidFill>
                  <a:srgbClr val="13263A"/>
                </a:solidFill>
              </a:defRPr>
            </a:pPr>
            <a:r>
              <a:rPr sz="1088" b="0">
                <a:solidFill>
                  <a:srgbClr val="13263A"/>
                </a:solidFill>
              </a:rPr>
              <a:t>3. Tool Router เลือก strategy เมื่อ rule ไม่ชัด</a:t>
            </a:r>
          </a:p>
          <a:p xmlns:a="http://schemas.openxmlformats.org/drawingml/2006/main">
            <a:pPr algn="l">
              <a:defRPr sz="1088" b="0">
                <a:solidFill>
                  <a:srgbClr val="13263A"/>
                </a:solidFill>
              </a:defRPr>
            </a:pPr>
            <a:r>
              <a:rPr sz="1088" b="0">
                <a:solidFill>
                  <a:srgbClr val="13263A"/>
                </a:solidFill>
              </a:rPr>
              <a:t>4. Composer เรียบเรียงจาก Evidence + Draft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88" b="0">
                <a:solidFill>
                  <a:srgbClr val="13263A"/>
                </a:solidFill>
              </a:defRPr>
            </a:pPr>
            <a:r>
              <a:rPr sz="1088" b="0">
                <a:solidFill>
                  <a:srgbClr val="13263A"/>
                </a:solidFill>
              </a:rPr>
              <a:t>สูงสุด 2 calls/request | LLM concurrency = 1</a:t>
            </a:r>
          </a:p>
        </p:txBody>
      </p:sp>
      <p:sp>
        <p:nvSpPr>
          <p:cNvPr id="81" name="rag-panel">
            <a:extLst xmlns:a="http://schemas.openxmlformats.org/drawingml/2006/main">
              <a:ext uri="{FF2B5EF4-FFF2-40B4-BE49-F238E27FC236}">
                <a16:creationId xmlns:a16="http://schemas.microsoft.com/office/drawing/2014/main" id="{8399E8A5-BB28-4E35-8D43-38A57FD9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38775"/>
            <a:ext cx="44005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576D4"/>
            </a:solidFill>
            <a:prstDash val="solid"/>
          </a:ln>
        </p:spPr>
      </p:sp>
      <p:sp>
        <p:nvSpPr>
          <p:cNvPr id="82" name="rag-panel-title">
            <a:extLst xmlns:a="http://schemas.openxmlformats.org/drawingml/2006/main">
              <a:ext uri="{FF2B5EF4-FFF2-40B4-BE49-F238E27FC236}">
                <a16:creationId xmlns:a16="http://schemas.microsoft.com/office/drawing/2014/main" id="{235D120B-3FBC-43A7-8164-B92B12BE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02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76D4"/>
                </a:solidFill>
              </a:defRPr>
            </a:pPr>
            <a:r>
              <a:rPr sz="1500" b="1">
                <a:solidFill>
                  <a:srgbClr val="1576D4"/>
                </a:solidFill>
              </a:rPr>
              <a:t>Semantic RAG: ค้นตามความหมาย</a:t>
            </a:r>
          </a:p>
        </p:txBody>
      </p:sp>
      <p:sp>
        <p:nvSpPr>
          <p:cNvPr id="83" name="rag-panel-body">
            <a:extLst xmlns:a="http://schemas.openxmlformats.org/drawingml/2006/main">
              <a:ext uri="{FF2B5EF4-FFF2-40B4-BE49-F238E27FC236}">
                <a16:creationId xmlns:a16="http://schemas.microsoft.com/office/drawing/2014/main" id="{92DDA687-6738-4B42-A7EB-C7A5C9DF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991225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3263A"/>
                </a:solidFill>
              </a:defRPr>
            </a:pPr>
            <a:r>
              <a:rPr sz="1088" b="0">
                <a:solidFill>
                  <a:srgbClr val="13263A"/>
                </a:solidFill>
              </a:rPr>
              <a:t>Question -&gt; BGE Embedding -&gt; Retrieve</a:t>
            </a:r>
          </a:p>
          <a:p xmlns:a="http://schemas.openxmlformats.org/drawingml/2006/main">
            <a:pPr algn="l">
              <a:defRPr sz="1088" b="0">
                <a:solidFill>
                  <a:srgbClr val="13263A"/>
                </a:solidFill>
              </a:defRPr>
            </a:pPr>
            <a:r>
              <a:rPr sz="1088" b="0">
                <a:solidFill>
                  <a:srgbClr val="13263A"/>
                </a:solidFill>
              </a:rPr>
              <a:t>-&gt; Optional Rerank -&gt; Evidence -&gt; Draft</a:t>
            </a:r>
          </a:p>
          <a:p xmlns:a="http://schemas.openxmlformats.org/drawingml/2006/main">
            <a:pPr algn="l">
              <a:defRPr sz="1088" b="0">
                <a:solidFill>
                  <a:srgbClr val="13263A"/>
                </a:solidFill>
              </a:defRPr>
            </a:pPr>
            <a:r>
              <a:rPr sz="1088" b="0">
                <a:solidFill>
                  <a:srgbClr val="13263A"/>
                </a:solidFill>
              </a:rPr>
              <a:t>ใช้กับเอกสารยาว ข่าว กฎ และข้อมูลใหม่</a:t>
            </a:r>
          </a:p>
        </p:txBody>
      </p:sp>
      <p:sp>
        <p:nvSpPr>
          <p:cNvPr id="84" name="safety-panel">
            <a:extLst xmlns:a="http://schemas.openxmlformats.org/drawingml/2006/main">
              <a:ext uri="{FF2B5EF4-FFF2-40B4-BE49-F238E27FC236}">
                <a16:creationId xmlns:a16="http://schemas.microsoft.com/office/drawing/2014/main" id="{A1F3DF82-4CBF-4130-B929-9984CDAF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972300"/>
            <a:ext cx="440055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C94B5D"/>
            </a:solidFill>
            <a:prstDash val="solid"/>
          </a:ln>
        </p:spPr>
      </p:sp>
      <p:sp>
        <p:nvSpPr>
          <p:cNvPr id="85" name="safety-panel-title">
            <a:extLst xmlns:a="http://schemas.openxmlformats.org/drawingml/2006/main">
              <a:ext uri="{FF2B5EF4-FFF2-40B4-BE49-F238E27FC236}">
                <a16:creationId xmlns:a16="http://schemas.microsoft.com/office/drawing/2014/main" id="{A812FC7E-F2E3-4335-96FB-4E796B5A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1437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4B5D"/>
                </a:solidFill>
              </a:defRPr>
            </a:pPr>
            <a:r>
              <a:rPr sz="1500" b="1">
                <a:solidFill>
                  <a:srgbClr val="C94B5D"/>
                </a:solidFill>
              </a:rPr>
              <a:t>Answer Safety: กันตอบผิดก่อนส่ง</a:t>
            </a:r>
          </a:p>
        </p:txBody>
      </p:sp>
      <p:sp>
        <p:nvSpPr>
          <p:cNvPr id="86" name="safety-panel-body">
            <a:extLst xmlns:a="http://schemas.openxmlformats.org/drawingml/2006/main">
              <a:ext uri="{FF2B5EF4-FFF2-40B4-BE49-F238E27FC236}">
                <a16:creationId xmlns:a16="http://schemas.microsoft.com/office/drawing/2014/main" id="{ADC9FB90-92AF-4213-8948-617A1132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52475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3263A"/>
                </a:solidFill>
              </a:defRPr>
            </a:pPr>
            <a:r>
              <a:rPr sz="1088" b="0">
                <a:solidFill>
                  <a:srgbClr val="13263A"/>
                </a:solidFill>
              </a:rPr>
              <a:t>Boundary + Ambiguity Gate | Source Guard</a:t>
            </a:r>
          </a:p>
          <a:p xmlns:a="http://schemas.openxmlformats.org/drawingml/2006/main">
            <a:pPr algn="l">
              <a:defRPr sz="1088" b="0">
                <a:solidFill>
                  <a:srgbClr val="13263A"/>
                </a:solidFill>
              </a:defRPr>
            </a:pPr>
            <a:r>
              <a:rPr sz="1088" b="0">
                <a:solidFill>
                  <a:srgbClr val="13263A"/>
                </a:solidFill>
              </a:rPr>
              <a:t>Answer Contract | Bounded Repair | Hard Veto</a:t>
            </a:r>
          </a:p>
          <a:p xmlns:a="http://schemas.openxmlformats.org/drawingml/2006/main">
            <a:pPr algn="l">
              <a:defRPr sz="1088" b="0">
                <a:solidFill>
                  <a:srgbClr val="13263A"/>
                </a:solidFill>
              </a:defRPr>
            </a:pPr>
            <a:r>
              <a:rPr sz="1088" b="0">
                <a:solidFill>
                  <a:srgbClr val="13263A"/>
                </a:solidFill>
              </a:rPr>
              <a:t>ไม่มีหลักฐานจริง -&gt; ถามกลับหรือ no-answer</a:t>
            </a:r>
          </a:p>
        </p:txBody>
      </p:sp>
      <p:sp>
        <p:nvSpPr>
          <p:cNvPr id="87" name="bottom-band">
            <a:extLst xmlns:a="http://schemas.openxmlformats.org/drawingml/2006/main">
              <a:ext uri="{FF2B5EF4-FFF2-40B4-BE49-F238E27FC236}">
                <a16:creationId xmlns:a16="http://schemas.microsoft.com/office/drawing/2014/main" id="{90BBA07C-15A3-45E8-AC04-D3DA612A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43950"/>
            <a:ext cx="15240000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E4"/>
            </a:solidFill>
            <a:prstDash val="solid"/>
          </a:ln>
        </p:spPr>
      </p:sp>
      <p:sp>
        <p:nvSpPr>
          <p:cNvPr id="88" name="benchmark-heading">
            <a:extLst xmlns:a="http://schemas.openxmlformats.org/drawingml/2006/main">
              <a:ext uri="{FF2B5EF4-FFF2-40B4-BE49-F238E27FC236}">
                <a16:creationId xmlns:a16="http://schemas.microsoft.com/office/drawing/2014/main" id="{7C4487AD-E97A-46B5-A696-B94A3E0C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916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63A"/>
                </a:solidFill>
              </a:defRPr>
            </a:pPr>
            <a:r>
              <a:rPr sz="1650" b="1">
                <a:solidFill>
                  <a:srgbClr val="13263A"/>
                </a:solidFill>
              </a:rPr>
              <a:t>Current benchmark</a:t>
            </a:r>
          </a:p>
        </p:txBody>
      </p:sp>
      <p:sp>
        <p:nvSpPr>
          <p:cNvPr id="89" name="benchmark-values">
            <a:extLst xmlns:a="http://schemas.openxmlformats.org/drawingml/2006/main">
              <a:ext uri="{FF2B5EF4-FFF2-40B4-BE49-F238E27FC236}">
                <a16:creationId xmlns:a16="http://schemas.microsoft.com/office/drawing/2014/main" id="{CFE7C6C5-B1BB-4864-A459-9B927BCD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439275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76D4"/>
                </a:solidFill>
              </a:defRPr>
            </a:pPr>
            <a:r>
              <a:rPr sz="2550" b="1">
                <a:solidFill>
                  <a:srgbClr val="1576D4"/>
                </a:solidFill>
              </a:rPr>
              <a:t>1,600+</a:t>
            </a:r>
          </a:p>
        </p:txBody>
      </p:sp>
      <p:sp>
        <p:nvSpPr>
          <p:cNvPr id="90" name="benchmark-label-1">
            <a:extLst xmlns:a="http://schemas.openxmlformats.org/drawingml/2006/main">
              <a:ext uri="{FF2B5EF4-FFF2-40B4-BE49-F238E27FC236}">
                <a16:creationId xmlns:a16="http://schemas.microsoft.com/office/drawing/2014/main" id="{E4D2FE90-BBE3-4E51-8299-FB1A3EFB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774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6F82"/>
                </a:solidFill>
              </a:defRPr>
            </a:pPr>
            <a:r>
              <a:rPr sz="1013" b="0">
                <a:solidFill>
                  <a:srgbClr val="5D6F82"/>
                </a:solidFill>
              </a:rPr>
              <a:t>evaluation cases</a:t>
            </a:r>
          </a:p>
        </p:txBody>
      </p:sp>
      <p:sp>
        <p:nvSpPr>
          <p:cNvPr id="91" name="pass-value">
            <a:extLst xmlns:a="http://schemas.openxmlformats.org/drawingml/2006/main">
              <a:ext uri="{FF2B5EF4-FFF2-40B4-BE49-F238E27FC236}">
                <a16:creationId xmlns:a16="http://schemas.microsoft.com/office/drawing/2014/main" id="{D1E90BB1-C1C8-49DF-9059-5961D38C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439275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A085"/>
                </a:solidFill>
              </a:defRPr>
            </a:pPr>
            <a:r>
              <a:rPr sz="2550" b="1">
                <a:solidFill>
                  <a:srgbClr val="16A085"/>
                </a:solidFill>
              </a:rPr>
              <a:t>94.75%</a:t>
            </a:r>
          </a:p>
        </p:txBody>
      </p:sp>
      <p:sp>
        <p:nvSpPr>
          <p:cNvPr id="92" name="pass-label">
            <a:extLst xmlns:a="http://schemas.openxmlformats.org/drawingml/2006/main">
              <a:ext uri="{FF2B5EF4-FFF2-40B4-BE49-F238E27FC236}">
                <a16:creationId xmlns:a16="http://schemas.microsoft.com/office/drawing/2014/main" id="{7E3FEC5B-6F2A-4883-95C3-EC5844F7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8774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6F82"/>
                </a:solidFill>
              </a:defRPr>
            </a:pPr>
            <a:r>
              <a:rPr sz="1013" b="0">
                <a:solidFill>
                  <a:srgbClr val="5D6F82"/>
                </a:solidFill>
              </a:rPr>
              <a:t>pass rate</a:t>
            </a:r>
          </a:p>
        </p:txBody>
      </p:sp>
      <p:sp>
        <p:nvSpPr>
          <p:cNvPr id="93" name="avg-value">
            <a:extLst xmlns:a="http://schemas.openxmlformats.org/drawingml/2006/main">
              <a:ext uri="{FF2B5EF4-FFF2-40B4-BE49-F238E27FC236}">
                <a16:creationId xmlns:a16="http://schemas.microsoft.com/office/drawing/2014/main" id="{0BD0D97F-CA45-4FE5-B221-C2058A74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9439275"/>
            <a:ext cx="114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7A22"/>
                </a:solidFill>
              </a:defRPr>
            </a:pPr>
            <a:r>
              <a:rPr sz="2550" b="1">
                <a:solidFill>
                  <a:srgbClr val="F47A22"/>
                </a:solidFill>
              </a:rPr>
              <a:t>2.31s</a:t>
            </a:r>
          </a:p>
        </p:txBody>
      </p:sp>
      <p:sp>
        <p:nvSpPr>
          <p:cNvPr id="94" name="avg-label">
            <a:extLst xmlns:a="http://schemas.openxmlformats.org/drawingml/2006/main">
              <a:ext uri="{FF2B5EF4-FFF2-40B4-BE49-F238E27FC236}">
                <a16:creationId xmlns:a16="http://schemas.microsoft.com/office/drawing/2014/main" id="{C66107C5-88FE-496D-B79E-3902B8A4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98774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6F82"/>
                </a:solidFill>
              </a:defRPr>
            </a:pPr>
            <a:r>
              <a:rPr sz="1013" b="0">
                <a:solidFill>
                  <a:srgbClr val="5D6F82"/>
                </a:solidFill>
              </a:rPr>
              <a:t>average</a:t>
            </a:r>
          </a:p>
        </p:txBody>
      </p:sp>
      <p:sp>
        <p:nvSpPr>
          <p:cNvPr id="95" name="p95-value">
            <a:extLst xmlns:a="http://schemas.openxmlformats.org/drawingml/2006/main">
              <a:ext uri="{FF2B5EF4-FFF2-40B4-BE49-F238E27FC236}">
                <a16:creationId xmlns:a16="http://schemas.microsoft.com/office/drawing/2014/main" id="{E854E6DD-8953-4AEA-A3CE-43B029ED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9439275"/>
            <a:ext cx="133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4B5D"/>
                </a:solidFill>
              </a:defRPr>
            </a:pPr>
            <a:r>
              <a:rPr sz="2550" b="1">
                <a:solidFill>
                  <a:srgbClr val="C94B5D"/>
                </a:solidFill>
              </a:rPr>
              <a:t>12.53s</a:t>
            </a:r>
          </a:p>
        </p:txBody>
      </p:sp>
      <p:sp>
        <p:nvSpPr>
          <p:cNvPr id="96" name="p95-label">
            <a:extLst xmlns:a="http://schemas.openxmlformats.org/drawingml/2006/main">
              <a:ext uri="{FF2B5EF4-FFF2-40B4-BE49-F238E27FC236}">
                <a16:creationId xmlns:a16="http://schemas.microsoft.com/office/drawing/2014/main" id="{78D4DFB2-5ED8-433B-A8AC-456738DB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987742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D6F82"/>
                </a:solidFill>
              </a:defRPr>
            </a:pPr>
            <a:r>
              <a:rPr sz="1013" b="0">
                <a:solidFill>
                  <a:srgbClr val="5D6F82"/>
                </a:solidFill>
              </a:rPr>
              <a:t>P95 - ยังเกินเป้า 10s</a:t>
            </a:r>
          </a:p>
        </p:txBody>
      </p:sp>
      <p:sp>
        <p:nvSpPr>
          <p:cNvPr id="97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26B812B4-5CC5-427E-B5A1-C1E8AB1C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9010650"/>
            <a:ext cx="190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4"/>
          </a:solidFill>
          <a:ln xmlns:a="http://schemas.openxmlformats.org/drawingml/2006/main" w="0">
            <a:solidFill>
              <a:srgbClr val="CAD7E4"/>
            </a:solidFill>
            <a:prstDash val="solid"/>
          </a:ln>
        </p:spPr>
      </p:sp>
      <p:sp>
        <p:nvSpPr>
          <p:cNvPr id="98" name="roadmap-heading">
            <a:extLst xmlns:a="http://schemas.openxmlformats.org/drawingml/2006/main">
              <a:ext uri="{FF2B5EF4-FFF2-40B4-BE49-F238E27FC236}">
                <a16:creationId xmlns:a16="http://schemas.microsoft.com/office/drawing/2014/main" id="{6343D839-6DA8-47AF-B964-CA9E9638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9916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63A"/>
                </a:solidFill>
              </a:defRPr>
            </a:pPr>
            <a:r>
              <a:rPr sz="1650" b="1">
                <a:solidFill>
                  <a:srgbClr val="13263A"/>
                </a:solidFill>
              </a:rPr>
              <a:t>Core Functions &amp; Status</a:t>
            </a:r>
          </a:p>
        </p:txBody>
      </p:sp>
      <p:sp>
        <p:nvSpPr>
          <p:cNvPr id="99" name="faq-ready-bg">
            <a:extLst xmlns:a="http://schemas.openxmlformats.org/drawingml/2006/main">
              <a:ext uri="{FF2B5EF4-FFF2-40B4-BE49-F238E27FC236}">
                <a16:creationId xmlns:a16="http://schemas.microsoft.com/office/drawing/2014/main" id="{5D2988CE-BDF8-4467-8B09-606B49EE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9467850"/>
            <a:ext cx="19526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9525">
            <a:solidFill>
              <a:srgbClr val="16A085"/>
            </a:solidFill>
            <a:prstDash val="solid"/>
          </a:ln>
        </p:spPr>
      </p:sp>
      <p:sp>
        <p:nvSpPr>
          <p:cNvPr id="100" name="faq-ready-text">
            <a:extLst xmlns:a="http://schemas.openxmlformats.org/drawingml/2006/main">
              <a:ext uri="{FF2B5EF4-FFF2-40B4-BE49-F238E27FC236}">
                <a16:creationId xmlns:a16="http://schemas.microsoft.com/office/drawing/2014/main" id="{BDD4DD28-523F-4404-98F2-862CB8E4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9515475"/>
            <a:ext cx="1800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FAQ CHATBOT | READY</a:t>
            </a:r>
          </a:p>
        </p:txBody>
      </p:sp>
      <p:sp>
        <p:nvSpPr>
          <p:cNvPr id="101" name="slot-wait-bg">
            <a:extLst xmlns:a="http://schemas.openxmlformats.org/drawingml/2006/main">
              <a:ext uri="{FF2B5EF4-FFF2-40B4-BE49-F238E27FC236}">
                <a16:creationId xmlns:a16="http://schemas.microsoft.com/office/drawing/2014/main" id="{64E2C36F-431B-4DD5-BBD1-3FFD1F4F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9467850"/>
            <a:ext cx="2476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A22"/>
          </a:solidFill>
          <a:ln xmlns:a="http://schemas.openxmlformats.org/drawingml/2006/main" w="9525">
            <a:solidFill>
              <a:srgbClr val="F47A22"/>
            </a:solidFill>
            <a:prstDash val="solid"/>
          </a:ln>
        </p:spPr>
      </p:sp>
      <p:sp>
        <p:nvSpPr>
          <p:cNvPr id="102" name="slot-wait-text">
            <a:extLst xmlns:a="http://schemas.openxmlformats.org/drawingml/2006/main">
              <a:ext uri="{FF2B5EF4-FFF2-40B4-BE49-F238E27FC236}">
                <a16:creationId xmlns:a16="http://schemas.microsoft.com/office/drawing/2014/main" id="{50B0F598-B248-4006-BE26-73F5573B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9515475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CHECK SLOT | WAITING WP API</a:t>
            </a:r>
          </a:p>
        </p:txBody>
      </p:sp>
      <p:sp>
        <p:nvSpPr>
          <p:cNvPr id="103" name="input-design-bg">
            <a:extLst xmlns:a="http://schemas.openxmlformats.org/drawingml/2006/main">
              <a:ext uri="{FF2B5EF4-FFF2-40B4-BE49-F238E27FC236}">
                <a16:creationId xmlns:a16="http://schemas.microsoft.com/office/drawing/2014/main" id="{70CAACD6-A9DE-49AE-A63E-A048BF7E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9886950"/>
            <a:ext cx="2143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6D4"/>
          </a:solidFill>
          <a:ln xmlns:a="http://schemas.openxmlformats.org/drawingml/2006/main" w="9525">
            <a:solidFill>
              <a:srgbClr val="1576D4"/>
            </a:solidFill>
            <a:prstDash val="solid"/>
          </a:ln>
        </p:spPr>
      </p:sp>
      <p:sp>
        <p:nvSpPr>
          <p:cNvPr id="104" name="input-design-text">
            <a:extLst xmlns:a="http://schemas.openxmlformats.org/drawingml/2006/main">
              <a:ext uri="{FF2B5EF4-FFF2-40B4-BE49-F238E27FC236}">
                <a16:creationId xmlns:a16="http://schemas.microsoft.com/office/drawing/2014/main" id="{02F9AB3E-6C92-499D-B584-2716622F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9934575"/>
            <a:ext cx="1990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ADMIN INPUT | DESIGNED</a:t>
            </a:r>
          </a:p>
        </p:txBody>
      </p:sp>
      <p:sp>
        <p:nvSpPr>
          <p:cNvPr id="105" name="booking-future-bg">
            <a:extLst xmlns:a="http://schemas.openxmlformats.org/drawingml/2006/main">
              <a:ext uri="{FF2B5EF4-FFF2-40B4-BE49-F238E27FC236}">
                <a16:creationId xmlns:a16="http://schemas.microsoft.com/office/drawing/2014/main" id="{1159E404-92CE-49B8-8D57-4E1DF46E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98869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B5D"/>
          </a:solidFill>
          <a:ln xmlns:a="http://schemas.openxmlformats.org/drawingml/2006/main" w="9525">
            <a:solidFill>
              <a:srgbClr val="C94B5D"/>
            </a:solidFill>
            <a:prstDash val="solid"/>
          </a:ln>
        </p:spPr>
      </p:sp>
      <p:sp>
        <p:nvSpPr>
          <p:cNvPr id="106" name="booking-future-text">
            <a:extLst xmlns:a="http://schemas.openxmlformats.org/drawingml/2006/main">
              <a:ext uri="{FF2B5EF4-FFF2-40B4-BE49-F238E27FC236}">
                <a16:creationId xmlns:a16="http://schemas.microsoft.com/office/drawing/2014/main" id="{76FAB530-F547-4FC0-9140-0EEDE947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993457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BOOKING | FUTURE</a:t>
            </a:r>
          </a:p>
        </p:txBody>
      </p:sp>
      <p:sp>
        <p:nvSpPr>
          <p:cNvPr id="107" name="next-work">
            <a:extLst xmlns:a="http://schemas.openxmlformats.org/drawingml/2006/main">
              <a:ext uri="{FF2B5EF4-FFF2-40B4-BE49-F238E27FC236}">
                <a16:creationId xmlns:a16="http://schemas.microsoft.com/office/drawing/2014/main" id="{B82F496A-35FE-49C9-9DBE-95F99234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9839325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63A"/>
                </a:solidFill>
              </a:defRPr>
            </a:pPr>
            <a:r>
              <a:rPr sz="975" b="1">
                <a:solidFill>
                  <a:srgbClr val="13263A"/>
                </a:solidFill>
              </a:rPr>
              <a:t>Next: multi-user load test, shared queue, session isolation และลด P95 ให้ไม่เกิน 10 วินาที</a:t>
            </a:r>
          </a:p>
        </p:txBody>
      </p:sp>
    </p:spTree>
    <p:extLst>
      <p:ext uri="{BB962C8B-B14F-4D97-AF65-F5344CB8AC3E}">
        <p14:creationId xmlns:p14="http://schemas.microsoft.com/office/powerpoint/2010/main" val="2009326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2026-08-27T08:45:44.5260000Z</dcterms:created>
  <dcterms:modified xsi:type="dcterms:W3CDTF">2026-08-27T08:45:44.5260000Z</dcterms:modified>
</coreProperties>
</file>