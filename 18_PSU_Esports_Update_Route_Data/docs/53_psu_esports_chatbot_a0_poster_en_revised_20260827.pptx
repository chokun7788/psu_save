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24c9c490e646c1" /><Relationship Type="http://schemas.openxmlformats.org/officeDocument/2006/relationships/extended-properties" Target="/docProps/app.xml" Id="R786989a129a04605" /><Relationship Type="http://schemas.openxmlformats.org/officeDocument/2006/relationships/officeDocument" Target="/ppt/presentation.xml" Id="R7041e7b14b2c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ab9421867443c"/>
  </p:sldMasterIdLst>
  <p:notesMasterIdLst>
    <p:notesMasterId xmlns:r="http://schemas.openxmlformats.org/officeDocument/2006/relationships" r:id="R073786b5136948ae"/>
  </p:notesMasterIdLst>
  <p:sldIdLst>
    <p:sldId xmlns:r="http://schemas.openxmlformats.org/officeDocument/2006/relationships" id="256" r:id="R6131570f4a2a46d9"/>
  </p:sldIdLst>
  <p:sldSz cx="30275784" cy="428061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f3536fe34b420e" /><Relationship Type="http://schemas.openxmlformats.org/officeDocument/2006/relationships/slideMaster" Target="/ppt/slideMasters/slideMaster1.xml" Id="Rd19ab9421867443c" /><Relationship Type="http://schemas.openxmlformats.org/officeDocument/2006/relationships/notesMaster" Target="/ppt/notesMasters/notesMaster1.xml" Id="R073786b5136948ae" /><Relationship Type="http://schemas.openxmlformats.org/officeDocument/2006/relationships/presProps" Target="/ppt/presProps.xml" Id="Rbc3dd20f50c64998" /><Relationship Type="http://schemas.openxmlformats.org/officeDocument/2006/relationships/tableStyles" Target="/ppt/tableStyles.xml" Id="Ra43512dae615481c" /><Relationship Type="http://schemas.openxmlformats.org/officeDocument/2006/relationships/slide" Target="/ppt/slides/slide1.xml" Id="R6131570f4a2a46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1130a38cb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0c75aedd4451e" /><Relationship Type="http://schemas.openxmlformats.org/officeDocument/2006/relationships/notesMaster" Target="/ppt/notesMasters/notesMaster1.xml" Id="R284e86f6c36b4e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A0 background supplied by the user: D:/Download New/SuperAI6_PosterA0-Template_PNG.png</a:t>
            </a:r>
          </a:p>
          <a:p xmlns:a="http://schemas.openxmlformats.org/drawingml/2006/main">
            <a:r>
              <a:t>PSU Esports Studio logo supplied by the user: C:/Users/Chokhun/Downloads/Sticker.pdf.png</a:t>
            </a:r>
          </a:p>
          <a:p xmlns:a="http://schemas.openxmlformats.org/drawingml/2006/main">
            <a:r>
              <a:t>Design references supplied by the user: D:/Download New/_Real-Time Conversational AI Pipeline Poster.pdf; C:/Users/Chokhun/AppData/Local/Temp/1.png; C:/Users/Chokhun/AppData/Local/Temp/codex-clipboard-83d3ecea-c793-438d-83d8-9c66c7f7bb4a.png</a:t>
            </a:r>
          </a:p>
          <a:p xmlns:a="http://schemas.openxmlformats.org/drawingml/2006/main">
            <a:r>
              <a:t>Project architecture and evaluation: project docs/43, docs/45-46, and daily logs dated 2026-08-27.</a:t>
            </a:r>
          </a:p>
          <a:p xmlns:a="http://schemas.openxmlformats.org/drawingml/2006/main">
            <a:r>
              <a:t>PSU Esports Studio official website: https://esports.phuket.psu.ac.th/</a:t>
            </a:r>
          </a:p>
          <a:p xmlns:a="http://schemas.openxmlformats.org/drawingml/2006/main">
            <a:r>
              <a:t>Typhoon model card: https://huggingface.co/typhoon-ai/typhoon2.5-qwen3-4b</a:t>
            </a:r>
          </a:p>
          <a:p xmlns:a="http://schemas.openxmlformats.org/drawingml/2006/main">
            <a:r>
              <a:t>BGE-M3 paper: https://arxiv.org/abs/2402.03216</a:t>
            </a:r>
          </a:p>
          <a:p xmlns:a="http://schemas.openxmlformats.org/drawingml/2006/main">
            <a:r>
              <a:t>Hero illustration generated with the built-in image generation tool on 2026-08-27.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57e735ba643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9c146ba1414af3" /><Relationship Type="http://schemas.openxmlformats.org/officeDocument/2006/relationships/slideLayout" Target="/ppt/slideLayouts/slideLayout1.xml" Id="R57e9496f3cc04f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9496f3cc04f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258370584413" /><Relationship Type="http://schemas.openxmlformats.org/officeDocument/2006/relationships/image" Target="/ppt/media/image.png" Id="R47391e708b55455d" /><Relationship Type="http://schemas.openxmlformats.org/officeDocument/2006/relationships/image" Target="/ppt/media/image2.png" Id="R21104c59ce564948" /><Relationship Type="http://schemas.openxmlformats.org/officeDocument/2006/relationships/image" Target="/ppt/media/image3.png" Id="R54a454969f8648f6" /><Relationship Type="http://schemas.openxmlformats.org/officeDocument/2006/relationships/notesSlide" Target="/ppt/notesSlides/notesSlide1.xml" Id="R68d54c60228b4f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91e708b5545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5784" cy="42806112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04c59ce564948"/>
          <a:stretch xmlns:a="http://schemas.openxmlformats.org/drawingml/2006/main"/>
        </p:blipFill>
        <p:spPr>
          <a:xfrm xmlns:a="http://schemas.openxmlformats.org/drawingml/2006/main">
            <a:off x="1476375" y="6564313"/>
            <a:ext cx="4953000" cy="1444625"/>
          </a:xfrm>
          <a:prstGeom xmlns:a="http://schemas.openxmlformats.org/drawingml/2006/main" prst="rect">
            <a:avLst/>
          </a:prstGeom>
        </p:spPr>
      </p:pic>
      <p:sp>
        <p:nvSpPr>
          <p:cNvPr id="3" name="channel">
            <a:extLst xmlns:a="http://schemas.openxmlformats.org/drawingml/2006/main">
              <a:ext uri="{FF2B5EF4-FFF2-40B4-BE49-F238E27FC236}">
                <a16:creationId xmlns:a16="http://schemas.microsoft.com/office/drawing/2014/main" id="{E253B3B1-F26D-4E27-974B-111C5F7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2867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64AE"/>
                </a:solidFill>
              </a:defRPr>
            </a:pPr>
            <a:r>
              <a:rPr sz="3150" b="1">
                <a:solidFill>
                  <a:srgbClr val="1C64AE"/>
                </a:solidFill>
              </a:rPr>
              <a:t>LOCAL-FIRST WEBSITE CHATBOT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49B862-0250-4829-8912-241A0E2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143625"/>
            <a:ext cx="1714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1FF182B-5307-4022-AB60-6741BECD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2133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92441"/>
                </a:solidFill>
              </a:defRPr>
            </a:pPr>
            <a:r>
              <a:rPr sz="6150" b="1">
                <a:solidFill>
                  <a:srgbClr val="092441"/>
                </a:solidFill>
              </a:rPr>
              <a:t>AI Chatbot for Multi-Route Hybrid</a:t>
            </a:r>
          </a:p>
          <a:p xmlns:a="http://schemas.openxmlformats.org/drawingml/2006/main">
            <a:pPr algn="l">
              <a:defRPr sz="6150" b="1">
                <a:solidFill>
                  <a:srgbClr val="092441"/>
                </a:solidFill>
              </a:defRPr>
            </a:pPr>
            <a:r>
              <a:rPr sz="6150" b="1">
                <a:solidFill>
                  <a:srgbClr val="092441"/>
                </a:solidFill>
              </a:rPr>
              <a:t>Esports Knowledge Base</a:t>
            </a:r>
          </a:p>
        </p:txBody>
      </p:sp>
      <p:sp>
        <p:nvSpPr>
          <p:cNvPr id="6" name="tagline">
            <a:extLst xmlns:a="http://schemas.openxmlformats.org/drawingml/2006/main">
              <a:ext uri="{FF2B5EF4-FFF2-40B4-BE49-F238E27FC236}">
                <a16:creationId xmlns:a16="http://schemas.microsoft.com/office/drawing/2014/main" id="{CBE3D625-182C-4FA6-AAB1-C28402B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267700"/>
            <a:ext cx="2133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64AE"/>
                </a:solidFill>
              </a:defRPr>
            </a:pPr>
            <a:r>
              <a:rPr sz="3600" b="1">
                <a:solidFill>
                  <a:srgbClr val="1C64AE"/>
                </a:solidFill>
              </a:rPr>
              <a:t>Fast factual routes + semantic retrieval + gated local LLM assistance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57FA0AA5-EA84-4780-80DE-E24F3116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001125"/>
            <a:ext cx="2133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3283C"/>
                </a:solidFill>
              </a:defRPr>
            </a:pPr>
            <a:r>
              <a:rPr sz="3750" b="1">
                <a:solidFill>
                  <a:srgbClr val="13283C"/>
                </a:solidFill>
              </a:rPr>
              <a:t>Presented by นายภาสวุฒิ ชูติประชากิจ  |  Trainee ID 600584</a:t>
            </a:r>
          </a:p>
        </p:txBody>
      </p:sp>
      <p:sp>
        <p:nvSpPr>
          <p:cNvPr id="8" name="host">
            <a:extLst xmlns:a="http://schemas.openxmlformats.org/drawingml/2006/main">
              <a:ext uri="{FF2B5EF4-FFF2-40B4-BE49-F238E27FC236}">
                <a16:creationId xmlns:a16="http://schemas.microsoft.com/office/drawing/2014/main" id="{270C0F20-0BD8-4038-9A93-CB05950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591675"/>
            <a:ext cx="2133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536A7F"/>
                </a:solidFill>
              </a:defRPr>
            </a:pPr>
            <a:r>
              <a:rPr sz="3600" b="0">
                <a:solidFill>
                  <a:srgbClr val="536A7F"/>
                </a:solidFill>
              </a:rPr>
              <a:t>Host Organization: PSU Esports Studio - Phuket</a:t>
            </a:r>
          </a:p>
        </p:txBody>
      </p:sp>
      <p:sp>
        <p:nvSpPr>
          <p:cNvPr id="9" name="overview-bar">
            <a:extLst xmlns:a="http://schemas.openxmlformats.org/drawingml/2006/main">
              <a:ext uri="{FF2B5EF4-FFF2-40B4-BE49-F238E27FC236}">
                <a16:creationId xmlns:a16="http://schemas.microsoft.com/office/drawing/2014/main" id="{1198DDC1-CA6A-4665-A883-13EB045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57275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10" name="overview-accent">
            <a:extLst xmlns:a="http://schemas.openxmlformats.org/drawingml/2006/main">
              <a:ext uri="{FF2B5EF4-FFF2-40B4-BE49-F238E27FC236}">
                <a16:creationId xmlns:a16="http://schemas.microsoft.com/office/drawing/2014/main" id="{BBD0ED5A-078A-46A0-B8BB-37E1C15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57275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1" name="overview-title">
            <a:extLst xmlns:a="http://schemas.openxmlformats.org/drawingml/2006/main">
              <a:ext uri="{FF2B5EF4-FFF2-40B4-BE49-F238E27FC236}">
                <a16:creationId xmlns:a16="http://schemas.microsoft.com/office/drawing/2014/main" id="{DE4D6CCD-1ECF-45F1-A984-5C9CF033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63942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1. PROJECT OVERVIEW</a:t>
            </a:r>
          </a:p>
        </p:txBody>
      </p:sp>
      <p:sp>
        <p:nvSpPr>
          <p:cNvPr id="12" name="overview-purpose">
            <a:extLst xmlns:a="http://schemas.openxmlformats.org/drawingml/2006/main">
              <a:ext uri="{FF2B5EF4-FFF2-40B4-BE49-F238E27FC236}">
                <a16:creationId xmlns:a16="http://schemas.microsoft.com/office/drawing/2014/main" id="{3992D954-D2D1-4AC5-8F13-23F32D15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5252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86E21"/>
                </a:solidFill>
              </a:defRPr>
            </a:pPr>
            <a:r>
              <a:rPr sz="3750" b="1">
                <a:solidFill>
                  <a:srgbClr val="E86E21"/>
                </a:solidFill>
              </a:rPr>
              <a:t>PURPOSE</a:t>
            </a:r>
          </a:p>
        </p:txBody>
      </p:sp>
      <p:sp>
        <p:nvSpPr>
          <p:cNvPr id="13" name="overview-copy">
            <a:extLst xmlns:a="http://schemas.openxmlformats.org/drawingml/2006/main">
              <a:ext uri="{FF2B5EF4-FFF2-40B4-BE49-F238E27FC236}">
                <a16:creationId xmlns:a16="http://schemas.microsoft.com/office/drawing/2014/main" id="{FEE35C74-839F-469A-A408-29A83AE1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0"/>
            <a:ext cx="1209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3283C"/>
                </a:solidFill>
              </a:defRPr>
            </a:pPr>
            <a:r>
              <a:rPr sz="3150" b="0">
                <a:solidFill>
                  <a:srgbClr val="13283C"/>
                </a:solidFill>
              </a:rPr>
              <a:t>A local-first website assistant for PSU Esports Studio - Phuket. It answers FAQ questions directly, preserves conversation context, and avoids unsupported claims by grounding every response in verified evidence.</a:t>
            </a:r>
          </a:p>
        </p:txBody>
      </p:sp>
      <p:sp>
        <p:nvSpPr>
          <p:cNvPr id="14" name="success-title">
            <a:extLst xmlns:a="http://schemas.openxmlformats.org/drawingml/2006/main">
              <a:ext uri="{FF2B5EF4-FFF2-40B4-BE49-F238E27FC236}">
                <a16:creationId xmlns:a16="http://schemas.microsoft.com/office/drawing/2014/main" id="{439BCB2D-FE17-4CA6-A72F-5093878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9065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8C75"/>
                </a:solidFill>
              </a:defRPr>
            </a:pPr>
            <a:r>
              <a:rPr sz="3450" b="1">
                <a:solidFill>
                  <a:srgbClr val="148C75"/>
                </a:solidFill>
              </a:rPr>
              <a:t>SUCCESS CRITERIA</a:t>
            </a:r>
          </a:p>
        </p:txBody>
      </p:sp>
      <p:sp>
        <p:nvSpPr>
          <p:cNvPr id="15" name="success-copy">
            <a:extLst xmlns:a="http://schemas.openxmlformats.org/drawingml/2006/main">
              <a:ext uri="{FF2B5EF4-FFF2-40B4-BE49-F238E27FC236}">
                <a16:creationId xmlns:a16="http://schemas.microsoft.com/office/drawing/2014/main" id="{9173A5FE-9F7E-4782-8A05-8FCEC1AC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430375"/>
            <a:ext cx="1209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6A7F"/>
                </a:solidFill>
              </a:defRPr>
            </a:pPr>
            <a:r>
              <a:rPr sz="3000" b="1">
                <a:solidFill>
                  <a:srgbClr val="536A7F"/>
                </a:solidFill>
              </a:rPr>
              <a:t>Exact intent  |  Evidence-backed facts  |  Safe clarification  |  User-visible response &lt;= 10 seconds</a:t>
            </a:r>
          </a:p>
        </p:txBody>
      </p:sp>
      <p:sp>
        <p:nvSpPr>
          <p:cNvPr id="16" name="hero-frame">
            <a:extLst xmlns:a="http://schemas.openxmlformats.org/drawingml/2006/main">
              <a:ext uri="{FF2B5EF4-FFF2-40B4-BE49-F238E27FC236}">
                <a16:creationId xmlns:a16="http://schemas.microsoft.com/office/drawing/2014/main" id="{215D6A05-AC40-48E6-9FF4-101D01DD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1525250"/>
            <a:ext cx="144589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092441"/>
          </a:solidFill>
          <a:ln xmlns:a="http://schemas.openxmlformats.org/drawingml/2006/main" w="0">
            <a:solidFill>
              <a:srgbClr val="092441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454969f8648f6"/>
          <a:srcRect xmlns:a="http://schemas.openxmlformats.org/drawingml/2006/main" l="0" t="34931" r="0" b="3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82750" y="11525250"/>
            <a:ext cx="14458950" cy="2905125"/>
          </a:xfrm>
          <a:prstGeom xmlns:a="http://schemas.openxmlformats.org/drawingml/2006/main" prst="rect">
            <a:avLst/>
          </a:prstGeom>
        </p:spPr>
      </p:pic>
      <p:sp>
        <p:nvSpPr>
          <p:cNvPr id="18" name="profile-line">
            <a:extLst xmlns:a="http://schemas.openxmlformats.org/drawingml/2006/main">
              <a:ext uri="{FF2B5EF4-FFF2-40B4-BE49-F238E27FC236}">
                <a16:creationId xmlns:a16="http://schemas.microsoft.com/office/drawing/2014/main" id="{E5B1B4F4-AAAB-4246-955E-B038C012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4478000"/>
            <a:ext cx="1445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C64AE"/>
                </a:solidFill>
              </a:defRPr>
            </a:pPr>
            <a:r>
              <a:rPr sz="2850" b="1">
                <a:solidFill>
                  <a:srgbClr val="1C64AE"/>
                </a:solidFill>
              </a:rPr>
              <a:t>42 GAMES  |  WEBSITE  |  MAX 2 LLM CALLS  |  LLM CONCURRENCY 1  |  TARGET &lt;= 10s</a:t>
            </a:r>
          </a:p>
        </p:txBody>
      </p:sp>
      <p:sp>
        <p:nvSpPr>
          <p:cNvPr id="19" name="models-bar">
            <a:extLst xmlns:a="http://schemas.openxmlformats.org/drawingml/2006/main">
              <a:ext uri="{FF2B5EF4-FFF2-40B4-BE49-F238E27FC236}">
                <a16:creationId xmlns:a16="http://schemas.microsoft.com/office/drawing/2014/main" id="{5DBF6D78-2C95-4B5B-B849-8D458BF5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6656B7"/>
          </a:solidFill>
          <a:ln xmlns:a="http://schemas.openxmlformats.org/drawingml/2006/main" w="0">
            <a:solidFill>
              <a:srgbClr val="6656B7"/>
            </a:solidFill>
            <a:prstDash val="solid"/>
          </a:ln>
        </p:spPr>
      </p:sp>
      <p:sp>
        <p:nvSpPr>
          <p:cNvPr id="20" name="models-accent">
            <a:extLst xmlns:a="http://schemas.openxmlformats.org/drawingml/2006/main">
              <a:ext uri="{FF2B5EF4-FFF2-40B4-BE49-F238E27FC236}">
                <a16:creationId xmlns:a16="http://schemas.microsoft.com/office/drawing/2014/main" id="{0FC7B078-0D75-4630-9AE4-6A67DCBD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21" name="models-title">
            <a:extLst xmlns:a="http://schemas.openxmlformats.org/drawingml/2006/main">
              <a:ext uri="{FF2B5EF4-FFF2-40B4-BE49-F238E27FC236}">
                <a16:creationId xmlns:a16="http://schemas.microsoft.com/office/drawing/2014/main" id="{13F08A0D-E4EF-407D-AD45-A39C763B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40192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2. CORE AI MODELS &amp; ANSWERING ROUTES</a:t>
            </a:r>
          </a:p>
        </p:txBody>
      </p:sp>
      <p:sp>
        <p:nvSpPr>
          <p:cNvPr id="22" name="deterministic-panel">
            <a:extLst xmlns:a="http://schemas.openxmlformats.org/drawingml/2006/main">
              <a:ext uri="{FF2B5EF4-FFF2-40B4-BE49-F238E27FC236}">
                <a16:creationId xmlns:a16="http://schemas.microsoft.com/office/drawing/2014/main" id="{F16AA542-00FA-4D7E-BEEC-E82B22AB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35375"/>
            <a:ext cx="8382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23" name="deterministic-top-line">
            <a:extLst xmlns:a="http://schemas.openxmlformats.org/drawingml/2006/main">
              <a:ext uri="{FF2B5EF4-FFF2-40B4-BE49-F238E27FC236}">
                <a16:creationId xmlns:a16="http://schemas.microsoft.com/office/drawing/2014/main" id="{E15091A7-4525-4880-95CE-5FE56BF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24" name="deterministic-eyebrow">
            <a:extLst xmlns:a="http://schemas.openxmlformats.org/drawingml/2006/main">
              <a:ext uri="{FF2B5EF4-FFF2-40B4-BE49-F238E27FC236}">
                <a16:creationId xmlns:a16="http://schemas.microsoft.com/office/drawing/2014/main" id="{49B40838-7BDE-4B57-AABC-756DACAC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8C75"/>
                </a:solidFill>
              </a:defRPr>
            </a:pPr>
            <a:r>
              <a:rPr sz="3000" b="1">
                <a:solidFill>
                  <a:srgbClr val="148C75"/>
                </a:solidFill>
              </a:rPr>
              <a:t>DETERMINISTIC BACKBONE</a:t>
            </a:r>
          </a:p>
        </p:txBody>
      </p:sp>
      <p:sp>
        <p:nvSpPr>
          <p:cNvPr id="25" name="deterministic-model">
            <a:extLst xmlns:a="http://schemas.openxmlformats.org/drawingml/2006/main">
              <a:ext uri="{FF2B5EF4-FFF2-40B4-BE49-F238E27FC236}">
                <a16:creationId xmlns:a16="http://schemas.microsoft.com/office/drawing/2014/main" id="{C3715A18-ACA1-4751-A858-678DE26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116425"/>
            <a:ext cx="777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FAST + STRUCTURED</a:t>
            </a:r>
          </a:p>
        </p:txBody>
      </p:sp>
      <p:sp>
        <p:nvSpPr>
          <p:cNvPr id="26" name="deterministic-body">
            <a:extLst xmlns:a="http://schemas.openxmlformats.org/drawingml/2006/main">
              <a:ext uri="{FF2B5EF4-FFF2-40B4-BE49-F238E27FC236}">
                <a16:creationId xmlns:a16="http://schemas.microsoft.com/office/drawing/2014/main" id="{5E592D5F-953A-422C-BC1A-945A4ECF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935575"/>
            <a:ext cx="7772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3283C"/>
                </a:solidFill>
              </a:defRPr>
            </a:pPr>
            <a:r>
              <a:rPr sz="3000" b="0">
                <a:solidFill>
                  <a:srgbClr val="13283C"/>
                </a:solidFill>
              </a:rPr>
              <a:t>Exact facts and calculations: games, prices, zones, equipment, opening hours and fixed FAQ records.</a:t>
            </a:r>
          </a:p>
        </p:txBody>
      </p:sp>
      <p:sp>
        <p:nvSpPr>
          <p:cNvPr id="27" name="deterministic-footer">
            <a:extLst xmlns:a="http://schemas.openxmlformats.org/drawingml/2006/main">
              <a:ext uri="{FF2B5EF4-FFF2-40B4-BE49-F238E27FC236}">
                <a16:creationId xmlns:a16="http://schemas.microsoft.com/office/drawing/2014/main" id="{3D14D2BB-A858-4699-97D5-80D140E0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316700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8C75"/>
                </a:solidFill>
              </a:defRPr>
            </a:pPr>
            <a:r>
              <a:rPr sz="2850" b="1">
                <a:solidFill>
                  <a:srgbClr val="148C75"/>
                </a:solidFill>
              </a:rPr>
              <a:t>NO LLM CALL  |  NO MODEL QUEUE</a:t>
            </a:r>
          </a:p>
        </p:txBody>
      </p:sp>
      <p:sp>
        <p:nvSpPr>
          <p:cNvPr id="28" name="bge-panel">
            <a:extLst xmlns:a="http://schemas.openxmlformats.org/drawingml/2006/main">
              <a:ext uri="{FF2B5EF4-FFF2-40B4-BE49-F238E27FC236}">
                <a16:creationId xmlns:a16="http://schemas.microsoft.com/office/drawing/2014/main" id="{CAA04634-44B6-4FF5-BF2D-EC0E51A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6335375"/>
            <a:ext cx="8382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2687D7"/>
            </a:solidFill>
            <a:prstDash val="solid"/>
          </a:ln>
        </p:spPr>
      </p:sp>
      <p:sp>
        <p:nvSpPr>
          <p:cNvPr id="29" name="bge-top-line">
            <a:extLst xmlns:a="http://schemas.openxmlformats.org/drawingml/2006/main">
              <a:ext uri="{FF2B5EF4-FFF2-40B4-BE49-F238E27FC236}">
                <a16:creationId xmlns:a16="http://schemas.microsoft.com/office/drawing/2014/main" id="{24D609A2-4A2B-423F-8205-1A38527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7D7"/>
          </a:solidFill>
          <a:ln xmlns:a="http://schemas.openxmlformats.org/drawingml/2006/main" w="0">
            <a:solidFill>
              <a:srgbClr val="2687D7"/>
            </a:solidFill>
            <a:prstDash val="solid"/>
          </a:ln>
        </p:spPr>
      </p:sp>
      <p:sp>
        <p:nvSpPr>
          <p:cNvPr id="30" name="bge-eyebrow">
            <a:extLst xmlns:a="http://schemas.openxmlformats.org/drawingml/2006/main">
              <a:ext uri="{FF2B5EF4-FFF2-40B4-BE49-F238E27FC236}">
                <a16:creationId xmlns:a16="http://schemas.microsoft.com/office/drawing/2014/main" id="{A4EA1A30-A184-4FCA-B9B1-278A0B22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87D7"/>
                </a:solidFill>
              </a:defRPr>
            </a:pPr>
            <a:r>
              <a:rPr sz="3000" b="1">
                <a:solidFill>
                  <a:srgbClr val="2687D7"/>
                </a:solidFill>
              </a:rPr>
              <a:t>RETRIEVAL MODEL</a:t>
            </a:r>
          </a:p>
        </p:txBody>
      </p:sp>
      <p:sp>
        <p:nvSpPr>
          <p:cNvPr id="31" name="bge-model">
            <a:extLst xmlns:a="http://schemas.openxmlformats.org/drawingml/2006/main">
              <a:ext uri="{FF2B5EF4-FFF2-40B4-BE49-F238E27FC236}">
                <a16:creationId xmlns:a16="http://schemas.microsoft.com/office/drawing/2014/main" id="{C8D3DA31-DB48-45DB-BDD9-87FE27D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7116425"/>
            <a:ext cx="777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BGE-M3</a:t>
            </a:r>
          </a:p>
        </p:txBody>
      </p:sp>
      <p:sp>
        <p:nvSpPr>
          <p:cNvPr id="32" name="bge-body">
            <a:extLst xmlns:a="http://schemas.openxmlformats.org/drawingml/2006/main">
              <a:ext uri="{FF2B5EF4-FFF2-40B4-BE49-F238E27FC236}">
                <a16:creationId xmlns:a16="http://schemas.microsoft.com/office/drawing/2014/main" id="{4796C479-2C9C-4898-9A9C-1BB6916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7935575"/>
            <a:ext cx="7772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3283C"/>
                </a:solidFill>
              </a:defRPr>
            </a:pPr>
            <a:r>
              <a:rPr sz="3000" b="0">
                <a:solidFill>
                  <a:srgbClr val="13283C"/>
                </a:solidFill>
              </a:rPr>
              <a:t>Embedding and semantic retrieval for long documents, rules, news and newly added knowledge. Retrieved evidence is checked before use.</a:t>
            </a:r>
          </a:p>
        </p:txBody>
      </p:sp>
      <p:sp>
        <p:nvSpPr>
          <p:cNvPr id="33" name="bge-footer">
            <a:extLst xmlns:a="http://schemas.openxmlformats.org/drawingml/2006/main">
              <a:ext uri="{FF2B5EF4-FFF2-40B4-BE49-F238E27FC236}">
                <a16:creationId xmlns:a16="http://schemas.microsoft.com/office/drawing/2014/main" id="{6F484965-6EB7-4EE0-B7CB-BEA4A08E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9316700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87D7"/>
                </a:solidFill>
              </a:defRPr>
            </a:pPr>
            <a:r>
              <a:rPr sz="2850" b="1">
                <a:solidFill>
                  <a:srgbClr val="2687D7"/>
                </a:solidFill>
              </a:rPr>
              <a:t>OPTIONAL RERANKER  |  SOURCE GUARD</a:t>
            </a:r>
          </a:p>
        </p:txBody>
      </p:sp>
      <p:sp>
        <p:nvSpPr>
          <p:cNvPr id="34" name="typhoon-panel">
            <a:extLst xmlns:a="http://schemas.openxmlformats.org/drawingml/2006/main">
              <a:ext uri="{FF2B5EF4-FFF2-40B4-BE49-F238E27FC236}">
                <a16:creationId xmlns:a16="http://schemas.microsoft.com/office/drawing/2014/main" id="{A76E4FB3-739C-4FDE-A254-B3F2C18B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6335375"/>
            <a:ext cx="8382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35" name="typhoon-top-line">
            <a:extLst xmlns:a="http://schemas.openxmlformats.org/drawingml/2006/main">
              <a:ext uri="{FF2B5EF4-FFF2-40B4-BE49-F238E27FC236}">
                <a16:creationId xmlns:a16="http://schemas.microsoft.com/office/drawing/2014/main" id="{87FB6E29-B5E6-452B-A394-06CEABF0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36" name="typhoon-eyebrow">
            <a:extLst xmlns:a="http://schemas.openxmlformats.org/drawingml/2006/main">
              <a:ext uri="{FF2B5EF4-FFF2-40B4-BE49-F238E27FC236}">
                <a16:creationId xmlns:a16="http://schemas.microsoft.com/office/drawing/2014/main" id="{3EA03927-D147-438E-A589-AF018C3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86E21"/>
                </a:solidFill>
              </a:defRPr>
            </a:pPr>
            <a:r>
              <a:rPr sz="3000" b="1">
                <a:solidFill>
                  <a:srgbClr val="E86E21"/>
                </a:solidFill>
              </a:rPr>
              <a:t>LOCAL GENERATIVE MODEL</a:t>
            </a:r>
          </a:p>
        </p:txBody>
      </p:sp>
      <p:sp>
        <p:nvSpPr>
          <p:cNvPr id="37" name="typhoon-model">
            <a:extLst xmlns:a="http://schemas.openxmlformats.org/drawingml/2006/main">
              <a:ext uri="{FF2B5EF4-FFF2-40B4-BE49-F238E27FC236}">
                <a16:creationId xmlns:a16="http://schemas.microsoft.com/office/drawing/2014/main" id="{8620C35E-4515-4D64-B024-8DE3811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7116425"/>
            <a:ext cx="777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Typhoon2.5 Qwen3 4B</a:t>
            </a:r>
          </a:p>
        </p:txBody>
      </p:sp>
      <p:sp>
        <p:nvSpPr>
          <p:cNvPr id="38" name="typhoon-body">
            <a:extLst xmlns:a="http://schemas.openxmlformats.org/drawingml/2006/main">
              <a:ext uri="{FF2B5EF4-FFF2-40B4-BE49-F238E27FC236}">
                <a16:creationId xmlns:a16="http://schemas.microsoft.com/office/drawing/2014/main" id="{6C357AC1-76BF-4A16-850C-444767B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7935575"/>
            <a:ext cx="7772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3283C"/>
                </a:solidFill>
              </a:defRPr>
            </a:pPr>
            <a:r>
              <a:rPr sz="3000" b="0">
                <a:solidFill>
                  <a:srgbClr val="13283C"/>
                </a:solidFill>
              </a:rPr>
              <a:t>Intent review, dependent-query planning, tool routing and evidence-constrained composition. It cannot create new PSU facts.</a:t>
            </a:r>
          </a:p>
        </p:txBody>
      </p:sp>
      <p:sp>
        <p:nvSpPr>
          <p:cNvPr id="39" name="typhoon-footer">
            <a:extLst xmlns:a="http://schemas.openxmlformats.org/drawingml/2006/main">
              <a:ext uri="{FF2B5EF4-FFF2-40B4-BE49-F238E27FC236}">
                <a16:creationId xmlns:a16="http://schemas.microsoft.com/office/drawing/2014/main" id="{989EEDFD-F777-4C52-8708-9E7FA45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9316700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6E21"/>
                </a:solidFill>
              </a:defRPr>
            </a:pPr>
            <a:r>
              <a:rPr sz="2850" b="1">
                <a:solidFill>
                  <a:srgbClr val="E86E21"/>
                </a:solidFill>
              </a:rPr>
              <a:t>MODEL ID: scb10x/typhoon2.5-qwen3-4b</a:t>
            </a:r>
          </a:p>
        </p:txBody>
      </p:sp>
      <p:sp>
        <p:nvSpPr>
          <p:cNvPr id="40" name="flow-bar">
            <a:extLst xmlns:a="http://schemas.openxmlformats.org/drawingml/2006/main">
              <a:ext uri="{FF2B5EF4-FFF2-40B4-BE49-F238E27FC236}">
                <a16:creationId xmlns:a16="http://schemas.microsoft.com/office/drawing/2014/main" id="{4BCF66F7-144F-4B9C-B6A7-19D2D6EA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31125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41" name="flow-accent">
            <a:extLst xmlns:a="http://schemas.openxmlformats.org/drawingml/2006/main">
              <a:ext uri="{FF2B5EF4-FFF2-40B4-BE49-F238E27FC236}">
                <a16:creationId xmlns:a16="http://schemas.microsoft.com/office/drawing/2014/main" id="{5A50EE96-BDC1-41C8-B476-9DD92416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31125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42" name="flow-title">
            <a:extLst xmlns:a="http://schemas.openxmlformats.org/drawingml/2006/main">
              <a:ext uri="{FF2B5EF4-FFF2-40B4-BE49-F238E27FC236}">
                <a16:creationId xmlns:a16="http://schemas.microsoft.com/office/drawing/2014/main" id="{A4701C1F-9202-4C55-8E3D-B8E3A4F5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497800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3. HOW THE CHATBOT ANSWERS</a:t>
            </a:r>
          </a:p>
        </p:txBody>
      </p:sp>
      <p:sp>
        <p:nvSpPr>
          <p:cNvPr id="43" name="input-node">
            <a:extLst xmlns:a="http://schemas.openxmlformats.org/drawingml/2006/main">
              <a:ext uri="{FF2B5EF4-FFF2-40B4-BE49-F238E27FC236}">
                <a16:creationId xmlns:a16="http://schemas.microsoft.com/office/drawing/2014/main" id="{627FF8C8-5B57-4ABA-B1E0-CB8E9570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1C64AE"/>
            </a:solidFill>
            <a:prstDash val="solid"/>
          </a:ln>
        </p:spPr>
      </p:sp>
      <p:sp>
        <p:nvSpPr>
          <p:cNvPr id="44" name="input-title">
            <a:extLst xmlns:a="http://schemas.openxmlformats.org/drawingml/2006/main">
              <a:ext uri="{FF2B5EF4-FFF2-40B4-BE49-F238E27FC236}">
                <a16:creationId xmlns:a16="http://schemas.microsoft.com/office/drawing/2014/main" id="{201D4267-A564-4DFF-8910-2C25005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58365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C64AE"/>
                </a:solidFill>
              </a:defRPr>
            </a:pPr>
            <a:r>
              <a:rPr sz="3450" b="1">
                <a:solidFill>
                  <a:srgbClr val="1C64AE"/>
                </a:solidFill>
              </a:rPr>
              <a:t>WEB CHAT + GUARD</a:t>
            </a:r>
          </a:p>
        </p:txBody>
      </p:sp>
      <p:sp>
        <p:nvSpPr>
          <p:cNvPr id="45" name="input-body">
            <a:extLst xmlns:a="http://schemas.openxmlformats.org/drawingml/2006/main">
              <a:ext uri="{FF2B5EF4-FFF2-40B4-BE49-F238E27FC236}">
                <a16:creationId xmlns:a16="http://schemas.microsoft.com/office/drawing/2014/main" id="{49A781C5-FF48-483E-A2F9-039A0E4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098000"/>
            <a:ext cx="763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Request ID, admission control, session context and global deadline</a:t>
            </a:r>
          </a:p>
        </p:txBody>
      </p:sp>
      <p:sp>
        <p:nvSpPr>
          <p:cNvPr id="46" name="understand-node">
            <a:extLst xmlns:a="http://schemas.openxmlformats.org/drawingml/2006/main">
              <a:ext uri="{FF2B5EF4-FFF2-40B4-BE49-F238E27FC236}">
                <a16:creationId xmlns:a16="http://schemas.microsoft.com/office/drawing/2014/main" id="{64A5D619-34A8-4551-9D34-9F6F6165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FFF"/>
          </a:solidFill>
          <a:ln xmlns:a="http://schemas.openxmlformats.org/drawingml/2006/main" w="28575">
            <a:solidFill>
              <a:srgbClr val="6656B7"/>
            </a:solidFill>
            <a:prstDash val="solid"/>
          </a:ln>
        </p:spPr>
      </p:sp>
      <p:sp>
        <p:nvSpPr>
          <p:cNvPr id="47" name="understand-title">
            <a:extLst xmlns:a="http://schemas.openxmlformats.org/drawingml/2006/main">
              <a:ext uri="{FF2B5EF4-FFF2-40B4-BE49-F238E27FC236}">
                <a16:creationId xmlns:a16="http://schemas.microsoft.com/office/drawing/2014/main" id="{EE2B0F2E-A622-4C30-8B13-91107BEE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58365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6656B7"/>
                </a:solidFill>
              </a:defRPr>
            </a:pPr>
            <a:r>
              <a:rPr sz="3450" b="1">
                <a:solidFill>
                  <a:srgbClr val="6656B7"/>
                </a:solidFill>
              </a:rPr>
              <a:t>UNDERSTAND</a:t>
            </a:r>
          </a:p>
        </p:txBody>
      </p:sp>
      <p:sp>
        <p:nvSpPr>
          <p:cNvPr id="48" name="understand-body">
            <a:extLst xmlns:a="http://schemas.openxmlformats.org/drawingml/2006/main">
              <a:ext uri="{FF2B5EF4-FFF2-40B4-BE49-F238E27FC236}">
                <a16:creationId xmlns:a16="http://schemas.microsoft.com/office/drawing/2014/main" id="{0790166A-844C-4649-88ED-FD90BFE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098000"/>
            <a:ext cx="763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Resolve references, split questions, detect intent, target and ambiguity</a:t>
            </a:r>
          </a:p>
        </p:txBody>
      </p:sp>
      <p:sp>
        <p:nvSpPr>
          <p:cNvPr id="49" name="route-node">
            <a:extLst xmlns:a="http://schemas.openxmlformats.org/drawingml/2006/main">
              <a:ext uri="{FF2B5EF4-FFF2-40B4-BE49-F238E27FC236}">
                <a16:creationId xmlns:a16="http://schemas.microsoft.com/office/drawing/2014/main" id="{137EE2B9-2009-43E9-AA3A-9048469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50" name="route-title">
            <a:extLst xmlns:a="http://schemas.openxmlformats.org/drawingml/2006/main">
              <a:ext uri="{FF2B5EF4-FFF2-40B4-BE49-F238E27FC236}">
                <a16:creationId xmlns:a16="http://schemas.microsoft.com/office/drawing/2014/main" id="{D2191F0B-6B62-4DFA-98BA-B6823C60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2158365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86E21"/>
                </a:solidFill>
              </a:defRPr>
            </a:pPr>
            <a:r>
              <a:rPr sz="3450" b="1">
                <a:solidFill>
                  <a:srgbClr val="E86E21"/>
                </a:solidFill>
              </a:rPr>
              <a:t>SELECT ROUTE</a:t>
            </a:r>
          </a:p>
        </p:txBody>
      </p:sp>
      <p:sp>
        <p:nvSpPr>
          <p:cNvPr id="51" name="route-body">
            <a:extLst xmlns:a="http://schemas.openxmlformats.org/drawingml/2006/main">
              <a:ext uri="{FF2B5EF4-FFF2-40B4-BE49-F238E27FC236}">
                <a16:creationId xmlns:a16="http://schemas.microsoft.com/office/drawing/2014/main" id="{57A7E080-B8AC-4491-95DB-9F2FBBA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22098000"/>
            <a:ext cx="763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Rank candidates, check tool preconditions and available evidence</a:t>
            </a:r>
          </a:p>
        </p:txBody>
      </p:sp>
      <p:cxnSp>
        <p:nvCxnSpPr>
          <p:cNvPr id="177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9525000" y="2214562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D6E4"/>
            </a:solidFill>
            <a:prstDash val="solid"/>
            <a:tailEnd type="arrow" w="med" len="med"/>
          </a:ln>
        </p:spPr>
      </p:cxnSp>
      <p:cxnSp>
        <p:nvCxnSpPr>
          <p:cNvPr id="178" name=""/>
          <p:cNvCxnSpPr>
            <a:stCxn xmlns:a="http://schemas.openxmlformats.org/drawingml/2006/main" id="4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9183350" y="2214562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D6E4"/>
            </a:solidFill>
            <a:prstDash val="solid"/>
            <a:tailEnd type="arrow" w="med" len="med"/>
          </a:ln>
        </p:spPr>
      </p:cxnSp>
      <p:sp>
        <p:nvSpPr>
          <p:cNvPr id="54" name="fast-node">
            <a:extLst xmlns:a="http://schemas.openxmlformats.org/drawingml/2006/main">
              <a:ext uri="{FF2B5EF4-FFF2-40B4-BE49-F238E27FC236}">
                <a16:creationId xmlns:a16="http://schemas.microsoft.com/office/drawing/2014/main" id="{27D3B257-CDA5-471C-BA1C-24EC4245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55" name="fast-title">
            <a:extLst xmlns:a="http://schemas.openxmlformats.org/drawingml/2006/main">
              <a:ext uri="{FF2B5EF4-FFF2-40B4-BE49-F238E27FC236}">
                <a16:creationId xmlns:a16="http://schemas.microsoft.com/office/drawing/2014/main" id="{483AAC10-408F-45A6-A572-94E12177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67915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48C75"/>
                </a:solidFill>
              </a:defRPr>
            </a:pPr>
            <a:r>
              <a:rPr sz="3450" b="1">
                <a:solidFill>
                  <a:srgbClr val="148C75"/>
                </a:solidFill>
              </a:rPr>
              <a:t>FAST / STRUCTURED</a:t>
            </a:r>
          </a:p>
        </p:txBody>
      </p:sp>
      <p:sp>
        <p:nvSpPr>
          <p:cNvPr id="56" name="fast-body">
            <a:extLst xmlns:a="http://schemas.openxmlformats.org/drawingml/2006/main">
              <a:ext uri="{FF2B5EF4-FFF2-40B4-BE49-F238E27FC236}">
                <a16:creationId xmlns:a16="http://schemas.microsoft.com/office/drawing/2014/main" id="{A816BA1F-D2FF-42E1-A15C-2FA74C8A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193500"/>
            <a:ext cx="716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Use verified exact records</a:t>
            </a:r>
          </a:p>
        </p:txBody>
      </p:sp>
      <p:sp>
        <p:nvSpPr>
          <p:cNvPr id="57" name="rag-node">
            <a:extLst xmlns:a="http://schemas.openxmlformats.org/drawingml/2006/main">
              <a:ext uri="{FF2B5EF4-FFF2-40B4-BE49-F238E27FC236}">
                <a16:creationId xmlns:a16="http://schemas.microsoft.com/office/drawing/2014/main" id="{B6E05508-6870-43FC-9CF4-47AEADD6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2687D7"/>
            </a:solidFill>
            <a:prstDash val="solid"/>
          </a:ln>
        </p:spPr>
      </p:sp>
      <p:sp>
        <p:nvSpPr>
          <p:cNvPr id="58" name="rag-title">
            <a:extLst xmlns:a="http://schemas.openxmlformats.org/drawingml/2006/main">
              <a:ext uri="{FF2B5EF4-FFF2-40B4-BE49-F238E27FC236}">
                <a16:creationId xmlns:a16="http://schemas.microsoft.com/office/drawing/2014/main" id="{99F97B68-5D22-4361-A6D6-E52CD43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367915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687D7"/>
                </a:solidFill>
              </a:defRPr>
            </a:pPr>
            <a:r>
              <a:rPr sz="3450" b="1">
                <a:solidFill>
                  <a:srgbClr val="2687D7"/>
                </a:solidFill>
              </a:rPr>
              <a:t>SEMANTIC RAG</a:t>
            </a:r>
          </a:p>
        </p:txBody>
      </p:sp>
      <p:sp>
        <p:nvSpPr>
          <p:cNvPr id="59" name="rag-body">
            <a:extLst xmlns:a="http://schemas.openxmlformats.org/drawingml/2006/main">
              <a:ext uri="{FF2B5EF4-FFF2-40B4-BE49-F238E27FC236}">
                <a16:creationId xmlns:a16="http://schemas.microsoft.com/office/drawing/2014/main" id="{A5E236FE-6861-43C1-8E80-C77DEF31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4193500"/>
            <a:ext cx="716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BGE retrieve -&gt; optional rerank</a:t>
            </a:r>
          </a:p>
        </p:txBody>
      </p:sp>
      <p:sp>
        <p:nvSpPr>
          <p:cNvPr id="60" name="safe-node">
            <a:extLst xmlns:a="http://schemas.openxmlformats.org/drawingml/2006/main">
              <a:ext uri="{FF2B5EF4-FFF2-40B4-BE49-F238E27FC236}">
                <a16:creationId xmlns:a16="http://schemas.microsoft.com/office/drawing/2014/main" id="{EA2ECF60-15CB-46D5-8025-5A7EC87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0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758"/>
            </a:solidFill>
            <a:prstDash val="solid"/>
          </a:ln>
        </p:spPr>
      </p:sp>
      <p:sp>
        <p:nvSpPr>
          <p:cNvPr id="61" name="safe-title">
            <a:extLst xmlns:a="http://schemas.openxmlformats.org/drawingml/2006/main">
              <a:ext uri="{FF2B5EF4-FFF2-40B4-BE49-F238E27FC236}">
                <a16:creationId xmlns:a16="http://schemas.microsoft.com/office/drawing/2014/main" id="{98712A63-FBB5-46EE-B346-E6CFE7A9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2367915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64758"/>
                </a:solidFill>
              </a:defRPr>
            </a:pPr>
            <a:r>
              <a:rPr sz="3450" b="1">
                <a:solidFill>
                  <a:srgbClr val="C64758"/>
                </a:solidFill>
              </a:rPr>
              <a:t>SAFE OUTCOME</a:t>
            </a:r>
          </a:p>
        </p:txBody>
      </p:sp>
      <p:sp>
        <p:nvSpPr>
          <p:cNvPr id="62" name="safe-body">
            <a:extLst xmlns:a="http://schemas.openxmlformats.org/drawingml/2006/main">
              <a:ext uri="{FF2B5EF4-FFF2-40B4-BE49-F238E27FC236}">
                <a16:creationId xmlns:a16="http://schemas.microsoft.com/office/drawing/2014/main" id="{3328D20E-2EE7-4615-9CEB-5FF7A399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24193500"/>
            <a:ext cx="716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Clarification or no-answer</a:t>
            </a:r>
          </a:p>
        </p:txBody>
      </p:sp>
      <p:cxnSp>
        <p:nvCxnSpPr>
          <p:cNvPr id="188" name=""/>
          <p:cNvCxnSpPr>
            <a:stCxn xmlns:a="http://schemas.openxmlformats.org/drawingml/2006/main" id="49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 flipH="1">
            <a:off x="5238750" y="22860000"/>
            <a:ext cx="195548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48C75"/>
            </a:solidFill>
            <a:prstDash val="solid"/>
            <a:tailEnd type="arrow" w="med" len="med"/>
          </a:ln>
        </p:spPr>
      </p:cxnSp>
      <p:cxnSp>
        <p:nvCxnSpPr>
          <p:cNvPr id="189" name=""/>
          <p:cNvCxnSpPr>
            <a:stCxn xmlns:a="http://schemas.openxmlformats.org/drawingml/2006/main" id="49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15135225" y="22860000"/>
            <a:ext cx="96583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2687D7"/>
            </a:solidFill>
            <a:prstDash val="solid"/>
            <a:tailEnd type="arrow" w="med" len="med"/>
          </a:ln>
        </p:spPr>
      </p:cxnSp>
      <p:cxnSp>
        <p:nvCxnSpPr>
          <p:cNvPr id="190" name=""/>
          <p:cNvCxnSpPr>
            <a:stCxn xmlns:a="http://schemas.openxmlformats.org/drawingml/2006/main" id="4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4793575" y="22860000"/>
            <a:ext cx="2381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C64758"/>
            </a:solidFill>
            <a:prstDash val="solid"/>
            <a:tailEnd type="arrow" w="med" len="med"/>
          </a:ln>
        </p:spPr>
      </p:cxnSp>
      <p:sp>
        <p:nvSpPr>
          <p:cNvPr id="66" name="evidence-node">
            <a:extLst xmlns:a="http://schemas.openxmlformats.org/drawingml/2006/main">
              <a:ext uri="{FF2B5EF4-FFF2-40B4-BE49-F238E27FC236}">
                <a16:creationId xmlns:a16="http://schemas.microsoft.com/office/drawing/2014/main" id="{C755D18A-1CB7-4DDF-BA8D-8E6D870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74625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67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58994BD8-9774-4BDA-9812-AACDB793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27025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48C75"/>
                </a:solidFill>
              </a:defRPr>
            </a:pPr>
            <a:r>
              <a:rPr sz="3450" b="1">
                <a:solidFill>
                  <a:srgbClr val="148C75"/>
                </a:solidFill>
              </a:rPr>
              <a:t>EVIDENCE + DRAFT</a:t>
            </a:r>
          </a:p>
        </p:txBody>
      </p:sp>
      <p:sp>
        <p:nvSpPr>
          <p:cNvPr id="68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97D05C84-A5D4-4FC4-A9FA-E23E85EC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41375"/>
            <a:ext cx="697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Attach sources and build a factual draft</a:t>
            </a:r>
          </a:p>
        </p:txBody>
      </p:sp>
      <p:sp>
        <p:nvSpPr>
          <p:cNvPr id="69" name="composer-node">
            <a:extLst xmlns:a="http://schemas.openxmlformats.org/drawingml/2006/main">
              <a:ext uri="{FF2B5EF4-FFF2-40B4-BE49-F238E27FC236}">
                <a16:creationId xmlns:a16="http://schemas.microsoft.com/office/drawing/2014/main" id="{A59A6AF2-22B4-4F74-ACF4-60B4FFD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5574625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70" name="composer-title">
            <a:extLst xmlns:a="http://schemas.openxmlformats.org/drawingml/2006/main">
              <a:ext uri="{FF2B5EF4-FFF2-40B4-BE49-F238E27FC236}">
                <a16:creationId xmlns:a16="http://schemas.microsoft.com/office/drawing/2014/main" id="{013B1417-2257-478E-8D65-701C5F0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5727025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86E21"/>
                </a:solidFill>
              </a:defRPr>
            </a:pPr>
            <a:r>
              <a:rPr sz="3450" b="1">
                <a:solidFill>
                  <a:srgbClr val="E86E21"/>
                </a:solidFill>
              </a:rPr>
              <a:t>OPTIONAL LLM ASSIST</a:t>
            </a:r>
          </a:p>
        </p:txBody>
      </p:sp>
      <p:sp>
        <p:nvSpPr>
          <p:cNvPr id="71" name="composer-body">
            <a:extLst xmlns:a="http://schemas.openxmlformats.org/drawingml/2006/main">
              <a:ext uri="{FF2B5EF4-FFF2-40B4-BE49-F238E27FC236}">
                <a16:creationId xmlns:a16="http://schemas.microsoft.com/office/drawing/2014/main" id="{4CF200DF-761C-40AF-B466-21031597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6241375"/>
            <a:ext cx="697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Review, plan or compose only when useful; otherwise bypass</a:t>
            </a:r>
          </a:p>
        </p:txBody>
      </p:sp>
      <p:sp>
        <p:nvSpPr>
          <p:cNvPr id="72" name="final-node">
            <a:extLst xmlns:a="http://schemas.openxmlformats.org/drawingml/2006/main">
              <a:ext uri="{FF2B5EF4-FFF2-40B4-BE49-F238E27FC236}">
                <a16:creationId xmlns:a16="http://schemas.microsoft.com/office/drawing/2014/main" id="{0F606AB5-743D-48FA-A95A-8C573FCE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25574625"/>
            <a:ext cx="7620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758"/>
            </a:solidFill>
            <a:prstDash val="solid"/>
          </a:ln>
        </p:spPr>
      </p:sp>
      <p:sp>
        <p:nvSpPr>
          <p:cNvPr id="73" name="final-title">
            <a:extLst xmlns:a="http://schemas.openxmlformats.org/drawingml/2006/main">
              <a:ext uri="{FF2B5EF4-FFF2-40B4-BE49-F238E27FC236}">
                <a16:creationId xmlns:a16="http://schemas.microsoft.com/office/drawing/2014/main" id="{BD56941A-3035-436F-88B1-164613FF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0" y="2572702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64758"/>
                </a:solidFill>
              </a:defRPr>
            </a:pPr>
            <a:r>
              <a:rPr sz="3450" b="1">
                <a:solidFill>
                  <a:srgbClr val="C64758"/>
                </a:solidFill>
              </a:rPr>
              <a:t>VALIDATE + FINAL ANSWER</a:t>
            </a:r>
          </a:p>
        </p:txBody>
      </p:sp>
      <p:sp>
        <p:nvSpPr>
          <p:cNvPr id="74" name="final-body">
            <a:extLst xmlns:a="http://schemas.openxmlformats.org/drawingml/2006/main">
              <a:ext uri="{FF2B5EF4-FFF2-40B4-BE49-F238E27FC236}">
                <a16:creationId xmlns:a16="http://schemas.microsoft.com/office/drawing/2014/main" id="{779CD013-3EFE-4AA6-A5B6-55647758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0" y="26241375"/>
            <a:ext cx="716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Answer Contract -&gt; repair -&gt; Hard Veto -&gt; website response</a:t>
            </a:r>
          </a:p>
        </p:txBody>
      </p:sp>
      <p:cxnSp>
        <p:nvCxnSpPr>
          <p:cNvPr id="200" name=""/>
          <p:cNvCxnSpPr>
            <a:stCxn xmlns:a="http://schemas.openxmlformats.org/drawingml/2006/main" id="54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5238750" y="24907875"/>
            <a:ext cx="20955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48C75"/>
            </a:solidFill>
            <a:prstDash val="solid"/>
            <a:tailEnd type="arrow" w="med" len="med"/>
          </a:ln>
        </p:spPr>
      </p:cxnSp>
      <p:cxnSp>
        <p:nvCxnSpPr>
          <p:cNvPr id="201" name=""/>
          <p:cNvCxnSpPr>
            <a:stCxn xmlns:a="http://schemas.openxmlformats.org/drawingml/2006/main" id="57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 flipH="1">
            <a:off x="7334250" y="24907875"/>
            <a:ext cx="78009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2687D7"/>
            </a:solidFill>
            <a:prstDash val="solid"/>
            <a:tailEnd type="arrow" w="med" len="med"/>
          </a:ln>
        </p:spPr>
      </p:cxnSp>
      <p:cxnSp>
        <p:nvCxnSpPr>
          <p:cNvPr id="202" name=""/>
          <p:cNvCxnSpPr>
            <a:stCxn xmlns:a="http://schemas.openxmlformats.org/drawingml/2006/main" id="60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 flipH="1">
            <a:off x="23050500" y="24907875"/>
            <a:ext cx="19812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C64758"/>
            </a:solidFill>
            <a:prstDash val="solid"/>
            <a:tailEnd type="arrow" w="med" len="med"/>
          </a:ln>
        </p:spPr>
      </p:cxnSp>
      <p:cxnSp>
        <p:nvCxnSpPr>
          <p:cNvPr id="203" name=""/>
          <p:cNvCxnSpPr>
            <a:stCxn xmlns:a="http://schemas.openxmlformats.org/drawingml/2006/main" id="66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11049000" y="26289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E21"/>
            </a:solidFill>
            <a:prstDash val="solid"/>
            <a:tailEnd type="arrow" w="med" len="med"/>
          </a:ln>
        </p:spPr>
      </p:cxnSp>
      <p:cxnSp>
        <p:nvCxnSpPr>
          <p:cNvPr id="204" name=""/>
          <p:cNvCxnSpPr>
            <a:stCxn xmlns:a="http://schemas.openxmlformats.org/drawingml/2006/main" id="69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18859500" y="26289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E21"/>
            </a:solidFill>
            <a:prstDash val="solid"/>
            <a:tailEnd type="arrow" w="med" len="med"/>
          </a:ln>
        </p:spPr>
      </p:cxnSp>
      <p:sp>
        <p:nvSpPr>
          <p:cNvPr id="80" name="safety-bar">
            <a:extLst xmlns:a="http://schemas.openxmlformats.org/drawingml/2006/main">
              <a:ext uri="{FF2B5EF4-FFF2-40B4-BE49-F238E27FC236}">
                <a16:creationId xmlns:a16="http://schemas.microsoft.com/office/drawing/2014/main" id="{1A05FEB2-D4FF-4BCF-BE4E-4FC97A56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81" name="safety-accent">
            <a:extLst xmlns:a="http://schemas.openxmlformats.org/drawingml/2006/main">
              <a:ext uri="{FF2B5EF4-FFF2-40B4-BE49-F238E27FC236}">
                <a16:creationId xmlns:a16="http://schemas.microsoft.com/office/drawing/2014/main" id="{007FDBD4-64C6-4385-8443-B54ED8DE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82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EB3252AB-A7B6-418E-AB81-BFB5F9D0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68917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4. SAFETY &amp; ANSWER QUALITY CONTROLS</a:t>
            </a:r>
          </a:p>
        </p:txBody>
      </p:sp>
      <p:sp>
        <p:nvSpPr>
          <p:cNvPr id="83" name="boundary-line">
            <a:extLst xmlns:a="http://schemas.openxmlformats.org/drawingml/2006/main">
              <a:ext uri="{FF2B5EF4-FFF2-40B4-BE49-F238E27FC236}">
                <a16:creationId xmlns:a16="http://schemas.microsoft.com/office/drawing/2014/main" id="{B7008E5B-A4DD-4E1B-9E15-EBC1444E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84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4B1FD113-6A4C-412B-BEDC-3D8487F9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64AE"/>
                </a:solidFill>
              </a:defRPr>
            </a:pPr>
            <a:r>
              <a:rPr sz="3300" b="1">
                <a:solidFill>
                  <a:srgbClr val="1C64AE"/>
                </a:solidFill>
              </a:rPr>
              <a:t>Boundary Guard</a:t>
            </a:r>
          </a:p>
        </p:txBody>
      </p:sp>
      <p:sp>
        <p:nvSpPr>
          <p:cNvPr id="85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0EAC9505-5767-4B42-A68E-ED7E97E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51275"/>
            <a:ext cx="47910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Rejects out-of-domain requests and unsupported PSU scopes.</a:t>
            </a:r>
          </a:p>
        </p:txBody>
      </p:sp>
      <p:sp>
        <p:nvSpPr>
          <p:cNvPr id="86" name="ambiguity-line">
            <a:extLst xmlns:a="http://schemas.openxmlformats.org/drawingml/2006/main">
              <a:ext uri="{FF2B5EF4-FFF2-40B4-BE49-F238E27FC236}">
                <a16:creationId xmlns:a16="http://schemas.microsoft.com/office/drawing/2014/main" id="{4A27180B-3A48-40BA-9284-280D6D3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B7"/>
          </a:solidFill>
          <a:ln xmlns:a="http://schemas.openxmlformats.org/drawingml/2006/main" w="0">
            <a:solidFill>
              <a:srgbClr val="6656B7"/>
            </a:solidFill>
            <a:prstDash val="solid"/>
          </a:ln>
        </p:spPr>
      </p:sp>
      <p:sp>
        <p:nvSpPr>
          <p:cNvPr id="87" name="ambiguity-title">
            <a:extLst xmlns:a="http://schemas.openxmlformats.org/drawingml/2006/main">
              <a:ext uri="{FF2B5EF4-FFF2-40B4-BE49-F238E27FC236}">
                <a16:creationId xmlns:a16="http://schemas.microsoft.com/office/drawing/2014/main" id="{BC29EF7C-DA17-4757-B5AF-D42AE728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656B7"/>
                </a:solidFill>
              </a:defRPr>
            </a:pPr>
            <a:r>
              <a:rPr sz="3300" b="1">
                <a:solidFill>
                  <a:srgbClr val="6656B7"/>
                </a:solidFill>
              </a:rPr>
              <a:t>Ambiguity Gate</a:t>
            </a:r>
          </a:p>
        </p:txBody>
      </p:sp>
      <p:sp>
        <p:nvSpPr>
          <p:cNvPr id="88" name="ambiguity-body">
            <a:extLst xmlns:a="http://schemas.openxmlformats.org/drawingml/2006/main">
              <a:ext uri="{FF2B5EF4-FFF2-40B4-BE49-F238E27FC236}">
                <a16:creationId xmlns:a16="http://schemas.microsoft.com/office/drawing/2014/main" id="{8883BB15-74EE-432A-A02B-5A8C9583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51275"/>
            <a:ext cx="47910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Asks when a target, reference or intended item cannot be resolved.</a:t>
            </a:r>
          </a:p>
        </p:txBody>
      </p:sp>
      <p:sp>
        <p:nvSpPr>
          <p:cNvPr id="89" name="source-line">
            <a:extLst xmlns:a="http://schemas.openxmlformats.org/drawingml/2006/main">
              <a:ext uri="{FF2B5EF4-FFF2-40B4-BE49-F238E27FC236}">
                <a16:creationId xmlns:a16="http://schemas.microsoft.com/office/drawing/2014/main" id="{C2088780-55E9-45D4-AD18-0AF792E7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90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CEB39F49-41F2-45DA-9F32-801C68A6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8C75"/>
                </a:solidFill>
              </a:defRPr>
            </a:pPr>
            <a:r>
              <a:rPr sz="3300" b="1">
                <a:solidFill>
                  <a:srgbClr val="148C75"/>
                </a:solidFill>
              </a:rPr>
              <a:t>Source Guard</a:t>
            </a:r>
          </a:p>
        </p:txBody>
      </p:sp>
      <p:sp>
        <p:nvSpPr>
          <p:cNvPr id="91" name="source-body">
            <a:extLst xmlns:a="http://schemas.openxmlformats.org/drawingml/2006/main">
              <a:ext uri="{FF2B5EF4-FFF2-40B4-BE49-F238E27FC236}">
                <a16:creationId xmlns:a16="http://schemas.microsoft.com/office/drawing/2014/main" id="{A620FEBC-8922-407F-BE2C-CF12244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9251275"/>
            <a:ext cx="47910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Checks category, target, trust level and conflicting evidence.</a:t>
            </a:r>
          </a:p>
        </p:txBody>
      </p:sp>
      <p:sp>
        <p:nvSpPr>
          <p:cNvPr id="92" name="contract-line">
            <a:extLst xmlns:a="http://schemas.openxmlformats.org/drawingml/2006/main">
              <a:ext uri="{FF2B5EF4-FFF2-40B4-BE49-F238E27FC236}">
                <a16:creationId xmlns:a16="http://schemas.microsoft.com/office/drawing/2014/main" id="{204DEB08-049C-4F0A-A91C-0E4F26B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93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4DCCC2C5-8B77-476E-81FA-792490F8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6E21"/>
                </a:solidFill>
              </a:defRPr>
            </a:pPr>
            <a:r>
              <a:rPr sz="3300" b="1">
                <a:solidFill>
                  <a:srgbClr val="E86E21"/>
                </a:solidFill>
              </a:rPr>
              <a:t>Answer Contract</a:t>
            </a:r>
          </a:p>
        </p:txBody>
      </p:sp>
      <p:sp>
        <p:nvSpPr>
          <p:cNvPr id="94" name="contract-body">
            <a:extLst xmlns:a="http://schemas.openxmlformats.org/drawingml/2006/main">
              <a:ext uri="{FF2B5EF4-FFF2-40B4-BE49-F238E27FC236}">
                <a16:creationId xmlns:a16="http://schemas.microsoft.com/office/drawing/2014/main" id="{1B10F3D5-6F45-40F9-9B3F-F24C9A58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29251275"/>
            <a:ext cx="47910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Verifies required claims, supported facts and response completeness.</a:t>
            </a:r>
          </a:p>
        </p:txBody>
      </p:sp>
      <p:sp>
        <p:nvSpPr>
          <p:cNvPr id="95" name="veto-line">
            <a:extLst xmlns:a="http://schemas.openxmlformats.org/drawingml/2006/main">
              <a:ext uri="{FF2B5EF4-FFF2-40B4-BE49-F238E27FC236}">
                <a16:creationId xmlns:a16="http://schemas.microsoft.com/office/drawing/2014/main" id="{2F69C7FC-BFC4-4D1B-86D0-BA907720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96" name="veto-title">
            <a:extLst xmlns:a="http://schemas.openxmlformats.org/drawingml/2006/main">
              <a:ext uri="{FF2B5EF4-FFF2-40B4-BE49-F238E27FC236}">
                <a16:creationId xmlns:a16="http://schemas.microsoft.com/office/drawing/2014/main" id="{96B6B181-5C36-4293-9B6B-DFBA932E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28622625"/>
            <a:ext cx="493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64758"/>
                </a:solidFill>
              </a:defRPr>
            </a:pPr>
            <a:r>
              <a:rPr sz="3300" b="1">
                <a:solidFill>
                  <a:srgbClr val="C64758"/>
                </a:solidFill>
              </a:rPr>
              <a:t>Repair + Hard Veto</a:t>
            </a:r>
          </a:p>
        </p:txBody>
      </p:sp>
      <p:sp>
        <p:nvSpPr>
          <p:cNvPr id="97" name="veto-body">
            <a:extLst xmlns:a="http://schemas.openxmlformats.org/drawingml/2006/main">
              <a:ext uri="{FF2B5EF4-FFF2-40B4-BE49-F238E27FC236}">
                <a16:creationId xmlns:a16="http://schemas.microsoft.com/office/drawing/2014/main" id="{0B8481BC-BB71-4A1D-B6B8-86DFD56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29251275"/>
            <a:ext cx="4914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Repairs within a fixed limit; blocks unsafe or unsupported output.</a:t>
            </a:r>
          </a:p>
        </p:txBody>
      </p:sp>
      <p:sp>
        <p:nvSpPr>
          <p:cNvPr id="98" name="safety-takeaway">
            <a:extLst xmlns:a="http://schemas.openxmlformats.org/drawingml/2006/main">
              <a:ext uri="{FF2B5EF4-FFF2-40B4-BE49-F238E27FC236}">
                <a16:creationId xmlns:a16="http://schemas.microsoft.com/office/drawing/2014/main" id="{2A83AB49-158B-41B8-832E-89EF4DD0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0"/>
            <a:ext cx="27412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9050">
            <a:solidFill>
              <a:srgbClr val="C8D6E4"/>
            </a:solidFill>
            <a:prstDash val="solid"/>
          </a:ln>
        </p:spPr>
      </p:sp>
      <p:sp>
        <p:nvSpPr>
          <p:cNvPr id="99" name="safety-takeaway-text">
            <a:extLst xmlns:a="http://schemas.openxmlformats.org/drawingml/2006/main">
              <a:ext uri="{FF2B5EF4-FFF2-40B4-BE49-F238E27FC236}">
                <a16:creationId xmlns:a16="http://schemas.microsoft.com/office/drawing/2014/main" id="{716CC95C-8B66-417E-8321-422A26E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337250"/>
            <a:ext cx="2665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92441"/>
                </a:solidFill>
              </a:defRPr>
            </a:pPr>
            <a:r>
              <a:rPr sz="3150" b="1">
                <a:solidFill>
                  <a:srgbClr val="092441"/>
                </a:solidFill>
              </a:rPr>
              <a:t>If evidence is insufficient, the system asks a clarifying question or returns no-answer instead of guessing.</a:t>
            </a:r>
          </a:p>
        </p:txBody>
      </p:sp>
      <p:sp>
        <p:nvSpPr>
          <p:cNvPr id="100" name="results-bar">
            <a:extLst xmlns:a="http://schemas.openxmlformats.org/drawingml/2006/main">
              <a:ext uri="{FF2B5EF4-FFF2-40B4-BE49-F238E27FC236}">
                <a16:creationId xmlns:a16="http://schemas.microsoft.com/office/drawing/2014/main" id="{B0F7DE97-E466-4F20-BA1B-3D34AAF5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101" name="results-accent">
            <a:extLst xmlns:a="http://schemas.openxmlformats.org/drawingml/2006/main">
              <a:ext uri="{FF2B5EF4-FFF2-40B4-BE49-F238E27FC236}">
                <a16:creationId xmlns:a16="http://schemas.microsoft.com/office/drawing/2014/main" id="{A5AD9CCE-703B-4645-9BF3-8B19B34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02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02946DDE-6106-4030-A48E-A37E4C22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45167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5. RESULTS &amp; PRODUCT READINESS</a:t>
            </a:r>
          </a:p>
        </p:txBody>
      </p:sp>
      <p:sp>
        <p:nvSpPr>
          <p:cNvPr id="103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333EC23-FDBF-4595-8FCB-6834DB0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C64AE"/>
                </a:solidFill>
              </a:defRPr>
            </a:pPr>
            <a:r>
              <a:rPr sz="5400" b="1">
                <a:solidFill>
                  <a:srgbClr val="1C64AE"/>
                </a:solidFill>
              </a:rPr>
              <a:t>1,600+</a:t>
            </a:r>
          </a:p>
        </p:txBody>
      </p:sp>
      <p:sp>
        <p:nvSpPr>
          <p:cNvPr id="10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69DAD55-546D-4D79-AB65-B81B4121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EVALUATION CASES</a:t>
            </a:r>
          </a:p>
        </p:txBody>
      </p:sp>
      <p:sp>
        <p:nvSpPr>
          <p:cNvPr id="105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4DE8CC5-99B1-4650-A4E9-98F1917B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48C75"/>
                </a:solidFill>
              </a:defRPr>
            </a:pPr>
            <a:r>
              <a:rPr sz="5400" b="1">
                <a:solidFill>
                  <a:srgbClr val="148C75"/>
                </a:solidFill>
              </a:rPr>
              <a:t>94.75%</a:t>
            </a:r>
          </a:p>
        </p:txBody>
      </p:sp>
      <p:sp>
        <p:nvSpPr>
          <p:cNvPr id="10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AAF7456E-2139-4649-9867-CC3032E7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PASS RATE</a:t>
            </a:r>
          </a:p>
        </p:txBody>
      </p:sp>
      <p:sp>
        <p:nvSpPr>
          <p:cNvPr id="107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BBD9AF4-40C3-44A9-9183-7A75CF46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E86E21"/>
                </a:solidFill>
              </a:defRPr>
            </a:pPr>
            <a:r>
              <a:rPr sz="5400" b="1">
                <a:solidFill>
                  <a:srgbClr val="E86E21"/>
                </a:solidFill>
              </a:rPr>
              <a:t>2.31 s</a:t>
            </a:r>
          </a:p>
        </p:txBody>
      </p:sp>
      <p:sp>
        <p:nvSpPr>
          <p:cNvPr id="10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E920B75E-678A-4DB4-86A6-A49A6DD5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AVERAGE LATENCY</a:t>
            </a:r>
          </a:p>
        </p:txBody>
      </p:sp>
      <p:sp>
        <p:nvSpPr>
          <p:cNvPr id="109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DAA3FE20-B476-46AC-A99A-B28ED16E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C64758"/>
                </a:solidFill>
              </a:defRPr>
            </a:pPr>
            <a:r>
              <a:rPr sz="5400" b="1">
                <a:solidFill>
                  <a:srgbClr val="C64758"/>
                </a:solidFill>
              </a:rPr>
              <a:t>12.53 s</a:t>
            </a:r>
          </a:p>
        </p:txBody>
      </p:sp>
      <p:sp>
        <p:nvSpPr>
          <p:cNvPr id="110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D698391-93BB-406E-BE80-3F287F2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P95 LATENCY</a:t>
            </a:r>
          </a:p>
        </p:txBody>
      </p:sp>
      <p:sp>
        <p:nvSpPr>
          <p:cNvPr id="111" name="finding">
            <a:extLst xmlns:a="http://schemas.openxmlformats.org/drawingml/2006/main">
              <a:ext uri="{FF2B5EF4-FFF2-40B4-BE49-F238E27FC236}">
                <a16:creationId xmlns:a16="http://schemas.microsoft.com/office/drawing/2014/main" id="{59926D52-2C18-45C6-BFDB-304B4BB0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0"/>
            <a:ext cx="27412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9050">
            <a:solidFill>
              <a:srgbClr val="C8D6E4"/>
            </a:solidFill>
            <a:prstDash val="solid"/>
          </a:ln>
        </p:spPr>
      </p:sp>
      <p:sp>
        <p:nvSpPr>
          <p:cNvPr id="112" name="finding-text">
            <a:extLst xmlns:a="http://schemas.openxmlformats.org/drawingml/2006/main">
              <a:ext uri="{FF2B5EF4-FFF2-40B4-BE49-F238E27FC236}">
                <a16:creationId xmlns:a16="http://schemas.microsoft.com/office/drawing/2014/main" id="{0B5C586B-5874-41F5-AA13-B9EAF9EF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0"/>
            <a:ext cx="2665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283C"/>
                </a:solidFill>
              </a:defRPr>
            </a:pPr>
            <a:r>
              <a:rPr sz="3150" b="1">
                <a:solidFill>
                  <a:srgbClr val="13283C"/>
                </a:solidFill>
              </a:rPr>
              <a:t>KEY FINDING   Average latency meets the 10-second goal, but P95 does not. Tail latency and concurrent-user queueing remain the main production risks.</a:t>
            </a:r>
          </a:p>
        </p:txBody>
      </p:sp>
      <p:sp>
        <p:nvSpPr>
          <p:cNvPr id="113" name="readiness-heading">
            <a:extLst xmlns:a="http://schemas.openxmlformats.org/drawingml/2006/main">
              <a:ext uri="{FF2B5EF4-FFF2-40B4-BE49-F238E27FC236}">
                <a16:creationId xmlns:a16="http://schemas.microsoft.com/office/drawing/2014/main" id="{5AD18616-6C1A-4B5B-90B5-3590B8F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52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2441"/>
                </a:solidFill>
              </a:defRPr>
            </a:pPr>
            <a:r>
              <a:rPr sz="3450" b="1">
                <a:solidFill>
                  <a:srgbClr val="092441"/>
                </a:solidFill>
              </a:rPr>
              <a:t>CURRENT READINESS</a:t>
            </a:r>
          </a:p>
        </p:txBody>
      </p:sp>
      <p:sp>
        <p:nvSpPr>
          <p:cNvPr id="114" name="status-0">
            <a:extLst xmlns:a="http://schemas.openxmlformats.org/drawingml/2006/main">
              <a:ext uri="{FF2B5EF4-FFF2-40B4-BE49-F238E27FC236}">
                <a16:creationId xmlns:a16="http://schemas.microsoft.com/office/drawing/2014/main" id="{E11C5E88-B8B4-4BB1-808F-73C6EFEC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115" name="status-0-text">
            <a:extLst xmlns:a="http://schemas.openxmlformats.org/drawingml/2006/main">
              <a:ext uri="{FF2B5EF4-FFF2-40B4-BE49-F238E27FC236}">
                <a16:creationId xmlns:a16="http://schemas.microsoft.com/office/drawing/2014/main" id="{B51079BA-9CC6-4E21-A78A-2BF8E716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FAQ CHATBOT  |  READY</a:t>
            </a:r>
          </a:p>
        </p:txBody>
      </p:sp>
      <p:sp>
        <p:nvSpPr>
          <p:cNvPr id="116" name="status-1">
            <a:extLst xmlns:a="http://schemas.openxmlformats.org/drawingml/2006/main">
              <a:ext uri="{FF2B5EF4-FFF2-40B4-BE49-F238E27FC236}">
                <a16:creationId xmlns:a16="http://schemas.microsoft.com/office/drawing/2014/main" id="{8C7649D4-44FE-43B6-9D43-FF0E70E6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17" name="status-1-text">
            <a:extLst xmlns:a="http://schemas.openxmlformats.org/drawingml/2006/main">
              <a:ext uri="{FF2B5EF4-FFF2-40B4-BE49-F238E27FC236}">
                <a16:creationId xmlns:a16="http://schemas.microsoft.com/office/drawing/2014/main" id="{C24F789B-7837-4529-B685-B52C533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CHECK SLOT  |  WAITING WP API</a:t>
            </a:r>
          </a:p>
        </p:txBody>
      </p:sp>
      <p:sp>
        <p:nvSpPr>
          <p:cNvPr id="118" name="status-2">
            <a:extLst xmlns:a="http://schemas.openxmlformats.org/drawingml/2006/main">
              <a:ext uri="{FF2B5EF4-FFF2-40B4-BE49-F238E27FC236}">
                <a16:creationId xmlns:a16="http://schemas.microsoft.com/office/drawing/2014/main" id="{7DDDD95F-8092-4ADA-8C17-BA354B7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687D7"/>
          </a:solidFill>
          <a:ln xmlns:a="http://schemas.openxmlformats.org/drawingml/2006/main" w="0">
            <a:solidFill>
              <a:srgbClr val="2687D7"/>
            </a:solidFill>
            <a:prstDash val="solid"/>
          </a:ln>
        </p:spPr>
      </p:sp>
      <p:sp>
        <p:nvSpPr>
          <p:cNvPr id="119" name="status-2-text">
            <a:extLst xmlns:a="http://schemas.openxmlformats.org/drawingml/2006/main">
              <a:ext uri="{FF2B5EF4-FFF2-40B4-BE49-F238E27FC236}">
                <a16:creationId xmlns:a16="http://schemas.microsoft.com/office/drawing/2014/main" id="{71749BFC-DF61-4FF9-9707-C8D2FEF8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ADMIN INPUT  |  DESIGNED</a:t>
            </a:r>
          </a:p>
        </p:txBody>
      </p:sp>
      <p:sp>
        <p:nvSpPr>
          <p:cNvPr id="120" name="status-3">
            <a:extLst xmlns:a="http://schemas.openxmlformats.org/drawingml/2006/main">
              <a:ext uri="{FF2B5EF4-FFF2-40B4-BE49-F238E27FC236}">
                <a16:creationId xmlns:a16="http://schemas.microsoft.com/office/drawing/2014/main" id="{A155C2DA-7714-4E03-BA98-00AC620E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121" name="status-3-text">
            <a:extLst xmlns:a="http://schemas.openxmlformats.org/drawingml/2006/main">
              <a:ext uri="{FF2B5EF4-FFF2-40B4-BE49-F238E27FC236}">
                <a16:creationId xmlns:a16="http://schemas.microsoft.com/office/drawing/2014/main" id="{FB06792A-5771-4025-8F67-3552981D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BOOKING  |  FUTURE</a:t>
            </a:r>
          </a:p>
        </p:txBody>
      </p:sp>
      <p:sp>
        <p:nvSpPr>
          <p:cNvPr id="122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0C24D3C4-EC17-40AC-9E07-BC4C81A1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E86E21"/>
                </a:solidFill>
              </a:defRPr>
            </a:pPr>
            <a:r>
              <a:rPr sz="3375" b="1">
                <a:solidFill>
                  <a:srgbClr val="E86E21"/>
                </a:solidFill>
              </a:rPr>
              <a:t>NEXT MILESTONES</a:t>
            </a:r>
          </a:p>
        </p:txBody>
      </p:sp>
      <p:sp>
        <p:nvSpPr>
          <p:cNvPr id="123" name="next-body">
            <a:extLst xmlns:a="http://schemas.openxmlformats.org/drawingml/2006/main">
              <a:ext uri="{FF2B5EF4-FFF2-40B4-BE49-F238E27FC236}">
                <a16:creationId xmlns:a16="http://schemas.microsoft.com/office/drawing/2014/main" id="{3764E67B-9F81-4D09-851C-5FFB491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38125"/>
            <a:ext cx="1714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3283C"/>
                </a:solidFill>
              </a:defRPr>
            </a:pPr>
            <a:r>
              <a:rPr sz="2925" b="0">
                <a:solidFill>
                  <a:srgbClr val="13283C"/>
                </a:solidFill>
              </a:rPr>
              <a:t>Reduce P95 below 10s  |  Multi-user load and session-isolation tests  |  Shared queue/worker  |  WordPress slot API  |  Dual-publish content workflow</a:t>
            </a:r>
          </a:p>
        </p:txBody>
      </p:sp>
      <p:sp>
        <p:nvSpPr>
          <p:cNvPr id="124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88F11119-3FEF-4930-9904-5B49082F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378142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6656B7"/>
                </a:solidFill>
              </a:defRPr>
            </a:pPr>
            <a:r>
              <a:rPr sz="3375" b="1">
                <a:solidFill>
                  <a:srgbClr val="6656B7"/>
                </a:solidFill>
              </a:rPr>
              <a:t>SOURCES</a:t>
            </a:r>
          </a:p>
        </p:txBody>
      </p:sp>
      <p:sp>
        <p:nvSpPr>
          <p:cNvPr id="125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3E4034D5-12C7-498D-865D-135ED2BB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38338125"/>
            <a:ext cx="9315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PSU Esports Studio official website  |  Typhoon2.5-Qwen3-4B model card  |  BGE-M3 paper (arXiv:2402.03216)  |  Project Flow 43 and evaluation logs</a:t>
            </a:r>
          </a:p>
        </p:txBody>
      </p:sp>
    </p:spTree>
    <p:extLst>
      <p:ext uri="{BB962C8B-B14F-4D97-AF65-F5344CB8AC3E}">
        <p14:creationId xmlns:p14="http://schemas.microsoft.com/office/powerpoint/2010/main" val="1310525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2026-08-27T14:09:54.8380000Z</dcterms:created>
  <dcterms:modified xsi:type="dcterms:W3CDTF">2026-08-27T14:09:54.8380000Z</dcterms:modified>
</coreProperties>
</file>