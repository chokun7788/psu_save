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9b7b75d13044f2" /><Relationship Type="http://schemas.openxmlformats.org/officeDocument/2006/relationships/extended-properties" Target="/docProps/app.xml" Id="R071de0c8694c43bb" /><Relationship Type="http://schemas.openxmlformats.org/officeDocument/2006/relationships/officeDocument" Target="/ppt/presentation.xml" Id="R8d108cf00995470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4e6c8e493994d03"/>
  </p:sldMasterIdLst>
  <p:notesMasterIdLst>
    <p:notesMasterId xmlns:r="http://schemas.openxmlformats.org/officeDocument/2006/relationships" r:id="R5bcd8f69a78e47d5"/>
  </p:notesMasterIdLst>
  <p:sldIdLst>
    <p:sldId xmlns:r="http://schemas.openxmlformats.org/officeDocument/2006/relationships" id="256" r:id="R8bc9dfd509a048f7"/>
  </p:sldIdLst>
  <p:sldSz cx="30275784" cy="42806112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93612f9e6b54214" /><Relationship Type="http://schemas.openxmlformats.org/officeDocument/2006/relationships/slideMaster" Target="/ppt/slideMasters/slideMaster1.xml" Id="R64e6c8e493994d03" /><Relationship Type="http://schemas.openxmlformats.org/officeDocument/2006/relationships/notesMaster" Target="/ppt/notesMasters/notesMaster1.xml" Id="R5bcd8f69a78e47d5" /><Relationship Type="http://schemas.openxmlformats.org/officeDocument/2006/relationships/presProps" Target="/ppt/presProps.xml" Id="R6159c2f6665f4d09" /><Relationship Type="http://schemas.openxmlformats.org/officeDocument/2006/relationships/tableStyles" Target="/ppt/tableStyles.xml" Id="R299b9a6cf7a5407e" /><Relationship Type="http://schemas.openxmlformats.org/officeDocument/2006/relationships/slide" Target="/ppt/slides/slide1.xml" Id="R8bc9dfd509a048f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3d679954a1d48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1cf3dc3d7784971" /><Relationship Type="http://schemas.openxmlformats.org/officeDocument/2006/relationships/notesMaster" Target="/ppt/notesMasters/notesMaster1.xml" Id="R02ecc041acd1494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Official A0 background supplied by the user: D:/Download New/SuperAI6_PosterA0-Template_PNG.png</a:t>
            </a:r>
          </a:p>
          <a:p xmlns:a="http://schemas.openxmlformats.org/drawingml/2006/main">
            <a:r>
              <a:t>PSU Esports Studio logo supplied by the user: C:/Users/Chokhun/Downloads/Sticker.pdf.png</a:t>
            </a:r>
          </a:p>
          <a:p xmlns:a="http://schemas.openxmlformats.org/drawingml/2006/main">
            <a:r>
              <a:t>Academic poster structure reference supplied by the user: C:/Users/Chokhun/AppData/Local/Temp/codex-clipboard-3fac84c0-ddbe-48cb-a0e1-8e40439c4573.png</a:t>
            </a:r>
          </a:p>
          <a:p xmlns:a="http://schemas.openxmlformats.org/drawingml/2006/main">
            <a:r>
              <a:t>Live chatbot screenshot captured from the local PSU Esports website and API on 2026-08-28. Route: service_fee_query. Latency: 240 ms. Confidence: 0.97.</a:t>
            </a:r>
          </a:p>
          <a:p xmlns:a="http://schemas.openxmlformats.org/drawingml/2006/main">
            <a:r>
              <a:t>Project architecture and evaluation: Project Flow 43, project docs, and daily logs dated 2026-08-27 to 2026-08-28.</a:t>
            </a:r>
          </a:p>
          <a:p xmlns:a="http://schemas.openxmlformats.org/drawingml/2006/main">
            <a:r>
              <a:t>PSU Esports Studio official website: https://esports.phuket.psu.ac.th/</a:t>
            </a:r>
          </a:p>
          <a:p xmlns:a="http://schemas.openxmlformats.org/drawingml/2006/main">
            <a:r>
              <a:t>Typhoon model card: https://huggingface.co/typhoon-ai/typhoon2.5-qwen3-4b</a:t>
            </a:r>
          </a:p>
          <a:p xmlns:a="http://schemas.openxmlformats.org/drawingml/2006/main">
            <a:r>
              <a:t>BGE-M3 paper: https://arxiv.org/abs/2402.03216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0485def79b4fc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47645129c4742a4" /><Relationship Type="http://schemas.openxmlformats.org/officeDocument/2006/relationships/slideLayout" Target="/ppt/slideLayouts/slideLayout1.xml" Id="R52c07d489e6b477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c07d489e6b477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dbb05f8fd74827" /><Relationship Type="http://schemas.openxmlformats.org/officeDocument/2006/relationships/image" Target="/ppt/media/image.png" Id="Rd811838ca4b04b41" /><Relationship Type="http://schemas.openxmlformats.org/officeDocument/2006/relationships/image" Target="/ppt/media/image2.png" Id="R55ce4ac0aec14187" /><Relationship Type="http://schemas.openxmlformats.org/officeDocument/2006/relationships/image" Target="/ppt/media/image.jpeg" Id="Rb3e585ddb31f40b0" /><Relationship Type="http://schemas.openxmlformats.org/officeDocument/2006/relationships/notesSlide" Target="/ppt/notesSlides/notesSlide1.xml" Id="R4b6e66084ce248e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11838ca4b04b4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30275784" cy="42806112"/>
          </a:xfrm>
          <a:prstGeom xmlns:a="http://schemas.openxmlformats.org/drawingml/2006/main" prst="rect">
            <a:avLst/>
          </a:prstGeom>
        </p:spPr>
      </p:pic>
      <p:sp>
        <p:nvSpPr>
          <p:cNvPr id="2" name="author-strip">
            <a:extLst xmlns:a="http://schemas.openxmlformats.org/drawingml/2006/main">
              <a:ext uri="{FF2B5EF4-FFF2-40B4-BE49-F238E27FC236}">
                <a16:creationId xmlns:a16="http://schemas.microsoft.com/office/drawing/2014/main" id="{FF0D1DF0-CF67-4C0F-AE4A-C33E6F87C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34050"/>
            <a:ext cx="29032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B3"/>
          </a:solidFill>
          <a:ln xmlns:a="http://schemas.openxmlformats.org/drawingml/2006/main" w="0">
            <a:solidFill>
              <a:srgbClr val="176BB3"/>
            </a:solidFill>
            <a:prstDash val="solid"/>
          </a:ln>
        </p:spPr>
      </p:sp>
      <p:sp>
        <p:nvSpPr>
          <p:cNvPr id="3" name="author-strip-text">
            <a:extLst xmlns:a="http://schemas.openxmlformats.org/drawingml/2006/main">
              <a:ext uri="{FF2B5EF4-FFF2-40B4-BE49-F238E27FC236}">
                <a16:creationId xmlns:a16="http://schemas.microsoft.com/office/drawing/2014/main" id="{0BFB0582-8416-4B8A-B42B-E8C1452F8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72150"/>
            <a:ext cx="2827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475" b="1">
                <a:solidFill>
                  <a:srgbClr val="FFFFFF"/>
                </a:solidFill>
              </a:defRPr>
            </a:pPr>
            <a:r>
              <a:rPr sz="2475" b="1">
                <a:solidFill>
                  <a:srgbClr val="FFFFFF"/>
                </a:solidFill>
              </a:rPr>
              <a:t>Passawut Chutiparcharkijg  |  Trainee ID 600584  |  PSU Esports Studio - Phuket</a:t>
            </a:r>
          </a:p>
        </p:txBody>
      </p:sp>
      <p:pic>
        <p:nvPicPr>
          <p:cNvPr id="1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ce4ac0aec14187"/>
          <a:stretch xmlns:a="http://schemas.openxmlformats.org/drawingml/2006/main"/>
        </p:blipFill>
        <p:spPr>
          <a:xfrm xmlns:a="http://schemas.openxmlformats.org/drawingml/2006/main">
            <a:off x="1476375" y="6729016"/>
            <a:ext cx="4476750" cy="1305719"/>
          </a:xfrm>
          <a:prstGeom xmlns:a="http://schemas.openxmlformats.org/drawingml/2006/main" prst="rect">
            <a:avLst/>
          </a:prstGeom>
        </p:spPr>
      </p:pic>
      <p:sp>
        <p:nvSpPr>
          <p:cNvPr id="5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F2FB05D6-D43B-49C1-B3A8-B48600F11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57225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52A"/>
          </a:solidFill>
          <a:ln xmlns:a="http://schemas.openxmlformats.org/drawingml/2006/main" w="0">
            <a:solidFill>
              <a:srgbClr val="E9752A"/>
            </a:solidFill>
            <a:prstDash val="solid"/>
          </a:ln>
        </p:spPr>
      </p:sp>
      <p:sp>
        <p:nvSpPr>
          <p:cNvPr id="6" name="title-main">
            <a:extLst xmlns:a="http://schemas.openxmlformats.org/drawingml/2006/main">
              <a:ext uri="{FF2B5EF4-FFF2-40B4-BE49-F238E27FC236}">
                <a16:creationId xmlns:a16="http://schemas.microsoft.com/office/drawing/2014/main" id="{28C7E32E-EC5A-4090-BFCE-2FB579323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6477000"/>
            <a:ext cx="21336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5850" b="1">
                <a:solidFill>
                  <a:srgbClr val="0A2A48"/>
                </a:solidFill>
              </a:defRPr>
            </a:pPr>
            <a:r>
              <a:rPr sz="5850" b="1">
                <a:solidFill>
                  <a:srgbClr val="0A2A48"/>
                </a:solidFill>
              </a:rPr>
              <a:t>AI Chatbot for Multi-Route Hybrid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5850" b="1">
                <a:solidFill>
                  <a:srgbClr val="0A2A48"/>
                </a:solidFill>
              </a:defRPr>
            </a:pPr>
            <a:r>
              <a:rPr sz="5850" b="1">
                <a:solidFill>
                  <a:srgbClr val="0A2A48"/>
                </a:solidFill>
              </a:rPr>
              <a:t>Esports Knowledge Base</a:t>
            </a:r>
          </a:p>
        </p:txBody>
      </p:sp>
      <p:sp>
        <p:nvSpPr>
          <p:cNvPr id="7" name="title-sub">
            <a:extLst xmlns:a="http://schemas.openxmlformats.org/drawingml/2006/main">
              <a:ext uri="{FF2B5EF4-FFF2-40B4-BE49-F238E27FC236}">
                <a16:creationId xmlns:a16="http://schemas.microsoft.com/office/drawing/2014/main" id="{4560A62D-454C-469B-B932-A006D9413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8001000"/>
            <a:ext cx="2133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>
                <a:solidFill>
                  <a:srgbClr val="176BB3"/>
                </a:solidFill>
              </a:defRPr>
            </a:pPr>
            <a:r>
              <a:rPr sz="3150" b="1">
                <a:solidFill>
                  <a:srgbClr val="176BB3"/>
                </a:solidFill>
              </a:rPr>
              <a:t>Local-first FAQ assistant with exact routing, semantic retrieval and gated generation</a:t>
            </a:r>
          </a:p>
        </p:txBody>
      </p:sp>
      <p:sp>
        <p:nvSpPr>
          <p:cNvPr id="8" name="title-meta">
            <a:extLst xmlns:a="http://schemas.openxmlformats.org/drawingml/2006/main">
              <a:ext uri="{FF2B5EF4-FFF2-40B4-BE49-F238E27FC236}">
                <a16:creationId xmlns:a16="http://schemas.microsoft.com/office/drawing/2014/main" id="{1EDD1121-4207-4913-820D-64DE01585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8620125"/>
            <a:ext cx="2133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536879"/>
                </a:solidFill>
              </a:defRPr>
            </a:pPr>
            <a:r>
              <a:rPr sz="2550" b="1">
                <a:solidFill>
                  <a:srgbClr val="536879"/>
                </a:solidFill>
              </a:rPr>
              <a:t>42 games  |  BGE-M3  |  Typhoon2.5 Qwen3 4B  |  Target &lt;= 10 seconds</a:t>
            </a:r>
          </a:p>
        </p:txBody>
      </p:sp>
      <p:sp>
        <p:nvSpPr>
          <p:cNvPr id="9" name="title-bottom-rule">
            <a:extLst xmlns:a="http://schemas.openxmlformats.org/drawingml/2006/main">
              <a:ext uri="{FF2B5EF4-FFF2-40B4-BE49-F238E27FC236}">
                <a16:creationId xmlns:a16="http://schemas.microsoft.com/office/drawing/2014/main" id="{788D1D26-9B85-491E-890E-7590B1F30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9239250"/>
            <a:ext cx="27412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C"/>
          </a:solidFill>
          <a:ln xmlns:a="http://schemas.openxmlformats.org/drawingml/2006/main" w="0">
            <a:solidFill>
              <a:srgbClr val="DCE5EC"/>
            </a:solidFill>
            <a:prstDash val="solid"/>
          </a:ln>
        </p:spPr>
      </p:sp>
      <p:sp>
        <p:nvSpPr>
          <p:cNvPr id="10" name="abstract-heading">
            <a:extLst xmlns:a="http://schemas.openxmlformats.org/drawingml/2006/main">
              <a:ext uri="{FF2B5EF4-FFF2-40B4-BE49-F238E27FC236}">
                <a16:creationId xmlns:a16="http://schemas.microsoft.com/office/drawing/2014/main" id="{774FE92F-F234-4A96-A3F0-DDB89E78A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9525000"/>
            <a:ext cx="1314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4200" b="1">
                <a:solidFill>
                  <a:srgbClr val="0A2A48"/>
                </a:solidFill>
              </a:defRPr>
            </a:pPr>
            <a:r>
              <a:rPr sz="4200" b="1">
                <a:solidFill>
                  <a:srgbClr val="0A2A48"/>
                </a:solidFill>
              </a:rPr>
              <a:t>Abstract</a:t>
            </a:r>
          </a:p>
        </p:txBody>
      </p:sp>
      <p:sp>
        <p:nvSpPr>
          <p:cNvPr id="11" name="abstract-underline">
            <a:extLst xmlns:a="http://schemas.openxmlformats.org/drawingml/2006/main">
              <a:ext uri="{FF2B5EF4-FFF2-40B4-BE49-F238E27FC236}">
                <a16:creationId xmlns:a16="http://schemas.microsoft.com/office/drawing/2014/main" id="{1A4CDB17-CEAE-4639-9F9E-6194EEDB1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0153650"/>
            <a:ext cx="619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A48"/>
          </a:solidFill>
          <a:ln xmlns:a="http://schemas.openxmlformats.org/drawingml/2006/main" w="0">
            <a:solidFill>
              <a:srgbClr val="0A2A48"/>
            </a:solidFill>
            <a:prstDash val="solid"/>
          </a:ln>
        </p:spPr>
      </p:sp>
      <p:sp>
        <p:nvSpPr>
          <p:cNvPr id="12" name="objective-heading">
            <a:extLst xmlns:a="http://schemas.openxmlformats.org/drawingml/2006/main">
              <a:ext uri="{FF2B5EF4-FFF2-40B4-BE49-F238E27FC236}">
                <a16:creationId xmlns:a16="http://schemas.microsoft.com/office/drawing/2014/main" id="{85563CE2-6D48-46C3-8CDB-84C49516C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8625" y="9525000"/>
            <a:ext cx="131730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4200" b="1">
                <a:solidFill>
                  <a:srgbClr val="0A2A48"/>
                </a:solidFill>
              </a:defRPr>
            </a:pPr>
            <a:r>
              <a:rPr sz="4200" b="1">
                <a:solidFill>
                  <a:srgbClr val="0A2A48"/>
                </a:solidFill>
              </a:rPr>
              <a:t>Project Objective</a:t>
            </a:r>
          </a:p>
        </p:txBody>
      </p:sp>
      <p:sp>
        <p:nvSpPr>
          <p:cNvPr id="13" name="objective-underline">
            <a:extLst xmlns:a="http://schemas.openxmlformats.org/drawingml/2006/main">
              <a:ext uri="{FF2B5EF4-FFF2-40B4-BE49-F238E27FC236}">
                <a16:creationId xmlns:a16="http://schemas.microsoft.com/office/drawing/2014/main" id="{75093976-1AFB-4D43-B2D8-A2E6B50A8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8625" y="10153650"/>
            <a:ext cx="619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A48"/>
          </a:solidFill>
          <a:ln xmlns:a="http://schemas.openxmlformats.org/drawingml/2006/main" w="0">
            <a:solidFill>
              <a:srgbClr val="0A2A48"/>
            </a:solidFill>
            <a:prstDash val="solid"/>
          </a:ln>
        </p:spPr>
      </p:sp>
      <p:sp>
        <p:nvSpPr>
          <p:cNvPr id="14" name="top-column-divider">
            <a:extLst xmlns:a="http://schemas.openxmlformats.org/drawingml/2006/main">
              <a:ext uri="{FF2B5EF4-FFF2-40B4-BE49-F238E27FC236}">
                <a16:creationId xmlns:a16="http://schemas.microsoft.com/office/drawing/2014/main" id="{8F1D5FE9-1841-4F2A-9B94-BCBBCAEFB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7125" y="9620250"/>
            <a:ext cx="2857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AD5"/>
          </a:solidFill>
          <a:ln xmlns:a="http://schemas.openxmlformats.org/drawingml/2006/main" w="0">
            <a:solidFill>
              <a:srgbClr val="BCCAD5"/>
            </a:solidFill>
            <a:prstDash val="solid"/>
          </a:ln>
        </p:spPr>
      </p:sp>
      <p:sp>
        <p:nvSpPr>
          <p:cNvPr id="15" name="abstract-body">
            <a:extLst xmlns:a="http://schemas.openxmlformats.org/drawingml/2006/main">
              <a:ext uri="{FF2B5EF4-FFF2-40B4-BE49-F238E27FC236}">
                <a16:creationId xmlns:a16="http://schemas.microsoft.com/office/drawing/2014/main" id="{463CC687-6834-4D91-9A66-6930B3C4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0382250"/>
            <a:ext cx="129540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0">
                <a:solidFill>
                  <a:srgbClr val="172A3A"/>
                </a:solidFill>
              </a:defRPr>
            </a:pPr>
            <a:r>
              <a:rPr sz="2700" b="0">
                <a:solidFill>
                  <a:srgbClr val="172A3A"/>
                </a:solidFill>
              </a:rPr>
              <a:t>PSU Esports information includes exact operational facts, rules and long-form documents. A purely rule-based chatbot is fast but difficult to extend, while unrestricted generation increases latency and hallucination risk. This system combines deterministic routes, semantic retrieval and a gated local LLM, then validates every answer before delivery.</a:t>
            </a:r>
          </a:p>
        </p:txBody>
      </p:sp>
      <p:sp>
        <p:nvSpPr>
          <p:cNvPr id="16" name="objective-body">
            <a:extLst xmlns:a="http://schemas.openxmlformats.org/drawingml/2006/main">
              <a:ext uri="{FF2B5EF4-FFF2-40B4-BE49-F238E27FC236}">
                <a16:creationId xmlns:a16="http://schemas.microsoft.com/office/drawing/2014/main" id="{EF503DBF-011C-4D41-9A06-EA679F9BD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8625" y="10382250"/>
            <a:ext cx="131730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0">
                <a:solidFill>
                  <a:srgbClr val="172A3A"/>
                </a:solidFill>
              </a:defRPr>
            </a:pPr>
            <a:r>
              <a:rPr sz="2700" b="0">
                <a:solidFill>
                  <a:srgbClr val="172A3A"/>
                </a:solidFill>
              </a:rPr>
              <a:t>Build a local-first website assistant that answers the intended question from verified PSU evidence, supports newly added knowledge and asks for clarification when the target cannot be resolved.</a:t>
            </a:r>
          </a:p>
        </p:txBody>
      </p:sp>
      <p:sp>
        <p:nvSpPr>
          <p:cNvPr id="17" name="objective-points">
            <a:extLst xmlns:a="http://schemas.openxmlformats.org/drawingml/2006/main">
              <a:ext uri="{FF2B5EF4-FFF2-40B4-BE49-F238E27FC236}">
                <a16:creationId xmlns:a16="http://schemas.microsoft.com/office/drawing/2014/main" id="{94306D39-79A2-42F2-B967-92A8753D0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8625" y="12049125"/>
            <a:ext cx="131730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700" b="1">
                <a:solidFill>
                  <a:srgbClr val="176BB3"/>
                </a:solidFill>
              </a:defRPr>
            </a:pPr>
            <a:r>
              <a:rPr sz="2700" b="1">
                <a:solidFill>
                  <a:srgbClr val="176BB3"/>
                </a:solidFill>
              </a:rPr>
              <a:t>EXACT FACTS     NEW CONTENT     SAFE OUTCOME</a:t>
            </a:r>
          </a:p>
        </p:txBody>
      </p:sp>
      <p:sp>
        <p:nvSpPr>
          <p:cNvPr id="18" name="objective-tools">
            <a:extLst xmlns:a="http://schemas.openxmlformats.org/drawingml/2006/main">
              <a:ext uri="{FF2B5EF4-FFF2-40B4-BE49-F238E27FC236}">
                <a16:creationId xmlns:a16="http://schemas.microsoft.com/office/drawing/2014/main" id="{988D2B59-E648-49B1-8429-61C648C95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8625" y="12525375"/>
            <a:ext cx="131730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536879"/>
                </a:solidFill>
              </a:defRPr>
            </a:pPr>
            <a:r>
              <a:rPr sz="2550" b="1">
                <a:solidFill>
                  <a:srgbClr val="536879"/>
                </a:solidFill>
              </a:rPr>
              <a:t>Fast + Structured     BGE-M3 RAG     Clarify / No-answer</a:t>
            </a:r>
          </a:p>
        </p:txBody>
      </p:sp>
      <p:sp>
        <p:nvSpPr>
          <p:cNvPr id="19" name="architecture-heading">
            <a:extLst xmlns:a="http://schemas.openxmlformats.org/drawingml/2006/main">
              <a:ext uri="{FF2B5EF4-FFF2-40B4-BE49-F238E27FC236}">
                <a16:creationId xmlns:a16="http://schemas.microsoft.com/office/drawing/2014/main" id="{FBE9C567-4361-4CDF-83E0-9641DCE32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3525500"/>
            <a:ext cx="952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4200" b="1">
                <a:solidFill>
                  <a:srgbClr val="0A2A48"/>
                </a:solidFill>
              </a:defRPr>
            </a:pPr>
            <a:r>
              <a:rPr sz="4200" b="1">
                <a:solidFill>
                  <a:srgbClr val="0A2A48"/>
                </a:solidFill>
              </a:rPr>
              <a:t>Architecture</a:t>
            </a:r>
          </a:p>
        </p:txBody>
      </p:sp>
      <p:sp>
        <p:nvSpPr>
          <p:cNvPr id="20" name="architecture-underline">
            <a:extLst xmlns:a="http://schemas.openxmlformats.org/drawingml/2006/main">
              <a:ext uri="{FF2B5EF4-FFF2-40B4-BE49-F238E27FC236}">
                <a16:creationId xmlns:a16="http://schemas.microsoft.com/office/drawing/2014/main" id="{7C8720E0-B83E-421B-A6C9-792BA22C7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4154150"/>
            <a:ext cx="619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A48"/>
          </a:solidFill>
          <a:ln xmlns:a="http://schemas.openxmlformats.org/drawingml/2006/main" w="0">
            <a:solidFill>
              <a:srgbClr val="0A2A48"/>
            </a:solidFill>
            <a:prstDash val="solid"/>
          </a:ln>
        </p:spPr>
      </p:sp>
      <p:sp>
        <p:nvSpPr>
          <p:cNvPr id="21" name="architecture-note">
            <a:extLst xmlns:a="http://schemas.openxmlformats.org/drawingml/2006/main">
              <a:ext uri="{FF2B5EF4-FFF2-40B4-BE49-F238E27FC236}">
                <a16:creationId xmlns:a16="http://schemas.microsoft.com/office/drawing/2014/main" id="{5AFA07FC-A3AC-4EDD-8557-864659F2B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3620750"/>
            <a:ext cx="2122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2550" b="0">
                <a:solidFill>
                  <a:srgbClr val="536879"/>
                </a:solidFill>
              </a:defRPr>
            </a:pPr>
            <a:r>
              <a:rPr sz="2550" b="0">
                <a:solidFill>
                  <a:srgbClr val="536879"/>
                </a:solidFill>
              </a:rPr>
              <a:t>Every request follows the same guarded backbone; only the answering path changes.</a:t>
            </a:r>
          </a:p>
        </p:txBody>
      </p:sp>
      <p:sp>
        <p:nvSpPr>
          <p:cNvPr id="22" name="architecture-arrow-0">
            <a:extLst xmlns:a="http://schemas.openxmlformats.org/drawingml/2006/main">
              <a:ext uri="{FF2B5EF4-FFF2-40B4-BE49-F238E27FC236}">
                <a16:creationId xmlns:a16="http://schemas.microsoft.com/office/drawing/2014/main" id="{3D75EDA8-B9CB-4334-89FE-14696D7AC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5697200"/>
            <a:ext cx="495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4350" b="1">
                <a:solidFill>
                  <a:srgbClr val="536879"/>
                </a:solidFill>
              </a:defRPr>
            </a:pPr>
            <a:r>
              <a:rPr sz="4350" b="1">
                <a:solidFill>
                  <a:srgbClr val="536879"/>
                </a:solidFill>
              </a:rPr>
              <a:t>→</a:t>
            </a:r>
          </a:p>
        </p:txBody>
      </p:sp>
      <p:sp>
        <p:nvSpPr>
          <p:cNvPr id="23" name="architecture-arrow-1">
            <a:extLst xmlns:a="http://schemas.openxmlformats.org/drawingml/2006/main">
              <a:ext uri="{FF2B5EF4-FFF2-40B4-BE49-F238E27FC236}">
                <a16:creationId xmlns:a16="http://schemas.microsoft.com/office/drawing/2014/main" id="{1505A81A-5B8F-49A8-B3A4-0F1726E8A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5697200"/>
            <a:ext cx="495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4350" b="1">
                <a:solidFill>
                  <a:srgbClr val="536879"/>
                </a:solidFill>
              </a:defRPr>
            </a:pPr>
            <a:r>
              <a:rPr sz="4350" b="1">
                <a:solidFill>
                  <a:srgbClr val="536879"/>
                </a:solidFill>
              </a:rPr>
              <a:t>→</a:t>
            </a:r>
          </a:p>
        </p:txBody>
      </p:sp>
      <p:sp>
        <p:nvSpPr>
          <p:cNvPr id="24" name="architecture-arrow-2">
            <a:extLst xmlns:a="http://schemas.openxmlformats.org/drawingml/2006/main">
              <a:ext uri="{FF2B5EF4-FFF2-40B4-BE49-F238E27FC236}">
                <a16:creationId xmlns:a16="http://schemas.microsoft.com/office/drawing/2014/main" id="{FDB3DB25-A900-4AC9-AD0C-912AF3731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0" y="15697200"/>
            <a:ext cx="495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4350" b="1">
                <a:solidFill>
                  <a:srgbClr val="536879"/>
                </a:solidFill>
              </a:defRPr>
            </a:pPr>
            <a:r>
              <a:rPr sz="4350" b="1">
                <a:solidFill>
                  <a:srgbClr val="536879"/>
                </a:solidFill>
              </a:rPr>
              <a:t>→</a:t>
            </a:r>
          </a:p>
        </p:txBody>
      </p:sp>
      <p:sp>
        <p:nvSpPr>
          <p:cNvPr id="25" name="architecture-arrow-3">
            <a:extLst xmlns:a="http://schemas.openxmlformats.org/drawingml/2006/main">
              <a:ext uri="{FF2B5EF4-FFF2-40B4-BE49-F238E27FC236}">
                <a16:creationId xmlns:a16="http://schemas.microsoft.com/office/drawing/2014/main" id="{A601169C-413C-4FF9-A2CE-51B165115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64350" y="15697200"/>
            <a:ext cx="495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4350" b="1">
                <a:solidFill>
                  <a:srgbClr val="536879"/>
                </a:solidFill>
              </a:defRPr>
            </a:pPr>
            <a:r>
              <a:rPr sz="4350" b="1">
                <a:solidFill>
                  <a:srgbClr val="536879"/>
                </a:solidFill>
              </a:rPr>
              <a:t>→</a:t>
            </a:r>
          </a:p>
        </p:txBody>
      </p:sp>
      <p:sp>
        <p:nvSpPr>
          <p:cNvPr id="26" name="architecture-arrow-4">
            <a:extLst xmlns:a="http://schemas.openxmlformats.org/drawingml/2006/main">
              <a:ext uri="{FF2B5EF4-FFF2-40B4-BE49-F238E27FC236}">
                <a16:creationId xmlns:a16="http://schemas.microsoft.com/office/drawing/2014/main" id="{439B21AD-6286-4F73-B0E8-0A2794630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0" y="15697200"/>
            <a:ext cx="495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4350" b="1">
                <a:solidFill>
                  <a:srgbClr val="536879"/>
                </a:solidFill>
              </a:defRPr>
            </a:pPr>
            <a:r>
              <a:rPr sz="4350" b="1">
                <a:solidFill>
                  <a:srgbClr val="536879"/>
                </a:solidFill>
              </a:rPr>
              <a:t>→</a:t>
            </a:r>
          </a:p>
        </p:txBody>
      </p:sp>
      <p:sp>
        <p:nvSpPr>
          <p:cNvPr id="27" name="stage-input-box">
            <a:extLst xmlns:a="http://schemas.openxmlformats.org/drawingml/2006/main">
              <a:ext uri="{FF2B5EF4-FFF2-40B4-BE49-F238E27FC236}">
                <a16:creationId xmlns:a16="http://schemas.microsoft.com/office/drawing/2014/main" id="{9D4A1C94-60EF-4441-98C4-905A49BF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4573250"/>
            <a:ext cx="4095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C"/>
          </a:solidFill>
          <a:ln xmlns:a="http://schemas.openxmlformats.org/drawingml/2006/main" w="19050">
            <a:solidFill>
              <a:srgbClr val="BCCAD5"/>
            </a:solidFill>
            <a:prstDash val="solid"/>
          </a:ln>
        </p:spPr>
      </p:sp>
      <p:sp>
        <p:nvSpPr>
          <p:cNvPr id="28" name="stage-input-accent">
            <a:extLst xmlns:a="http://schemas.openxmlformats.org/drawingml/2006/main">
              <a:ext uri="{FF2B5EF4-FFF2-40B4-BE49-F238E27FC236}">
                <a16:creationId xmlns:a16="http://schemas.microsoft.com/office/drawing/2014/main" id="{4619D232-1D0F-4C40-9EE2-DA93D8048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4573250"/>
            <a:ext cx="4095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B3"/>
          </a:solidFill>
          <a:ln xmlns:a="http://schemas.openxmlformats.org/drawingml/2006/main" w="0">
            <a:solidFill>
              <a:srgbClr val="176BB3"/>
            </a:solidFill>
            <a:prstDash val="solid"/>
          </a:ln>
        </p:spPr>
      </p:sp>
      <p:sp>
        <p:nvSpPr>
          <p:cNvPr id="29" name="stage-input-number">
            <a:extLst xmlns:a="http://schemas.openxmlformats.org/drawingml/2006/main">
              <a:ext uri="{FF2B5EF4-FFF2-40B4-BE49-F238E27FC236}">
                <a16:creationId xmlns:a16="http://schemas.microsoft.com/office/drawing/2014/main" id="{F3239B3F-E801-4E3B-AE33-28ABD9AFF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48018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B3"/>
          </a:solidFill>
          <a:ln xmlns:a="http://schemas.openxmlformats.org/drawingml/2006/main" w="0">
            <a:solidFill>
              <a:srgbClr val="176BB3"/>
            </a:solidFill>
            <a:prstDash val="solid"/>
          </a:ln>
        </p:spPr>
      </p:sp>
      <p:sp>
        <p:nvSpPr>
          <p:cNvPr id="30" name="stage-input-number-text">
            <a:extLst xmlns:a="http://schemas.openxmlformats.org/drawingml/2006/main">
              <a:ext uri="{FF2B5EF4-FFF2-40B4-BE49-F238E27FC236}">
                <a16:creationId xmlns:a16="http://schemas.microsoft.com/office/drawing/2014/main" id="{3A5EEBD2-447F-4882-9103-4D2953EFE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48018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1" name="stage-input-title">
            <a:extLst xmlns:a="http://schemas.openxmlformats.org/drawingml/2006/main">
              <a:ext uri="{FF2B5EF4-FFF2-40B4-BE49-F238E27FC236}">
                <a16:creationId xmlns:a16="http://schemas.microsoft.com/office/drawing/2014/main" id="{49C04664-0595-4050-8618-BDF1540F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4782800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000" b="1">
                <a:solidFill>
                  <a:srgbClr val="176BB3"/>
                </a:solidFill>
              </a:defRPr>
            </a:pPr>
            <a:r>
              <a:rPr sz="3000" b="1">
                <a:solidFill>
                  <a:srgbClr val="176BB3"/>
                </a:solidFill>
              </a:rPr>
              <a:t>WEB INPUT</a:t>
            </a:r>
          </a:p>
        </p:txBody>
      </p:sp>
      <p:sp>
        <p:nvSpPr>
          <p:cNvPr id="32" name="stage-input-body">
            <a:extLst xmlns:a="http://schemas.openxmlformats.org/drawingml/2006/main">
              <a:ext uri="{FF2B5EF4-FFF2-40B4-BE49-F238E27FC236}">
                <a16:creationId xmlns:a16="http://schemas.microsoft.com/office/drawing/2014/main" id="{86A41762-9663-4BCB-88D3-30C9EE6FB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5544800"/>
            <a:ext cx="36385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72A3A"/>
                </a:solidFill>
              </a:defRPr>
            </a:pPr>
            <a:r>
              <a:rPr sz="2400" b="0">
                <a:solidFill>
                  <a:srgbClr val="172A3A"/>
                </a:solidFill>
              </a:rPr>
              <a:t>Question + session ID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72A3A"/>
                </a:solidFill>
              </a:defRPr>
            </a:pPr>
            <a:r>
              <a:rPr sz="2400" b="0">
                <a:solidFill>
                  <a:srgbClr val="172A3A"/>
                </a:solidFill>
              </a:rPr>
              <a:t>Request guard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72A3A"/>
                </a:solidFill>
              </a:defRPr>
            </a:pPr>
            <a:r>
              <a:rPr sz="2400" b="0">
                <a:solidFill>
                  <a:srgbClr val="172A3A"/>
                </a:solidFill>
              </a:rPr>
              <a:t>9s backend deadline</a:t>
            </a:r>
          </a:p>
        </p:txBody>
      </p:sp>
      <p:sp>
        <p:nvSpPr>
          <p:cNvPr id="33" name="stage-understand-box">
            <a:extLst xmlns:a="http://schemas.openxmlformats.org/drawingml/2006/main">
              <a:ext uri="{FF2B5EF4-FFF2-40B4-BE49-F238E27FC236}">
                <a16:creationId xmlns:a16="http://schemas.microsoft.com/office/drawing/2014/main" id="{A803AAAB-CDD1-463F-B08C-2A7C2F473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573250"/>
            <a:ext cx="4095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CCAD5"/>
            </a:solidFill>
            <a:prstDash val="solid"/>
          </a:ln>
        </p:spPr>
      </p:sp>
      <p:sp>
        <p:nvSpPr>
          <p:cNvPr id="34" name="stage-understand-accent">
            <a:extLst xmlns:a="http://schemas.openxmlformats.org/drawingml/2006/main">
              <a:ext uri="{FF2B5EF4-FFF2-40B4-BE49-F238E27FC236}">
                <a16:creationId xmlns:a16="http://schemas.microsoft.com/office/drawing/2014/main" id="{5538E5D8-7387-4A69-9545-34DB3849E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573250"/>
            <a:ext cx="4095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58B8"/>
          </a:solidFill>
          <a:ln xmlns:a="http://schemas.openxmlformats.org/drawingml/2006/main" w="0">
            <a:solidFill>
              <a:srgbClr val="6858B8"/>
            </a:solidFill>
            <a:prstDash val="solid"/>
          </a:ln>
        </p:spPr>
      </p:sp>
      <p:sp>
        <p:nvSpPr>
          <p:cNvPr id="35" name="stage-understand-number">
            <a:extLst xmlns:a="http://schemas.openxmlformats.org/drawingml/2006/main">
              <a:ext uri="{FF2B5EF4-FFF2-40B4-BE49-F238E27FC236}">
                <a16:creationId xmlns:a16="http://schemas.microsoft.com/office/drawing/2014/main" id="{583A470E-6D77-40AC-97E3-71AEC91D5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8018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58B8"/>
          </a:solidFill>
          <a:ln xmlns:a="http://schemas.openxmlformats.org/drawingml/2006/main" w="0">
            <a:solidFill>
              <a:srgbClr val="6858B8"/>
            </a:solidFill>
            <a:prstDash val="solid"/>
          </a:ln>
        </p:spPr>
      </p:sp>
      <p:sp>
        <p:nvSpPr>
          <p:cNvPr id="36" name="stage-understand-number-text">
            <a:extLst xmlns:a="http://schemas.openxmlformats.org/drawingml/2006/main">
              <a:ext uri="{FF2B5EF4-FFF2-40B4-BE49-F238E27FC236}">
                <a16:creationId xmlns:a16="http://schemas.microsoft.com/office/drawing/2014/main" id="{85E73B0E-D4CF-4D01-AC26-FF20FE10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8018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7" name="stage-understand-title">
            <a:extLst xmlns:a="http://schemas.openxmlformats.org/drawingml/2006/main">
              <a:ext uri="{FF2B5EF4-FFF2-40B4-BE49-F238E27FC236}">
                <a16:creationId xmlns:a16="http://schemas.microsoft.com/office/drawing/2014/main" id="{3BCED286-ECD0-4576-ABD2-C0B9CB68E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4782800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000" b="1">
                <a:solidFill>
                  <a:srgbClr val="6858B8"/>
                </a:solidFill>
              </a:defRPr>
            </a:pPr>
            <a:r>
              <a:rPr sz="3000" b="1">
                <a:solidFill>
                  <a:srgbClr val="6858B8"/>
                </a:solidFill>
              </a:rPr>
              <a:t>UNDERSTAND</a:t>
            </a:r>
          </a:p>
        </p:txBody>
      </p:sp>
      <p:sp>
        <p:nvSpPr>
          <p:cNvPr id="38" name="stage-understand-body">
            <a:extLst xmlns:a="http://schemas.openxmlformats.org/drawingml/2006/main">
              <a:ext uri="{FF2B5EF4-FFF2-40B4-BE49-F238E27FC236}">
                <a16:creationId xmlns:a16="http://schemas.microsoft.com/office/drawing/2014/main" id="{8EFBFC06-4C19-4330-96AC-D5084C55E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544800"/>
            <a:ext cx="36385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72A3A"/>
                </a:solidFill>
              </a:defRPr>
            </a:pPr>
            <a:r>
              <a:rPr sz="2400" b="0">
                <a:solidFill>
                  <a:srgbClr val="172A3A"/>
                </a:solidFill>
              </a:rPr>
              <a:t>Resolve references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72A3A"/>
                </a:solidFill>
              </a:defRPr>
            </a:pPr>
            <a:r>
              <a:rPr sz="2400" b="0">
                <a:solidFill>
                  <a:srgbClr val="172A3A"/>
                </a:solidFill>
              </a:rPr>
              <a:t>Split questions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72A3A"/>
                </a:solidFill>
              </a:defRPr>
            </a:pPr>
            <a:r>
              <a:rPr sz="2400" b="0">
                <a:solidFill>
                  <a:srgbClr val="172A3A"/>
                </a:solidFill>
              </a:rPr>
              <a:t>Intent + target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72A3A"/>
                </a:solidFill>
              </a:defRPr>
            </a:pPr>
            <a:r>
              <a:rPr sz="2400" b="0">
                <a:solidFill>
                  <a:srgbClr val="172A3A"/>
                </a:solidFill>
              </a:rPr>
              <a:t>Ambiguity check</a:t>
            </a:r>
          </a:p>
        </p:txBody>
      </p:sp>
      <p:sp>
        <p:nvSpPr>
          <p:cNvPr id="39" name="stage-route-box">
            <a:extLst xmlns:a="http://schemas.openxmlformats.org/drawingml/2006/main">
              <a:ext uri="{FF2B5EF4-FFF2-40B4-BE49-F238E27FC236}">
                <a16:creationId xmlns:a16="http://schemas.microsoft.com/office/drawing/2014/main" id="{27866C97-4EBE-4565-833C-850370EBB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14573250"/>
            <a:ext cx="4095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9"/>
          </a:solidFill>
          <a:ln xmlns:a="http://schemas.openxmlformats.org/drawingml/2006/main" w="19050">
            <a:solidFill>
              <a:srgbClr val="BCCAD5"/>
            </a:solidFill>
            <a:prstDash val="solid"/>
          </a:ln>
        </p:spPr>
      </p:sp>
      <p:sp>
        <p:nvSpPr>
          <p:cNvPr id="40" name="stage-route-accent">
            <a:extLst xmlns:a="http://schemas.openxmlformats.org/drawingml/2006/main">
              <a:ext uri="{FF2B5EF4-FFF2-40B4-BE49-F238E27FC236}">
                <a16:creationId xmlns:a16="http://schemas.microsoft.com/office/drawing/2014/main" id="{70A21273-4DFC-4E01-8C4C-F82A2EC71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14573250"/>
            <a:ext cx="4095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52A"/>
          </a:solidFill>
          <a:ln xmlns:a="http://schemas.openxmlformats.org/drawingml/2006/main" w="0">
            <a:solidFill>
              <a:srgbClr val="E9752A"/>
            </a:solidFill>
            <a:prstDash val="solid"/>
          </a:ln>
        </p:spPr>
      </p:sp>
      <p:sp>
        <p:nvSpPr>
          <p:cNvPr id="41" name="stage-route-number">
            <a:extLst xmlns:a="http://schemas.openxmlformats.org/drawingml/2006/main">
              <a:ext uri="{FF2B5EF4-FFF2-40B4-BE49-F238E27FC236}">
                <a16:creationId xmlns:a16="http://schemas.microsoft.com/office/drawing/2014/main" id="{DD0AB950-1827-4089-98BA-8C99B80B2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48018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752A"/>
          </a:solidFill>
          <a:ln xmlns:a="http://schemas.openxmlformats.org/drawingml/2006/main" w="0">
            <a:solidFill>
              <a:srgbClr val="E9752A"/>
            </a:solidFill>
            <a:prstDash val="solid"/>
          </a:ln>
        </p:spPr>
      </p:sp>
      <p:sp>
        <p:nvSpPr>
          <p:cNvPr id="42" name="stage-route-number-text">
            <a:extLst xmlns:a="http://schemas.openxmlformats.org/drawingml/2006/main">
              <a:ext uri="{FF2B5EF4-FFF2-40B4-BE49-F238E27FC236}">
                <a16:creationId xmlns:a16="http://schemas.microsoft.com/office/drawing/2014/main" id="{A806B211-CAEC-454F-AFAA-778CE27FD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48018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3" name="stage-route-title">
            <a:extLst xmlns:a="http://schemas.openxmlformats.org/drawingml/2006/main">
              <a:ext uri="{FF2B5EF4-FFF2-40B4-BE49-F238E27FC236}">
                <a16:creationId xmlns:a16="http://schemas.microsoft.com/office/drawing/2014/main" id="{42B66CD9-61F7-46DA-9C43-544FC6F3C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14782800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000" b="1">
                <a:solidFill>
                  <a:srgbClr val="E9752A"/>
                </a:solidFill>
              </a:defRPr>
            </a:pPr>
            <a:r>
              <a:rPr sz="3000" b="1">
                <a:solidFill>
                  <a:srgbClr val="E9752A"/>
                </a:solidFill>
              </a:rPr>
              <a:t>SELECT ROUTE</a:t>
            </a:r>
          </a:p>
        </p:txBody>
      </p:sp>
      <p:sp>
        <p:nvSpPr>
          <p:cNvPr id="44" name="stage-route-body">
            <a:extLst xmlns:a="http://schemas.openxmlformats.org/drawingml/2006/main">
              <a:ext uri="{FF2B5EF4-FFF2-40B4-BE49-F238E27FC236}">
                <a16:creationId xmlns:a16="http://schemas.microsoft.com/office/drawing/2014/main" id="{89F7015A-7736-4E13-ABD0-5995A9FF8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15544800"/>
            <a:ext cx="36385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72A3A"/>
                </a:solidFill>
              </a:defRPr>
            </a:pPr>
            <a:r>
              <a:rPr sz="2400" b="0">
                <a:solidFill>
                  <a:srgbClr val="172A3A"/>
                </a:solidFill>
              </a:rPr>
              <a:t>Candidate scoring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72A3A"/>
                </a:solidFill>
              </a:defRPr>
            </a:pPr>
            <a:r>
              <a:rPr sz="2400" b="0">
                <a:solidFill>
                  <a:srgbClr val="172A3A"/>
                </a:solidFill>
              </a:rPr>
              <a:t>Tool preconditions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72A3A"/>
                </a:solidFill>
              </a:defRPr>
            </a:pPr>
            <a:r>
              <a:rPr sz="2400" b="0">
                <a:solidFill>
                  <a:srgbClr val="172A3A"/>
                </a:solidFill>
              </a:rPr>
              <a:t>Source availability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72A3A"/>
                </a:solidFill>
              </a:defRPr>
            </a:pPr>
            <a:r>
              <a:rPr sz="2400" b="0">
                <a:solidFill>
                  <a:srgbClr val="172A3A"/>
                </a:solidFill>
              </a:rPr>
              <a:t>Confidence margin</a:t>
            </a:r>
          </a:p>
        </p:txBody>
      </p:sp>
      <p:sp>
        <p:nvSpPr>
          <p:cNvPr id="45" name="stage-execute-box">
            <a:extLst xmlns:a="http://schemas.openxmlformats.org/drawingml/2006/main">
              <a:ext uri="{FF2B5EF4-FFF2-40B4-BE49-F238E27FC236}">
                <a16:creationId xmlns:a16="http://schemas.microsoft.com/office/drawing/2014/main" id="{1982D89C-45DE-4AE9-B571-31FF4C88E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0" y="14573250"/>
            <a:ext cx="4095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3"/>
          </a:solidFill>
          <a:ln xmlns:a="http://schemas.openxmlformats.org/drawingml/2006/main" w="19050">
            <a:solidFill>
              <a:srgbClr val="BCCAD5"/>
            </a:solidFill>
            <a:prstDash val="solid"/>
          </a:ln>
        </p:spPr>
      </p:sp>
      <p:sp>
        <p:nvSpPr>
          <p:cNvPr id="46" name="stage-execute-accent">
            <a:extLst xmlns:a="http://schemas.openxmlformats.org/drawingml/2006/main">
              <a:ext uri="{FF2B5EF4-FFF2-40B4-BE49-F238E27FC236}">
                <a16:creationId xmlns:a16="http://schemas.microsoft.com/office/drawing/2014/main" id="{77EE91C3-920D-4143-8919-DB6D3BE29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0" y="14573250"/>
            <a:ext cx="4095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66F"/>
          </a:solidFill>
          <a:ln xmlns:a="http://schemas.openxmlformats.org/drawingml/2006/main" w="0">
            <a:solidFill>
              <a:srgbClr val="12866F"/>
            </a:solidFill>
            <a:prstDash val="solid"/>
          </a:ln>
        </p:spPr>
      </p:sp>
      <p:sp>
        <p:nvSpPr>
          <p:cNvPr id="47" name="stage-execute-number">
            <a:extLst xmlns:a="http://schemas.openxmlformats.org/drawingml/2006/main">
              <a:ext uri="{FF2B5EF4-FFF2-40B4-BE49-F238E27FC236}">
                <a16:creationId xmlns:a16="http://schemas.microsoft.com/office/drawing/2014/main" id="{E86C8E57-8466-45A8-8D10-6E9A44255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148018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866F"/>
          </a:solidFill>
          <a:ln xmlns:a="http://schemas.openxmlformats.org/drawingml/2006/main" w="0">
            <a:solidFill>
              <a:srgbClr val="12866F"/>
            </a:solidFill>
            <a:prstDash val="solid"/>
          </a:ln>
        </p:spPr>
      </p:sp>
      <p:sp>
        <p:nvSpPr>
          <p:cNvPr id="48" name="stage-execute-number-text">
            <a:extLst xmlns:a="http://schemas.openxmlformats.org/drawingml/2006/main">
              <a:ext uri="{FF2B5EF4-FFF2-40B4-BE49-F238E27FC236}">
                <a16:creationId xmlns:a16="http://schemas.microsoft.com/office/drawing/2014/main" id="{973CEF45-5027-45DF-93CE-9D1962E6E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148018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9" name="stage-execute-title">
            <a:extLst xmlns:a="http://schemas.openxmlformats.org/drawingml/2006/main">
              <a:ext uri="{FF2B5EF4-FFF2-40B4-BE49-F238E27FC236}">
                <a16:creationId xmlns:a16="http://schemas.microsoft.com/office/drawing/2014/main" id="{3AEE5DC7-2AC5-4583-976B-FB3B5CB47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75" y="14782800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000" b="1">
                <a:solidFill>
                  <a:srgbClr val="12866F"/>
                </a:solidFill>
              </a:defRPr>
            </a:pPr>
            <a:r>
              <a:rPr sz="3000" b="1">
                <a:solidFill>
                  <a:srgbClr val="12866F"/>
                </a:solidFill>
              </a:rPr>
              <a:t>EXECUTE</a:t>
            </a:r>
          </a:p>
        </p:txBody>
      </p:sp>
      <p:sp>
        <p:nvSpPr>
          <p:cNvPr id="50" name="stage-execute-body">
            <a:extLst xmlns:a="http://schemas.openxmlformats.org/drawingml/2006/main">
              <a:ext uri="{FF2B5EF4-FFF2-40B4-BE49-F238E27FC236}">
                <a16:creationId xmlns:a16="http://schemas.microsoft.com/office/drawing/2014/main" id="{CD29ECC3-80F1-4016-B915-7EF559B37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100" y="15544800"/>
            <a:ext cx="36385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72A3A"/>
                </a:solidFill>
              </a:defRPr>
            </a:pPr>
            <a:r>
              <a:rPr sz="2400" b="0">
                <a:solidFill>
                  <a:srgbClr val="172A3A"/>
                </a:solidFill>
              </a:rPr>
              <a:t>→ Fast / Structured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72A3A"/>
                </a:solidFill>
              </a:defRPr>
            </a:pPr>
            <a:r>
              <a:rPr sz="2400" b="0">
                <a:solidFill>
                  <a:srgbClr val="172A3A"/>
                </a:solidFill>
              </a:rPr>
              <a:t>→ BGE-M3 RAG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72A3A"/>
                </a:solidFill>
              </a:defRPr>
            </a:pPr>
            <a:r>
              <a:rPr sz="2400" b="0">
                <a:solidFill>
                  <a:srgbClr val="172A3A"/>
                </a:solidFill>
              </a:rPr>
              <a:t>→ Safe Outcome</a:t>
            </a:r>
          </a:p>
        </p:txBody>
      </p:sp>
      <p:sp>
        <p:nvSpPr>
          <p:cNvPr id="51" name="stage-evidence-box">
            <a:extLst xmlns:a="http://schemas.openxmlformats.org/drawingml/2006/main">
              <a:ext uri="{FF2B5EF4-FFF2-40B4-BE49-F238E27FC236}">
                <a16:creationId xmlns:a16="http://schemas.microsoft.com/office/drawing/2014/main" id="{6BA7B2A2-7EB9-49F9-B28E-8F338F3E4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0" y="14573250"/>
            <a:ext cx="4095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CCAD5"/>
            </a:solidFill>
            <a:prstDash val="solid"/>
          </a:ln>
        </p:spPr>
      </p:sp>
      <p:sp>
        <p:nvSpPr>
          <p:cNvPr id="52" name="stage-evidence-accent">
            <a:extLst xmlns:a="http://schemas.openxmlformats.org/drawingml/2006/main">
              <a:ext uri="{FF2B5EF4-FFF2-40B4-BE49-F238E27FC236}">
                <a16:creationId xmlns:a16="http://schemas.microsoft.com/office/drawing/2014/main" id="{BC914D9A-8759-4C1B-A5C3-FA2C35423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0" y="14573250"/>
            <a:ext cx="4095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52A"/>
          </a:solidFill>
          <a:ln xmlns:a="http://schemas.openxmlformats.org/drawingml/2006/main" w="0">
            <a:solidFill>
              <a:srgbClr val="E9752A"/>
            </a:solidFill>
            <a:prstDash val="solid"/>
          </a:ln>
        </p:spPr>
      </p:sp>
      <p:sp>
        <p:nvSpPr>
          <p:cNvPr id="53" name="stage-evidence-number">
            <a:extLst xmlns:a="http://schemas.openxmlformats.org/drawingml/2006/main">
              <a:ext uri="{FF2B5EF4-FFF2-40B4-BE49-F238E27FC236}">
                <a16:creationId xmlns:a16="http://schemas.microsoft.com/office/drawing/2014/main" id="{660EE946-8EBD-41A9-AFFC-17D3C907E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0" y="148018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752A"/>
          </a:solidFill>
          <a:ln xmlns:a="http://schemas.openxmlformats.org/drawingml/2006/main" w="0">
            <a:solidFill>
              <a:srgbClr val="E9752A"/>
            </a:solidFill>
            <a:prstDash val="solid"/>
          </a:ln>
        </p:spPr>
      </p:sp>
      <p:sp>
        <p:nvSpPr>
          <p:cNvPr id="54" name="stage-evidence-number-text">
            <a:extLst xmlns:a="http://schemas.openxmlformats.org/drawingml/2006/main">
              <a:ext uri="{FF2B5EF4-FFF2-40B4-BE49-F238E27FC236}">
                <a16:creationId xmlns:a16="http://schemas.microsoft.com/office/drawing/2014/main" id="{69004592-406B-4E0C-8B6F-F8E448404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0" y="148018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55" name="stage-evidence-title">
            <a:extLst xmlns:a="http://schemas.openxmlformats.org/drawingml/2006/main">
              <a:ext uri="{FF2B5EF4-FFF2-40B4-BE49-F238E27FC236}">
                <a16:creationId xmlns:a16="http://schemas.microsoft.com/office/drawing/2014/main" id="{CF4BC271-D359-4713-A49A-668030D7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02625" y="14782800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000" b="1">
                <a:solidFill>
                  <a:srgbClr val="E9752A"/>
                </a:solidFill>
              </a:defRPr>
            </a:pPr>
            <a:r>
              <a:rPr sz="3000" b="1">
                <a:solidFill>
                  <a:srgbClr val="E9752A"/>
                </a:solidFill>
              </a:rPr>
              <a:t>EVIDENCE + LLM</a:t>
            </a:r>
          </a:p>
        </p:txBody>
      </p:sp>
      <p:sp>
        <p:nvSpPr>
          <p:cNvPr id="56" name="stage-evidence-body">
            <a:extLst xmlns:a="http://schemas.openxmlformats.org/drawingml/2006/main">
              <a:ext uri="{FF2B5EF4-FFF2-40B4-BE49-F238E27FC236}">
                <a16:creationId xmlns:a16="http://schemas.microsoft.com/office/drawing/2014/main" id="{8DCCB4DF-9574-4D9F-B40C-CFC987168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26350" y="15544800"/>
            <a:ext cx="36385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72A3A"/>
                </a:solidFill>
              </a:defRPr>
            </a:pPr>
            <a:r>
              <a:rPr sz="2400" b="0">
                <a:solidFill>
                  <a:srgbClr val="172A3A"/>
                </a:solidFill>
              </a:rPr>
              <a:t>Attach sources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72A3A"/>
                </a:solidFill>
              </a:defRPr>
            </a:pPr>
            <a:r>
              <a:rPr sz="2400" b="0">
                <a:solidFill>
                  <a:srgbClr val="172A3A"/>
                </a:solidFill>
              </a:rPr>
              <a:t>Build factual draft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72A3A"/>
                </a:solidFill>
              </a:defRPr>
            </a:pPr>
            <a:r>
              <a:rPr sz="2400" b="0">
                <a:solidFill>
                  <a:srgbClr val="172A3A"/>
                </a:solidFill>
              </a:rPr>
              <a:t>Typhoon assists only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72A3A"/>
                </a:solidFill>
              </a:defRPr>
            </a:pPr>
            <a:r>
              <a:rPr sz="2400" b="0">
                <a:solidFill>
                  <a:srgbClr val="172A3A"/>
                </a:solidFill>
              </a:rPr>
              <a:t>when useful</a:t>
            </a:r>
          </a:p>
        </p:txBody>
      </p:sp>
      <p:sp>
        <p:nvSpPr>
          <p:cNvPr id="57" name="stage-final-box">
            <a:extLst xmlns:a="http://schemas.openxmlformats.org/drawingml/2006/main">
              <a:ext uri="{FF2B5EF4-FFF2-40B4-BE49-F238E27FC236}">
                <a16:creationId xmlns:a16="http://schemas.microsoft.com/office/drawing/2014/main" id="{36A331BC-C0A5-4869-A149-8E5DE5F43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0" y="14573250"/>
            <a:ext cx="4095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3"/>
          </a:solidFill>
          <a:ln xmlns:a="http://schemas.openxmlformats.org/drawingml/2006/main" w="19050">
            <a:solidFill>
              <a:srgbClr val="BCCAD5"/>
            </a:solidFill>
            <a:prstDash val="solid"/>
          </a:ln>
        </p:spPr>
      </p:sp>
      <p:sp>
        <p:nvSpPr>
          <p:cNvPr id="58" name="stage-final-accent">
            <a:extLst xmlns:a="http://schemas.openxmlformats.org/drawingml/2006/main">
              <a:ext uri="{FF2B5EF4-FFF2-40B4-BE49-F238E27FC236}">
                <a16:creationId xmlns:a16="http://schemas.microsoft.com/office/drawing/2014/main" id="{FA6B0430-C503-4D2B-A432-2AC7D9852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0" y="14573250"/>
            <a:ext cx="4095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4C5F"/>
          </a:solidFill>
          <a:ln xmlns:a="http://schemas.openxmlformats.org/drawingml/2006/main" w="0">
            <a:solidFill>
              <a:srgbClr val="C94C5F"/>
            </a:solidFill>
            <a:prstDash val="solid"/>
          </a:ln>
        </p:spPr>
      </p:sp>
      <p:sp>
        <p:nvSpPr>
          <p:cNvPr id="59" name="stage-final-number">
            <a:extLst xmlns:a="http://schemas.openxmlformats.org/drawingml/2006/main">
              <a:ext uri="{FF2B5EF4-FFF2-40B4-BE49-F238E27FC236}">
                <a16:creationId xmlns:a16="http://schemas.microsoft.com/office/drawing/2014/main" id="{6E1CCB0F-A531-4A75-8D32-981074FDE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0" y="148018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4C5F"/>
          </a:solidFill>
          <a:ln xmlns:a="http://schemas.openxmlformats.org/drawingml/2006/main" w="0">
            <a:solidFill>
              <a:srgbClr val="C94C5F"/>
            </a:solidFill>
            <a:prstDash val="solid"/>
          </a:ln>
        </p:spPr>
      </p:sp>
      <p:sp>
        <p:nvSpPr>
          <p:cNvPr id="60" name="stage-final-number-text">
            <a:extLst xmlns:a="http://schemas.openxmlformats.org/drawingml/2006/main">
              <a:ext uri="{FF2B5EF4-FFF2-40B4-BE49-F238E27FC236}">
                <a16:creationId xmlns:a16="http://schemas.microsoft.com/office/drawing/2014/main" id="{8D17C361-9C82-4548-ADBB-56987FA43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0" y="148018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61" name="stage-final-title">
            <a:extLst xmlns:a="http://schemas.openxmlformats.org/drawingml/2006/main">
              <a:ext uri="{FF2B5EF4-FFF2-40B4-BE49-F238E27FC236}">
                <a16:creationId xmlns:a16="http://schemas.microsoft.com/office/drawing/2014/main" id="{320F325A-29EF-46CF-B456-997D0EF5B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69875" y="14782800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000" b="1">
                <a:solidFill>
                  <a:srgbClr val="C94C5F"/>
                </a:solidFill>
              </a:defRPr>
            </a:pPr>
            <a:r>
              <a:rPr sz="3000" b="1">
                <a:solidFill>
                  <a:srgbClr val="C94C5F"/>
                </a:solidFill>
              </a:rPr>
              <a:t>FINAL CHECK</a:t>
            </a:r>
          </a:p>
        </p:txBody>
      </p:sp>
      <p:sp>
        <p:nvSpPr>
          <p:cNvPr id="62" name="stage-final-body">
            <a:extLst xmlns:a="http://schemas.openxmlformats.org/drawingml/2006/main">
              <a:ext uri="{FF2B5EF4-FFF2-40B4-BE49-F238E27FC236}">
                <a16:creationId xmlns:a16="http://schemas.microsoft.com/office/drawing/2014/main" id="{8D1250AA-92FE-4C00-9F39-F7E31BA9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93600" y="15544800"/>
            <a:ext cx="36385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72A3A"/>
                </a:solidFill>
              </a:defRPr>
            </a:pPr>
            <a:r>
              <a:rPr sz="2400" b="0">
                <a:solidFill>
                  <a:srgbClr val="172A3A"/>
                </a:solidFill>
              </a:rPr>
              <a:t>Answer Contract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72A3A"/>
                </a:solidFill>
              </a:defRPr>
            </a:pPr>
            <a:r>
              <a:rPr sz="2400" b="0">
                <a:solidFill>
                  <a:srgbClr val="172A3A"/>
                </a:solidFill>
              </a:rPr>
              <a:t>Bounded Repair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72A3A"/>
                </a:solidFill>
              </a:defRPr>
            </a:pPr>
            <a:r>
              <a:rPr sz="2400" b="0">
                <a:solidFill>
                  <a:srgbClr val="172A3A"/>
                </a:solidFill>
              </a:rPr>
              <a:t>Final Hard Veto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172A3A"/>
                </a:solidFill>
              </a:defRPr>
            </a:pPr>
            <a:r>
              <a:rPr sz="2400" b="0">
                <a:solidFill>
                  <a:srgbClr val="172A3A"/>
                </a:solidFill>
              </a:rPr>
              <a:t>Thai response</a:t>
            </a:r>
          </a:p>
        </p:txBody>
      </p:sp>
      <p:sp>
        <p:nvSpPr>
          <p:cNvPr id="63" name="architecture-policy-rule">
            <a:extLst xmlns:a="http://schemas.openxmlformats.org/drawingml/2006/main">
              <a:ext uri="{FF2B5EF4-FFF2-40B4-BE49-F238E27FC236}">
                <a16:creationId xmlns:a16="http://schemas.microsoft.com/office/drawing/2014/main" id="{3A896D0B-7B8F-474F-AE7E-B4DAD27E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145125"/>
            <a:ext cx="27412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AD5"/>
          </a:solidFill>
          <a:ln xmlns:a="http://schemas.openxmlformats.org/drawingml/2006/main" w="0">
            <a:solidFill>
              <a:srgbClr val="BCCAD5"/>
            </a:solidFill>
            <a:prstDash val="solid"/>
          </a:ln>
        </p:spPr>
      </p:sp>
      <p:sp>
        <p:nvSpPr>
          <p:cNvPr id="64" name="architecture-policy">
            <a:extLst xmlns:a="http://schemas.openxmlformats.org/drawingml/2006/main">
              <a:ext uri="{FF2B5EF4-FFF2-40B4-BE49-F238E27FC236}">
                <a16:creationId xmlns:a16="http://schemas.microsoft.com/office/drawing/2014/main" id="{69B7AF90-2424-4F6C-920E-0075AB16A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335625"/>
            <a:ext cx="27412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0A2A48"/>
                </a:solidFill>
              </a:defRPr>
            </a:pPr>
            <a:r>
              <a:rPr sz="2550" b="1">
                <a:solidFill>
                  <a:srgbClr val="0A2A48"/>
                </a:solidFill>
              </a:rPr>
              <a:t>FAST FACTS BYPASS THE LLM QUEUE     |     RAG SUPPLIES EVIDENCE     |     TYPHOON CANNOT CREATE NEW PSU FACTS</a:t>
            </a:r>
          </a:p>
        </p:txBody>
      </p:sp>
      <p:sp>
        <p:nvSpPr>
          <p:cNvPr id="65" name="architecture-controls">
            <a:extLst xmlns:a="http://schemas.openxmlformats.org/drawingml/2006/main">
              <a:ext uri="{FF2B5EF4-FFF2-40B4-BE49-F238E27FC236}">
                <a16:creationId xmlns:a16="http://schemas.microsoft.com/office/drawing/2014/main" id="{5057F5B3-1334-45D4-8431-3C6949A8A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859500"/>
            <a:ext cx="27412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400" b="1">
                <a:solidFill>
                  <a:srgbClr val="536879"/>
                </a:solidFill>
              </a:defRPr>
            </a:pPr>
            <a:r>
              <a:rPr sz="2400" b="1">
                <a:solidFill>
                  <a:srgbClr val="536879"/>
                </a:solidFill>
              </a:rPr>
              <a:t>Max 2 LLM calls per request  |  LLM concurrency 1  |  Global request timeout 20s  |  Product target &lt;= 10s</a:t>
            </a:r>
          </a:p>
        </p:txBody>
      </p:sp>
      <p:sp>
        <p:nvSpPr>
          <p:cNvPr id="66" name="methodology-heading">
            <a:extLst xmlns:a="http://schemas.openxmlformats.org/drawingml/2006/main">
              <a:ext uri="{FF2B5EF4-FFF2-40B4-BE49-F238E27FC236}">
                <a16:creationId xmlns:a16="http://schemas.microsoft.com/office/drawing/2014/main" id="{DD0B7468-ECE0-4379-8BC3-7FFE6055C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669125"/>
            <a:ext cx="952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4200" b="1">
                <a:solidFill>
                  <a:srgbClr val="0A2A48"/>
                </a:solidFill>
              </a:defRPr>
            </a:pPr>
            <a:r>
              <a:rPr sz="4200" b="1">
                <a:solidFill>
                  <a:srgbClr val="0A2A48"/>
                </a:solidFill>
              </a:rPr>
              <a:t>Methodology</a:t>
            </a:r>
          </a:p>
        </p:txBody>
      </p:sp>
      <p:sp>
        <p:nvSpPr>
          <p:cNvPr id="67" name="methodology-underline">
            <a:extLst xmlns:a="http://schemas.openxmlformats.org/drawingml/2006/main">
              <a:ext uri="{FF2B5EF4-FFF2-40B4-BE49-F238E27FC236}">
                <a16:creationId xmlns:a16="http://schemas.microsoft.com/office/drawing/2014/main" id="{7FFBB078-9F0D-4A2F-8DC2-E87F45C9A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297775"/>
            <a:ext cx="619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A48"/>
          </a:solidFill>
          <a:ln xmlns:a="http://schemas.openxmlformats.org/drawingml/2006/main" w="0">
            <a:solidFill>
              <a:srgbClr val="0A2A48"/>
            </a:solidFill>
            <a:prstDash val="solid"/>
          </a:ln>
        </p:spPr>
      </p:sp>
      <p:sp>
        <p:nvSpPr>
          <p:cNvPr id="68" name="method-divider-0">
            <a:extLst xmlns:a="http://schemas.openxmlformats.org/drawingml/2006/main">
              <a:ext uri="{FF2B5EF4-FFF2-40B4-BE49-F238E27FC236}">
                <a16:creationId xmlns:a16="http://schemas.microsoft.com/office/drawing/2014/main" id="{F7EC68E3-2CEC-4634-B70C-E8D0FDD98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669250"/>
            <a:ext cx="28575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AD5"/>
          </a:solidFill>
          <a:ln xmlns:a="http://schemas.openxmlformats.org/drawingml/2006/main" w="0">
            <a:solidFill>
              <a:srgbClr val="BCCAD5"/>
            </a:solidFill>
            <a:prstDash val="solid"/>
          </a:ln>
        </p:spPr>
      </p:sp>
      <p:sp>
        <p:nvSpPr>
          <p:cNvPr id="69" name="method-divider-1">
            <a:extLst xmlns:a="http://schemas.openxmlformats.org/drawingml/2006/main">
              <a:ext uri="{FF2B5EF4-FFF2-40B4-BE49-F238E27FC236}">
                <a16:creationId xmlns:a16="http://schemas.microsoft.com/office/drawing/2014/main" id="{8B8B7688-38A8-4862-885A-1960144AB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20669250"/>
            <a:ext cx="28575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AD5"/>
          </a:solidFill>
          <a:ln xmlns:a="http://schemas.openxmlformats.org/drawingml/2006/main" w="0">
            <a:solidFill>
              <a:srgbClr val="BCCAD5"/>
            </a:solidFill>
            <a:prstDash val="solid"/>
          </a:ln>
        </p:spPr>
      </p:sp>
      <p:sp>
        <p:nvSpPr>
          <p:cNvPr id="70" name="method-divider-2">
            <a:extLst xmlns:a="http://schemas.openxmlformats.org/drawingml/2006/main">
              <a:ext uri="{FF2B5EF4-FFF2-40B4-BE49-F238E27FC236}">
                <a16:creationId xmlns:a16="http://schemas.microsoft.com/office/drawing/2014/main" id="{748100B6-0EF0-41FB-8419-306B4E1D5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0" y="20669250"/>
            <a:ext cx="28575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AD5"/>
          </a:solidFill>
          <a:ln xmlns:a="http://schemas.openxmlformats.org/drawingml/2006/main" w="0">
            <a:solidFill>
              <a:srgbClr val="BCCAD5"/>
            </a:solidFill>
            <a:prstDash val="solid"/>
          </a:ln>
        </p:spPr>
      </p:sp>
      <p:sp>
        <p:nvSpPr>
          <p:cNvPr id="71" name="method-fast-index">
            <a:extLst xmlns:a="http://schemas.openxmlformats.org/drawingml/2006/main">
              <a:ext uri="{FF2B5EF4-FFF2-40B4-BE49-F238E27FC236}">
                <a16:creationId xmlns:a16="http://schemas.microsoft.com/office/drawing/2014/main" id="{856572B6-B931-483C-BA53-6100C08A2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669250"/>
            <a:ext cx="714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>
                <a:solidFill>
                  <a:srgbClr val="12866F"/>
                </a:solidFill>
              </a:defRPr>
            </a:pPr>
            <a:r>
              <a:rPr sz="3150" b="1">
                <a:solidFill>
                  <a:srgbClr val="12866F"/>
                </a:solidFill>
              </a:rPr>
              <a:t>01</a:t>
            </a:r>
          </a:p>
        </p:txBody>
      </p:sp>
      <p:sp>
        <p:nvSpPr>
          <p:cNvPr id="72" name="method-fast-eyebrow">
            <a:extLst xmlns:a="http://schemas.openxmlformats.org/drawingml/2006/main">
              <a:ext uri="{FF2B5EF4-FFF2-40B4-BE49-F238E27FC236}">
                <a16:creationId xmlns:a16="http://schemas.microsoft.com/office/drawing/2014/main" id="{E91573EE-FE50-4FC5-A5B4-89B0E0389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0669250"/>
            <a:ext cx="542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2866F"/>
                </a:solidFill>
              </a:defRPr>
            </a:pPr>
            <a:r>
              <a:rPr sz="2550" b="1">
                <a:solidFill>
                  <a:srgbClr val="12866F"/>
                </a:solidFill>
              </a:rPr>
              <a:t>DETERMINISTIC BACKBONE</a:t>
            </a:r>
          </a:p>
        </p:txBody>
      </p:sp>
      <p:sp>
        <p:nvSpPr>
          <p:cNvPr id="73" name="method-fast-title">
            <a:extLst xmlns:a="http://schemas.openxmlformats.org/drawingml/2006/main">
              <a:ext uri="{FF2B5EF4-FFF2-40B4-BE49-F238E27FC236}">
                <a16:creationId xmlns:a16="http://schemas.microsoft.com/office/drawing/2014/main" id="{423582E8-283C-4375-ADCD-EFA384CC7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221700"/>
            <a:ext cx="619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600" b="1">
                <a:solidFill>
                  <a:srgbClr val="0A2A48"/>
                </a:solidFill>
              </a:defRPr>
            </a:pPr>
            <a:r>
              <a:rPr sz="3600" b="1">
                <a:solidFill>
                  <a:srgbClr val="0A2A48"/>
                </a:solidFill>
              </a:rPr>
              <a:t>FAST + STRUCTURED</a:t>
            </a:r>
          </a:p>
        </p:txBody>
      </p:sp>
      <p:sp>
        <p:nvSpPr>
          <p:cNvPr id="74" name="method-fast-body">
            <a:extLst xmlns:a="http://schemas.openxmlformats.org/drawingml/2006/main">
              <a:ext uri="{FF2B5EF4-FFF2-40B4-BE49-F238E27FC236}">
                <a16:creationId xmlns:a16="http://schemas.microsoft.com/office/drawing/2014/main" id="{6CDA31AA-B3F3-4D3D-9E79-CD6663C73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983700"/>
            <a:ext cx="6191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2550" b="0">
                <a:solidFill>
                  <a:srgbClr val="172A3A"/>
                </a:solidFill>
              </a:defRPr>
            </a:pPr>
            <a:r>
              <a:rPr sz="2550" b="0">
                <a:solidFill>
                  <a:srgbClr val="172A3A"/>
                </a:solidFill>
              </a:rPr>
              <a:t>Aliases, rules and structured tools answer exact questions about games, prices, zones, equipment, opening hours and deterministic fee calculations.</a:t>
            </a:r>
          </a:p>
        </p:txBody>
      </p:sp>
      <p:sp>
        <p:nvSpPr>
          <p:cNvPr id="75" name="method-fast-flow-0">
            <a:extLst xmlns:a="http://schemas.openxmlformats.org/drawingml/2006/main">
              <a:ext uri="{FF2B5EF4-FFF2-40B4-BE49-F238E27FC236}">
                <a16:creationId xmlns:a16="http://schemas.microsoft.com/office/drawing/2014/main" id="{6D4A1E5F-C785-489D-8D3C-D0ADFF59A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241125"/>
            <a:ext cx="1962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3"/>
          </a:solidFill>
          <a:ln xmlns:a="http://schemas.openxmlformats.org/drawingml/2006/main" w="19050">
            <a:solidFill>
              <a:srgbClr val="12866F"/>
            </a:solidFill>
            <a:prstDash val="solid"/>
          </a:ln>
        </p:spPr>
      </p:sp>
      <p:sp>
        <p:nvSpPr>
          <p:cNvPr id="76" name="method-fast-flow-text-0">
            <a:extLst xmlns:a="http://schemas.openxmlformats.org/drawingml/2006/main">
              <a:ext uri="{FF2B5EF4-FFF2-40B4-BE49-F238E27FC236}">
                <a16:creationId xmlns:a16="http://schemas.microsoft.com/office/drawing/2014/main" id="{5BCF2E17-9E48-40BD-B171-CA0DEF856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4317325"/>
            <a:ext cx="180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250" b="1">
                <a:solidFill>
                  <a:srgbClr val="172A3A"/>
                </a:solidFill>
              </a:defRPr>
            </a:pPr>
            <a:r>
              <a:rPr sz="2250" b="1">
                <a:solidFill>
                  <a:srgbClr val="172A3A"/>
                </a:solidFill>
              </a:rPr>
              <a:t>Intent</a:t>
            </a:r>
          </a:p>
        </p:txBody>
      </p:sp>
      <p:sp>
        <p:nvSpPr>
          <p:cNvPr id="77" name="method-fast-flow-arrow-0">
            <a:extLst xmlns:a="http://schemas.openxmlformats.org/drawingml/2006/main">
              <a:ext uri="{FF2B5EF4-FFF2-40B4-BE49-F238E27FC236}">
                <a16:creationId xmlns:a16="http://schemas.microsoft.com/office/drawing/2014/main" id="{C409FE6F-CBF4-4288-9ED6-3C0ED7677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4336375"/>
            <a:ext cx="152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12866F"/>
                </a:solidFill>
              </a:defRPr>
            </a:pPr>
            <a:r>
              <a:rPr sz="2550" b="1">
                <a:solidFill>
                  <a:srgbClr val="12866F"/>
                </a:solidFill>
              </a:rPr>
              <a:t>→</a:t>
            </a:r>
          </a:p>
        </p:txBody>
      </p:sp>
      <p:sp>
        <p:nvSpPr>
          <p:cNvPr id="78" name="method-fast-flow-1">
            <a:extLst xmlns:a="http://schemas.openxmlformats.org/drawingml/2006/main">
              <a:ext uri="{FF2B5EF4-FFF2-40B4-BE49-F238E27FC236}">
                <a16:creationId xmlns:a16="http://schemas.microsoft.com/office/drawing/2014/main" id="{7EAA212F-5048-483C-AEA3-B3826C1E9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241125"/>
            <a:ext cx="1962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3"/>
          </a:solidFill>
          <a:ln xmlns:a="http://schemas.openxmlformats.org/drawingml/2006/main" w="19050">
            <a:solidFill>
              <a:srgbClr val="12866F"/>
            </a:solidFill>
            <a:prstDash val="dash"/>
          </a:ln>
        </p:spPr>
      </p:sp>
      <p:sp>
        <p:nvSpPr>
          <p:cNvPr id="79" name="method-fast-flow-text-1">
            <a:extLst xmlns:a="http://schemas.openxmlformats.org/drawingml/2006/main">
              <a:ext uri="{FF2B5EF4-FFF2-40B4-BE49-F238E27FC236}">
                <a16:creationId xmlns:a16="http://schemas.microsoft.com/office/drawing/2014/main" id="{290E6DA4-EDDC-44A3-B9BF-0988C29FC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317325"/>
            <a:ext cx="180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250" b="1">
                <a:solidFill>
                  <a:srgbClr val="172A3A"/>
                </a:solidFill>
              </a:defRPr>
            </a:pPr>
            <a:r>
              <a:rPr sz="2250" b="1">
                <a:solidFill>
                  <a:srgbClr val="172A3A"/>
                </a:solidFill>
              </a:rPr>
              <a:t>Exact record</a:t>
            </a:r>
          </a:p>
        </p:txBody>
      </p:sp>
      <p:sp>
        <p:nvSpPr>
          <p:cNvPr id="80" name="method-fast-flow-arrow-1">
            <a:extLst xmlns:a="http://schemas.openxmlformats.org/drawingml/2006/main">
              <a:ext uri="{FF2B5EF4-FFF2-40B4-BE49-F238E27FC236}">
                <a16:creationId xmlns:a16="http://schemas.microsoft.com/office/drawing/2014/main" id="{51AC67EF-A558-466C-B7C0-6ACD46653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4336375"/>
            <a:ext cx="152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12866F"/>
                </a:solidFill>
              </a:defRPr>
            </a:pPr>
            <a:r>
              <a:rPr sz="2550" b="1">
                <a:solidFill>
                  <a:srgbClr val="12866F"/>
                </a:solidFill>
              </a:rPr>
              <a:t>→</a:t>
            </a:r>
          </a:p>
        </p:txBody>
      </p:sp>
      <p:sp>
        <p:nvSpPr>
          <p:cNvPr id="81" name="method-fast-flow-2">
            <a:extLst xmlns:a="http://schemas.openxmlformats.org/drawingml/2006/main">
              <a:ext uri="{FF2B5EF4-FFF2-40B4-BE49-F238E27FC236}">
                <a16:creationId xmlns:a16="http://schemas.microsoft.com/office/drawing/2014/main" id="{A8CB2C89-2298-4658-BD50-51A9B844D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4241125"/>
            <a:ext cx="1962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3"/>
          </a:solidFill>
          <a:ln xmlns:a="http://schemas.openxmlformats.org/drawingml/2006/main" w="19050">
            <a:solidFill>
              <a:srgbClr val="12866F"/>
            </a:solidFill>
            <a:prstDash val="solid"/>
          </a:ln>
        </p:spPr>
      </p:sp>
      <p:sp>
        <p:nvSpPr>
          <p:cNvPr id="82" name="method-fast-flow-text-2">
            <a:extLst xmlns:a="http://schemas.openxmlformats.org/drawingml/2006/main">
              <a:ext uri="{FF2B5EF4-FFF2-40B4-BE49-F238E27FC236}">
                <a16:creationId xmlns:a16="http://schemas.microsoft.com/office/drawing/2014/main" id="{A0BA1106-B0FC-4E09-A361-8898AFFF5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4317325"/>
            <a:ext cx="180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250" b="1">
                <a:solidFill>
                  <a:srgbClr val="172A3A"/>
                </a:solidFill>
              </a:defRPr>
            </a:pPr>
            <a:r>
              <a:rPr sz="2250" b="1">
                <a:solidFill>
                  <a:srgbClr val="172A3A"/>
                </a:solidFill>
              </a:rPr>
              <a:t>Draft</a:t>
            </a:r>
          </a:p>
        </p:txBody>
      </p:sp>
      <p:sp>
        <p:nvSpPr>
          <p:cNvPr id="83" name="method-fast-footer-rule">
            <a:extLst xmlns:a="http://schemas.openxmlformats.org/drawingml/2006/main">
              <a:ext uri="{FF2B5EF4-FFF2-40B4-BE49-F238E27FC236}">
                <a16:creationId xmlns:a16="http://schemas.microsoft.com/office/drawing/2014/main" id="{BE34EB7C-33B8-4B2A-A85D-8811AC3D7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431750"/>
            <a:ext cx="619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66F"/>
          </a:solidFill>
          <a:ln xmlns:a="http://schemas.openxmlformats.org/drawingml/2006/main" w="0">
            <a:solidFill>
              <a:srgbClr val="12866F"/>
            </a:solidFill>
            <a:prstDash val="solid"/>
          </a:ln>
        </p:spPr>
      </p:sp>
      <p:sp>
        <p:nvSpPr>
          <p:cNvPr id="84" name="method-fast-footer">
            <a:extLst xmlns:a="http://schemas.openxmlformats.org/drawingml/2006/main">
              <a:ext uri="{FF2B5EF4-FFF2-40B4-BE49-F238E27FC236}">
                <a16:creationId xmlns:a16="http://schemas.microsoft.com/office/drawing/2014/main" id="{4BC9995F-7A25-466F-BC1B-AB429DAA6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574625"/>
            <a:ext cx="619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400" b="1">
                <a:solidFill>
                  <a:srgbClr val="12866F"/>
                </a:solidFill>
              </a:defRPr>
            </a:pPr>
            <a:r>
              <a:rPr sz="2400" b="1">
                <a:solidFill>
                  <a:srgbClr val="12866F"/>
                </a:solidFill>
              </a:rPr>
              <a:t>0 LLM CALLS  |  NO MODEL QUEUE</a:t>
            </a:r>
          </a:p>
        </p:txBody>
      </p:sp>
      <p:sp>
        <p:nvSpPr>
          <p:cNvPr id="85" name="method-rag-index">
            <a:extLst xmlns:a="http://schemas.openxmlformats.org/drawingml/2006/main">
              <a:ext uri="{FF2B5EF4-FFF2-40B4-BE49-F238E27FC236}">
                <a16:creationId xmlns:a16="http://schemas.microsoft.com/office/drawing/2014/main" id="{350646FF-B18B-4C0C-9579-BD8D2FA60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669250"/>
            <a:ext cx="714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>
                <a:solidFill>
                  <a:srgbClr val="2D91D5"/>
                </a:solidFill>
              </a:defRPr>
            </a:pPr>
            <a:r>
              <a:rPr sz="3150" b="1">
                <a:solidFill>
                  <a:srgbClr val="2D91D5"/>
                </a:solidFill>
              </a:rPr>
              <a:t>02</a:t>
            </a:r>
          </a:p>
        </p:txBody>
      </p:sp>
      <p:sp>
        <p:nvSpPr>
          <p:cNvPr id="86" name="method-rag-eyebrow">
            <a:extLst xmlns:a="http://schemas.openxmlformats.org/drawingml/2006/main">
              <a:ext uri="{FF2B5EF4-FFF2-40B4-BE49-F238E27FC236}">
                <a16:creationId xmlns:a16="http://schemas.microsoft.com/office/drawing/2014/main" id="{4B6BC13B-EF8F-41DD-8A63-BAC0D908C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669250"/>
            <a:ext cx="542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2D91D5"/>
                </a:solidFill>
              </a:defRPr>
            </a:pPr>
            <a:r>
              <a:rPr sz="2550" b="1">
                <a:solidFill>
                  <a:srgbClr val="2D91D5"/>
                </a:solidFill>
              </a:rPr>
              <a:t>SEMANTIC RETRIEVAL</a:t>
            </a:r>
          </a:p>
        </p:txBody>
      </p:sp>
      <p:sp>
        <p:nvSpPr>
          <p:cNvPr id="87" name="method-rag-title">
            <a:extLst xmlns:a="http://schemas.openxmlformats.org/drawingml/2006/main">
              <a:ext uri="{FF2B5EF4-FFF2-40B4-BE49-F238E27FC236}">
                <a16:creationId xmlns:a16="http://schemas.microsoft.com/office/drawing/2014/main" id="{71CBAA09-5F1D-434E-BD69-5691DDBB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221700"/>
            <a:ext cx="619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600" b="1">
                <a:solidFill>
                  <a:srgbClr val="0A2A48"/>
                </a:solidFill>
              </a:defRPr>
            </a:pPr>
            <a:r>
              <a:rPr sz="3600" b="1">
                <a:solidFill>
                  <a:srgbClr val="0A2A48"/>
                </a:solidFill>
              </a:rPr>
              <a:t>BGE-M3</a:t>
            </a:r>
          </a:p>
        </p:txBody>
      </p:sp>
      <p:sp>
        <p:nvSpPr>
          <p:cNvPr id="88" name="method-rag-body">
            <a:extLst xmlns:a="http://schemas.openxmlformats.org/drawingml/2006/main">
              <a:ext uri="{FF2B5EF4-FFF2-40B4-BE49-F238E27FC236}">
                <a16:creationId xmlns:a16="http://schemas.microsoft.com/office/drawing/2014/main" id="{DCDF5310-447A-41D4-A922-4DAD295FC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983700"/>
            <a:ext cx="6191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2550" b="0">
                <a:solidFill>
                  <a:srgbClr val="172A3A"/>
                </a:solidFill>
              </a:defRPr>
            </a:pPr>
            <a:r>
              <a:rPr sz="2550" b="0">
                <a:solidFill>
                  <a:srgbClr val="172A3A"/>
                </a:solidFill>
              </a:rPr>
              <a:t>New rules, documents and long-form knowledge are embedded and retrieved by meaning. Relevant candidates can be reranked before use.</a:t>
            </a:r>
          </a:p>
        </p:txBody>
      </p:sp>
      <p:sp>
        <p:nvSpPr>
          <p:cNvPr id="89" name="method-rag-flow-0">
            <a:extLst xmlns:a="http://schemas.openxmlformats.org/drawingml/2006/main">
              <a:ext uri="{FF2B5EF4-FFF2-40B4-BE49-F238E27FC236}">
                <a16:creationId xmlns:a16="http://schemas.microsoft.com/office/drawing/2014/main" id="{53D81AE4-3139-42D4-9D33-F1FC4EE9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241125"/>
            <a:ext cx="1962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C"/>
          </a:solidFill>
          <a:ln xmlns:a="http://schemas.openxmlformats.org/drawingml/2006/main" w="19050">
            <a:solidFill>
              <a:srgbClr val="2D91D5"/>
            </a:solidFill>
            <a:prstDash val="solid"/>
          </a:ln>
        </p:spPr>
      </p:sp>
      <p:sp>
        <p:nvSpPr>
          <p:cNvPr id="90" name="method-rag-flow-text-0">
            <a:extLst xmlns:a="http://schemas.openxmlformats.org/drawingml/2006/main">
              <a:ext uri="{FF2B5EF4-FFF2-40B4-BE49-F238E27FC236}">
                <a16:creationId xmlns:a16="http://schemas.microsoft.com/office/drawing/2014/main" id="{98A2F2C2-A976-4778-B16E-A413C918E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4317325"/>
            <a:ext cx="180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250" b="1">
                <a:solidFill>
                  <a:srgbClr val="172A3A"/>
                </a:solidFill>
              </a:defRPr>
            </a:pPr>
            <a:r>
              <a:rPr sz="2250" b="1">
                <a:solidFill>
                  <a:srgbClr val="172A3A"/>
                </a:solidFill>
              </a:rPr>
              <a:t>Query</a:t>
            </a:r>
          </a:p>
        </p:txBody>
      </p:sp>
      <p:sp>
        <p:nvSpPr>
          <p:cNvPr id="91" name="method-rag-flow-arrow-0">
            <a:extLst xmlns:a="http://schemas.openxmlformats.org/drawingml/2006/main">
              <a:ext uri="{FF2B5EF4-FFF2-40B4-BE49-F238E27FC236}">
                <a16:creationId xmlns:a16="http://schemas.microsoft.com/office/drawing/2014/main" id="{80F603DF-793D-4C4A-8506-8CAD413AD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4336375"/>
            <a:ext cx="152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2D91D5"/>
                </a:solidFill>
              </a:defRPr>
            </a:pPr>
            <a:r>
              <a:rPr sz="2550" b="1">
                <a:solidFill>
                  <a:srgbClr val="2D91D5"/>
                </a:solidFill>
              </a:rPr>
              <a:t>→</a:t>
            </a:r>
          </a:p>
        </p:txBody>
      </p:sp>
      <p:sp>
        <p:nvSpPr>
          <p:cNvPr id="92" name="method-rag-flow-1">
            <a:extLst xmlns:a="http://schemas.openxmlformats.org/drawingml/2006/main">
              <a:ext uri="{FF2B5EF4-FFF2-40B4-BE49-F238E27FC236}">
                <a16:creationId xmlns:a16="http://schemas.microsoft.com/office/drawing/2014/main" id="{C3D1509F-14BC-4EB0-9102-C77C0AF5B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4241125"/>
            <a:ext cx="1962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C"/>
          </a:solidFill>
          <a:ln xmlns:a="http://schemas.openxmlformats.org/drawingml/2006/main" w="19050">
            <a:solidFill>
              <a:srgbClr val="2D91D5"/>
            </a:solidFill>
            <a:prstDash val="dash"/>
          </a:ln>
        </p:spPr>
      </p:sp>
      <p:sp>
        <p:nvSpPr>
          <p:cNvPr id="93" name="method-rag-flow-text-1">
            <a:extLst xmlns:a="http://schemas.openxmlformats.org/drawingml/2006/main">
              <a:ext uri="{FF2B5EF4-FFF2-40B4-BE49-F238E27FC236}">
                <a16:creationId xmlns:a16="http://schemas.microsoft.com/office/drawing/2014/main" id="{F6595C0C-03F3-40F2-9B23-41690B2C4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4317325"/>
            <a:ext cx="180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250" b="1">
                <a:solidFill>
                  <a:srgbClr val="172A3A"/>
                </a:solidFill>
              </a:defRPr>
            </a:pPr>
            <a:r>
              <a:rPr sz="2250" b="1">
                <a:solidFill>
                  <a:srgbClr val="172A3A"/>
                </a:solidFill>
              </a:rPr>
              <a:t>BGE-M3</a:t>
            </a:r>
          </a:p>
        </p:txBody>
      </p:sp>
      <p:sp>
        <p:nvSpPr>
          <p:cNvPr id="94" name="method-rag-flow-arrow-1">
            <a:extLst xmlns:a="http://schemas.openxmlformats.org/drawingml/2006/main">
              <a:ext uri="{FF2B5EF4-FFF2-40B4-BE49-F238E27FC236}">
                <a16:creationId xmlns:a16="http://schemas.microsoft.com/office/drawing/2014/main" id="{A4222AFA-016F-4AB1-BF36-C45EBA902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24336375"/>
            <a:ext cx="152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2D91D5"/>
                </a:solidFill>
              </a:defRPr>
            </a:pPr>
            <a:r>
              <a:rPr sz="2550" b="1">
                <a:solidFill>
                  <a:srgbClr val="2D91D5"/>
                </a:solidFill>
              </a:rPr>
              <a:t>→</a:t>
            </a:r>
          </a:p>
        </p:txBody>
      </p:sp>
      <p:sp>
        <p:nvSpPr>
          <p:cNvPr id="95" name="method-rag-flow-2">
            <a:extLst xmlns:a="http://schemas.openxmlformats.org/drawingml/2006/main">
              <a:ext uri="{FF2B5EF4-FFF2-40B4-BE49-F238E27FC236}">
                <a16:creationId xmlns:a16="http://schemas.microsoft.com/office/drawing/2014/main" id="{52374BB7-8A2C-48EF-BEE3-5A0660455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24241125"/>
            <a:ext cx="1962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C"/>
          </a:solidFill>
          <a:ln xmlns:a="http://schemas.openxmlformats.org/drawingml/2006/main" w="19050">
            <a:solidFill>
              <a:srgbClr val="2D91D5"/>
            </a:solidFill>
            <a:prstDash val="solid"/>
          </a:ln>
        </p:spPr>
      </p:sp>
      <p:sp>
        <p:nvSpPr>
          <p:cNvPr id="96" name="method-rag-flow-text-2">
            <a:extLst xmlns:a="http://schemas.openxmlformats.org/drawingml/2006/main">
              <a:ext uri="{FF2B5EF4-FFF2-40B4-BE49-F238E27FC236}">
                <a16:creationId xmlns:a16="http://schemas.microsoft.com/office/drawing/2014/main" id="{77841A42-9EBE-482E-8093-286ECC015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24317325"/>
            <a:ext cx="180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250" b="1">
                <a:solidFill>
                  <a:srgbClr val="172A3A"/>
                </a:solidFill>
              </a:defRPr>
            </a:pPr>
            <a:r>
              <a:rPr sz="2250" b="1">
                <a:solidFill>
                  <a:srgbClr val="172A3A"/>
                </a:solidFill>
              </a:rPr>
              <a:t>Evidence</a:t>
            </a:r>
          </a:p>
        </p:txBody>
      </p:sp>
      <p:sp>
        <p:nvSpPr>
          <p:cNvPr id="97" name="method-rag-footer-rule">
            <a:extLst xmlns:a="http://schemas.openxmlformats.org/drawingml/2006/main">
              <a:ext uri="{FF2B5EF4-FFF2-40B4-BE49-F238E27FC236}">
                <a16:creationId xmlns:a16="http://schemas.microsoft.com/office/drawing/2014/main" id="{21446FF4-2908-4092-B636-7FA99D452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431750"/>
            <a:ext cx="619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1D5"/>
          </a:solidFill>
          <a:ln xmlns:a="http://schemas.openxmlformats.org/drawingml/2006/main" w="0">
            <a:solidFill>
              <a:srgbClr val="2D91D5"/>
            </a:solidFill>
            <a:prstDash val="solid"/>
          </a:ln>
        </p:spPr>
      </p:sp>
      <p:sp>
        <p:nvSpPr>
          <p:cNvPr id="98" name="method-rag-footer">
            <a:extLst xmlns:a="http://schemas.openxmlformats.org/drawingml/2006/main">
              <a:ext uri="{FF2B5EF4-FFF2-40B4-BE49-F238E27FC236}">
                <a16:creationId xmlns:a16="http://schemas.microsoft.com/office/drawing/2014/main" id="{AEEA4728-2EAF-4E73-BB13-AB6F595E7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574625"/>
            <a:ext cx="619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400" b="1">
                <a:solidFill>
                  <a:srgbClr val="2D91D5"/>
                </a:solidFill>
              </a:defRPr>
            </a:pPr>
            <a:r>
              <a:rPr sz="2400" b="1">
                <a:solidFill>
                  <a:srgbClr val="2D91D5"/>
                </a:solidFill>
              </a:rPr>
              <a:t>EMBEDDING  |  OPTIONAL RERANK</a:t>
            </a:r>
          </a:p>
        </p:txBody>
      </p:sp>
      <p:sp>
        <p:nvSpPr>
          <p:cNvPr id="99" name="method-llm-index">
            <a:extLst xmlns:a="http://schemas.openxmlformats.org/drawingml/2006/main">
              <a:ext uri="{FF2B5EF4-FFF2-40B4-BE49-F238E27FC236}">
                <a16:creationId xmlns:a16="http://schemas.microsoft.com/office/drawing/2014/main" id="{D2E44E14-8DF4-44F2-910F-2FD1FD007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20669250"/>
            <a:ext cx="714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>
                <a:solidFill>
                  <a:srgbClr val="E9752A"/>
                </a:solidFill>
              </a:defRPr>
            </a:pPr>
            <a:r>
              <a:rPr sz="3150" b="1">
                <a:solidFill>
                  <a:srgbClr val="E9752A"/>
                </a:solidFill>
              </a:rPr>
              <a:t>03</a:t>
            </a:r>
          </a:p>
        </p:txBody>
      </p:sp>
      <p:sp>
        <p:nvSpPr>
          <p:cNvPr id="100" name="method-llm-eyebrow">
            <a:extLst xmlns:a="http://schemas.openxmlformats.org/drawingml/2006/main">
              <a:ext uri="{FF2B5EF4-FFF2-40B4-BE49-F238E27FC236}">
                <a16:creationId xmlns:a16="http://schemas.microsoft.com/office/drawing/2014/main" id="{7668E27D-5C5D-4083-833B-3C58C714C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20669250"/>
            <a:ext cx="542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E9752A"/>
                </a:solidFill>
              </a:defRPr>
            </a:pPr>
            <a:r>
              <a:rPr sz="2550" b="1">
                <a:solidFill>
                  <a:srgbClr val="E9752A"/>
                </a:solidFill>
              </a:rPr>
              <a:t>GATED LOCAL MODEL</a:t>
            </a:r>
          </a:p>
        </p:txBody>
      </p:sp>
      <p:sp>
        <p:nvSpPr>
          <p:cNvPr id="101" name="method-llm-title">
            <a:extLst xmlns:a="http://schemas.openxmlformats.org/drawingml/2006/main">
              <a:ext uri="{FF2B5EF4-FFF2-40B4-BE49-F238E27FC236}">
                <a16:creationId xmlns:a16="http://schemas.microsoft.com/office/drawing/2014/main" id="{CD3741AB-2B99-46B0-8126-D2F270A16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21221700"/>
            <a:ext cx="619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600" b="1">
                <a:solidFill>
                  <a:srgbClr val="0A2A48"/>
                </a:solidFill>
              </a:defRPr>
            </a:pPr>
            <a:r>
              <a:rPr sz="3600" b="1">
                <a:solidFill>
                  <a:srgbClr val="0A2A48"/>
                </a:solidFill>
              </a:rPr>
              <a:t>TYPHOON2.5 QWEN3 4B</a:t>
            </a:r>
          </a:p>
        </p:txBody>
      </p:sp>
      <p:sp>
        <p:nvSpPr>
          <p:cNvPr id="102" name="method-llm-body">
            <a:extLst xmlns:a="http://schemas.openxmlformats.org/drawingml/2006/main">
              <a:ext uri="{FF2B5EF4-FFF2-40B4-BE49-F238E27FC236}">
                <a16:creationId xmlns:a16="http://schemas.microsoft.com/office/drawing/2014/main" id="{28D48CE3-DC4C-419A-B20F-50775561C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21983700"/>
            <a:ext cx="6191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2550" b="0">
                <a:solidFill>
                  <a:srgbClr val="172A3A"/>
                </a:solidFill>
              </a:defRPr>
            </a:pPr>
            <a:r>
              <a:rPr sz="2550" b="0">
                <a:solidFill>
                  <a:srgbClr val="172A3A"/>
                </a:solidFill>
              </a:rPr>
              <a:t>The local LLM reviews weak intent, plans dependent questions and composes only from verified evidence. Clear deterministic answers bypass it.</a:t>
            </a:r>
          </a:p>
        </p:txBody>
      </p:sp>
      <p:sp>
        <p:nvSpPr>
          <p:cNvPr id="103" name="method-llm-flow-0">
            <a:extLst xmlns:a="http://schemas.openxmlformats.org/drawingml/2006/main">
              <a:ext uri="{FF2B5EF4-FFF2-40B4-BE49-F238E27FC236}">
                <a16:creationId xmlns:a16="http://schemas.microsoft.com/office/drawing/2014/main" id="{49C6CB33-D723-4C21-A035-37E56D24F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24241125"/>
            <a:ext cx="1962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9"/>
          </a:solidFill>
          <a:ln xmlns:a="http://schemas.openxmlformats.org/drawingml/2006/main" w="19050">
            <a:solidFill>
              <a:srgbClr val="E9752A"/>
            </a:solidFill>
            <a:prstDash val="solid"/>
          </a:ln>
        </p:spPr>
      </p:sp>
      <p:sp>
        <p:nvSpPr>
          <p:cNvPr id="104" name="method-llm-flow-text-0">
            <a:extLst xmlns:a="http://schemas.openxmlformats.org/drawingml/2006/main">
              <a:ext uri="{FF2B5EF4-FFF2-40B4-BE49-F238E27FC236}">
                <a16:creationId xmlns:a16="http://schemas.microsoft.com/office/drawing/2014/main" id="{12BDB4AC-50C1-40A9-BB51-DB67904F9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1950" y="24317325"/>
            <a:ext cx="180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250" b="1">
                <a:solidFill>
                  <a:srgbClr val="172A3A"/>
                </a:solidFill>
              </a:defRPr>
            </a:pPr>
            <a:r>
              <a:rPr sz="2250" b="1">
                <a:solidFill>
                  <a:srgbClr val="172A3A"/>
                </a:solidFill>
              </a:rPr>
              <a:t>Evidence</a:t>
            </a:r>
          </a:p>
        </p:txBody>
      </p:sp>
      <p:sp>
        <p:nvSpPr>
          <p:cNvPr id="105" name="method-llm-flow-arrow-0">
            <a:extLst xmlns:a="http://schemas.openxmlformats.org/drawingml/2006/main">
              <a:ext uri="{FF2B5EF4-FFF2-40B4-BE49-F238E27FC236}">
                <a16:creationId xmlns:a16="http://schemas.microsoft.com/office/drawing/2014/main" id="{90D89591-548E-4183-BBCA-B975FC2D8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7900" y="24336375"/>
            <a:ext cx="152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E9752A"/>
                </a:solidFill>
              </a:defRPr>
            </a:pPr>
            <a:r>
              <a:rPr sz="2550" b="1">
                <a:solidFill>
                  <a:srgbClr val="E9752A"/>
                </a:solidFill>
              </a:rPr>
              <a:t>→</a:t>
            </a:r>
          </a:p>
        </p:txBody>
      </p:sp>
      <p:sp>
        <p:nvSpPr>
          <p:cNvPr id="106" name="method-llm-flow-1">
            <a:extLst xmlns:a="http://schemas.openxmlformats.org/drawingml/2006/main">
              <a:ext uri="{FF2B5EF4-FFF2-40B4-BE49-F238E27FC236}">
                <a16:creationId xmlns:a16="http://schemas.microsoft.com/office/drawing/2014/main" id="{A42053C8-3D31-4924-B07F-3B2B654E2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40300" y="24241125"/>
            <a:ext cx="1962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9"/>
          </a:solidFill>
          <a:ln xmlns:a="http://schemas.openxmlformats.org/drawingml/2006/main" w="19050">
            <a:solidFill>
              <a:srgbClr val="E9752A"/>
            </a:solidFill>
            <a:prstDash val="dash"/>
          </a:ln>
        </p:spPr>
      </p:sp>
      <p:sp>
        <p:nvSpPr>
          <p:cNvPr id="107" name="method-llm-flow-text-1">
            <a:extLst xmlns:a="http://schemas.openxmlformats.org/drawingml/2006/main">
              <a:ext uri="{FF2B5EF4-FFF2-40B4-BE49-F238E27FC236}">
                <a16:creationId xmlns:a16="http://schemas.microsoft.com/office/drawing/2014/main" id="{6184991A-20D9-49A3-81D4-23F24A394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0" y="24317325"/>
            <a:ext cx="180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250" b="1">
                <a:solidFill>
                  <a:srgbClr val="172A3A"/>
                </a:solidFill>
              </a:defRPr>
            </a:pPr>
            <a:r>
              <a:rPr sz="2250" b="1">
                <a:solidFill>
                  <a:srgbClr val="172A3A"/>
                </a:solidFill>
              </a:rPr>
              <a:t>Typhoon</a:t>
            </a:r>
          </a:p>
        </p:txBody>
      </p:sp>
      <p:sp>
        <p:nvSpPr>
          <p:cNvPr id="108" name="method-llm-flow-arrow-1">
            <a:extLst xmlns:a="http://schemas.openxmlformats.org/drawingml/2006/main">
              <a:ext uri="{FF2B5EF4-FFF2-40B4-BE49-F238E27FC236}">
                <a16:creationId xmlns:a16="http://schemas.microsoft.com/office/drawing/2014/main" id="{405DFCEE-667F-4BBF-977F-AC2408B9D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02450" y="24336375"/>
            <a:ext cx="152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E9752A"/>
                </a:solidFill>
              </a:defRPr>
            </a:pPr>
            <a:r>
              <a:rPr sz="2550" b="1">
                <a:solidFill>
                  <a:srgbClr val="E9752A"/>
                </a:solidFill>
              </a:rPr>
              <a:t>→</a:t>
            </a:r>
          </a:p>
        </p:txBody>
      </p:sp>
      <p:sp>
        <p:nvSpPr>
          <p:cNvPr id="109" name="method-llm-flow-2">
            <a:extLst xmlns:a="http://schemas.openxmlformats.org/drawingml/2006/main">
              <a:ext uri="{FF2B5EF4-FFF2-40B4-BE49-F238E27FC236}">
                <a16:creationId xmlns:a16="http://schemas.microsoft.com/office/drawing/2014/main" id="{C198B82A-8F7B-40B0-8741-AA9EB87AE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54850" y="24241125"/>
            <a:ext cx="1962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9"/>
          </a:solidFill>
          <a:ln xmlns:a="http://schemas.openxmlformats.org/drawingml/2006/main" w="19050">
            <a:solidFill>
              <a:srgbClr val="E9752A"/>
            </a:solidFill>
            <a:prstDash val="solid"/>
          </a:ln>
        </p:spPr>
      </p:sp>
      <p:sp>
        <p:nvSpPr>
          <p:cNvPr id="110" name="method-llm-flow-text-2">
            <a:extLst xmlns:a="http://schemas.openxmlformats.org/drawingml/2006/main">
              <a:ext uri="{FF2B5EF4-FFF2-40B4-BE49-F238E27FC236}">
                <a16:creationId xmlns:a16="http://schemas.microsoft.com/office/drawing/2014/main" id="{029DB746-F73F-4DBE-8039-037A4C8F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31050" y="24317325"/>
            <a:ext cx="180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250" b="1">
                <a:solidFill>
                  <a:srgbClr val="172A3A"/>
                </a:solidFill>
              </a:defRPr>
            </a:pPr>
            <a:r>
              <a:rPr sz="2250" b="1">
                <a:solidFill>
                  <a:srgbClr val="172A3A"/>
                </a:solidFill>
              </a:rPr>
              <a:t>Draft</a:t>
            </a:r>
          </a:p>
        </p:txBody>
      </p:sp>
      <p:sp>
        <p:nvSpPr>
          <p:cNvPr id="111" name="method-llm-footer-rule">
            <a:extLst xmlns:a="http://schemas.openxmlformats.org/drawingml/2006/main">
              <a:ext uri="{FF2B5EF4-FFF2-40B4-BE49-F238E27FC236}">
                <a16:creationId xmlns:a16="http://schemas.microsoft.com/office/drawing/2014/main" id="{3A43A82C-8AC5-4BF4-A8FF-B8DFEAD68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25431750"/>
            <a:ext cx="619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52A"/>
          </a:solidFill>
          <a:ln xmlns:a="http://schemas.openxmlformats.org/drawingml/2006/main" w="0">
            <a:solidFill>
              <a:srgbClr val="E9752A"/>
            </a:solidFill>
            <a:prstDash val="solid"/>
          </a:ln>
        </p:spPr>
      </p:sp>
      <p:sp>
        <p:nvSpPr>
          <p:cNvPr id="112" name="method-llm-footer">
            <a:extLst xmlns:a="http://schemas.openxmlformats.org/drawingml/2006/main">
              <a:ext uri="{FF2B5EF4-FFF2-40B4-BE49-F238E27FC236}">
                <a16:creationId xmlns:a16="http://schemas.microsoft.com/office/drawing/2014/main" id="{31844800-F426-4C6B-B18D-727CE2991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25574625"/>
            <a:ext cx="619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400" b="1">
                <a:solidFill>
                  <a:srgbClr val="E9752A"/>
                </a:solidFill>
              </a:defRPr>
            </a:pPr>
            <a:r>
              <a:rPr sz="2400" b="1">
                <a:solidFill>
                  <a:srgbClr val="E9752A"/>
                </a:solidFill>
              </a:rPr>
              <a:t>MAX 2 CALLS  |  CONCURRENCY 1</a:t>
            </a:r>
          </a:p>
        </p:txBody>
      </p:sp>
      <p:sp>
        <p:nvSpPr>
          <p:cNvPr id="113" name="method-safe-index">
            <a:extLst xmlns:a="http://schemas.openxmlformats.org/drawingml/2006/main">
              <a:ext uri="{FF2B5EF4-FFF2-40B4-BE49-F238E27FC236}">
                <a16:creationId xmlns:a16="http://schemas.microsoft.com/office/drawing/2014/main" id="{D9AEC88A-6C05-4C71-80B0-BD3534321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0" y="20669250"/>
            <a:ext cx="714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>
                <a:solidFill>
                  <a:srgbClr val="C94C5F"/>
                </a:solidFill>
              </a:defRPr>
            </a:pPr>
            <a:r>
              <a:rPr sz="3150" b="1">
                <a:solidFill>
                  <a:srgbClr val="C94C5F"/>
                </a:solidFill>
              </a:rPr>
              <a:t>04</a:t>
            </a:r>
          </a:p>
        </p:txBody>
      </p:sp>
      <p:sp>
        <p:nvSpPr>
          <p:cNvPr id="114" name="method-safe-eyebrow">
            <a:extLst xmlns:a="http://schemas.openxmlformats.org/drawingml/2006/main">
              <a:ext uri="{FF2B5EF4-FFF2-40B4-BE49-F238E27FC236}">
                <a16:creationId xmlns:a16="http://schemas.microsoft.com/office/drawing/2014/main" id="{18677330-E374-4FDF-853E-90163DD27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0" y="20669250"/>
            <a:ext cx="542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C94C5F"/>
                </a:solidFill>
              </a:defRPr>
            </a:pPr>
            <a:r>
              <a:rPr sz="2550" b="1">
                <a:solidFill>
                  <a:srgbClr val="C94C5F"/>
                </a:solidFill>
              </a:rPr>
              <a:t>ANSWER QUALITY</a:t>
            </a:r>
          </a:p>
        </p:txBody>
      </p:sp>
      <p:sp>
        <p:nvSpPr>
          <p:cNvPr id="115" name="method-safe-title">
            <a:extLst xmlns:a="http://schemas.openxmlformats.org/drawingml/2006/main">
              <a:ext uri="{FF2B5EF4-FFF2-40B4-BE49-F238E27FC236}">
                <a16:creationId xmlns:a16="http://schemas.microsoft.com/office/drawing/2014/main" id="{8C127958-97B0-4CC6-9C25-A7BDFCC84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0" y="21221700"/>
            <a:ext cx="619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600" b="1">
                <a:solidFill>
                  <a:srgbClr val="0A2A48"/>
                </a:solidFill>
              </a:defRPr>
            </a:pPr>
            <a:r>
              <a:rPr sz="3600" b="1">
                <a:solidFill>
                  <a:srgbClr val="0A2A48"/>
                </a:solidFill>
              </a:rPr>
              <a:t>GUARDS + CONTRACT</a:t>
            </a:r>
          </a:p>
        </p:txBody>
      </p:sp>
      <p:sp>
        <p:nvSpPr>
          <p:cNvPr id="116" name="method-safe-body">
            <a:extLst xmlns:a="http://schemas.openxmlformats.org/drawingml/2006/main">
              <a:ext uri="{FF2B5EF4-FFF2-40B4-BE49-F238E27FC236}">
                <a16:creationId xmlns:a16="http://schemas.microsoft.com/office/drawing/2014/main" id="{14314C5B-BC40-44F6-9BA9-3AAD014DC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0" y="21983700"/>
            <a:ext cx="6191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2550" b="0">
                <a:solidFill>
                  <a:srgbClr val="172A3A"/>
                </a:solidFill>
              </a:defRPr>
            </a:pPr>
            <a:r>
              <a:rPr sz="2550" b="0">
                <a:solidFill>
                  <a:srgbClr val="172A3A"/>
                </a:solidFill>
              </a:rPr>
              <a:t>Boundary, Ambiguity and Source checks precede the Answer Contract. Bounded Repair gets one controlled chance before the final veto.</a:t>
            </a:r>
          </a:p>
        </p:txBody>
      </p:sp>
      <p:sp>
        <p:nvSpPr>
          <p:cNvPr id="117" name="method-safe-flow-0">
            <a:extLst xmlns:a="http://schemas.openxmlformats.org/drawingml/2006/main">
              <a:ext uri="{FF2B5EF4-FFF2-40B4-BE49-F238E27FC236}">
                <a16:creationId xmlns:a16="http://schemas.microsoft.com/office/drawing/2014/main" id="{72B382A8-5CEF-4C46-A2DD-8DE81EA07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0" y="24241125"/>
            <a:ext cx="1962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3"/>
          </a:solidFill>
          <a:ln xmlns:a="http://schemas.openxmlformats.org/drawingml/2006/main" w="19050">
            <a:solidFill>
              <a:srgbClr val="C94C5F"/>
            </a:solidFill>
            <a:prstDash val="solid"/>
          </a:ln>
        </p:spPr>
      </p:sp>
      <p:sp>
        <p:nvSpPr>
          <p:cNvPr id="118" name="method-safe-flow-text-0">
            <a:extLst xmlns:a="http://schemas.openxmlformats.org/drawingml/2006/main">
              <a:ext uri="{FF2B5EF4-FFF2-40B4-BE49-F238E27FC236}">
                <a16:creationId xmlns:a16="http://schemas.microsoft.com/office/drawing/2014/main" id="{748F0BB9-41C5-4E38-BFDE-C7D29418A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50450" y="24317325"/>
            <a:ext cx="180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250" b="1">
                <a:solidFill>
                  <a:srgbClr val="172A3A"/>
                </a:solidFill>
              </a:defRPr>
            </a:pPr>
            <a:r>
              <a:rPr sz="2250" b="1">
                <a:solidFill>
                  <a:srgbClr val="172A3A"/>
                </a:solidFill>
              </a:rPr>
              <a:t>Check</a:t>
            </a:r>
          </a:p>
        </p:txBody>
      </p:sp>
      <p:sp>
        <p:nvSpPr>
          <p:cNvPr id="119" name="method-safe-flow-arrow-0">
            <a:extLst xmlns:a="http://schemas.openxmlformats.org/drawingml/2006/main">
              <a:ext uri="{FF2B5EF4-FFF2-40B4-BE49-F238E27FC236}">
                <a16:creationId xmlns:a16="http://schemas.microsoft.com/office/drawing/2014/main" id="{1B88DF1C-DDCD-41FB-8D57-6FF168CA8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36400" y="24336375"/>
            <a:ext cx="152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C94C5F"/>
                </a:solidFill>
              </a:defRPr>
            </a:pPr>
            <a:r>
              <a:rPr sz="2550" b="1">
                <a:solidFill>
                  <a:srgbClr val="C94C5F"/>
                </a:solidFill>
              </a:rPr>
              <a:t>→</a:t>
            </a:r>
          </a:p>
        </p:txBody>
      </p:sp>
      <p:sp>
        <p:nvSpPr>
          <p:cNvPr id="120" name="method-safe-flow-1">
            <a:extLst xmlns:a="http://schemas.openxmlformats.org/drawingml/2006/main">
              <a:ext uri="{FF2B5EF4-FFF2-40B4-BE49-F238E27FC236}">
                <a16:creationId xmlns:a16="http://schemas.microsoft.com/office/drawing/2014/main" id="{91A25625-E6FF-4D79-B78C-DC31CE685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8800" y="24241125"/>
            <a:ext cx="1962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3"/>
          </a:solidFill>
          <a:ln xmlns:a="http://schemas.openxmlformats.org/drawingml/2006/main" w="19050">
            <a:solidFill>
              <a:srgbClr val="C94C5F"/>
            </a:solidFill>
            <a:prstDash val="dash"/>
          </a:ln>
        </p:spPr>
      </p:sp>
      <p:sp>
        <p:nvSpPr>
          <p:cNvPr id="121" name="method-safe-flow-text-1">
            <a:extLst xmlns:a="http://schemas.openxmlformats.org/drawingml/2006/main">
              <a:ext uri="{FF2B5EF4-FFF2-40B4-BE49-F238E27FC236}">
                <a16:creationId xmlns:a16="http://schemas.microsoft.com/office/drawing/2014/main" id="{02122BD9-CCFB-45CB-80F1-F5A816B58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0" y="24317325"/>
            <a:ext cx="180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250" b="1">
                <a:solidFill>
                  <a:srgbClr val="172A3A"/>
                </a:solidFill>
              </a:defRPr>
            </a:pPr>
            <a:r>
              <a:rPr sz="2250" b="1">
                <a:solidFill>
                  <a:srgbClr val="172A3A"/>
                </a:solidFill>
              </a:rPr>
              <a:t>Repair</a:t>
            </a:r>
          </a:p>
        </p:txBody>
      </p:sp>
      <p:sp>
        <p:nvSpPr>
          <p:cNvPr id="122" name="method-safe-flow-arrow-1">
            <a:extLst xmlns:a="http://schemas.openxmlformats.org/drawingml/2006/main">
              <a:ext uri="{FF2B5EF4-FFF2-40B4-BE49-F238E27FC236}">
                <a16:creationId xmlns:a16="http://schemas.microsoft.com/office/drawing/2014/main" id="{A9E63BBA-7795-405E-890B-21DABCBF9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50950" y="24336375"/>
            <a:ext cx="152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C94C5F"/>
                </a:solidFill>
              </a:defRPr>
            </a:pPr>
            <a:r>
              <a:rPr sz="2550" b="1">
                <a:solidFill>
                  <a:srgbClr val="C94C5F"/>
                </a:solidFill>
              </a:rPr>
              <a:t>→</a:t>
            </a:r>
          </a:p>
        </p:txBody>
      </p:sp>
      <p:sp>
        <p:nvSpPr>
          <p:cNvPr id="123" name="method-safe-flow-2">
            <a:extLst xmlns:a="http://schemas.openxmlformats.org/drawingml/2006/main">
              <a:ext uri="{FF2B5EF4-FFF2-40B4-BE49-F238E27FC236}">
                <a16:creationId xmlns:a16="http://schemas.microsoft.com/office/drawing/2014/main" id="{342D5ABC-A976-4BDB-9B9F-FE1E6943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3350" y="24241125"/>
            <a:ext cx="1962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3"/>
          </a:solidFill>
          <a:ln xmlns:a="http://schemas.openxmlformats.org/drawingml/2006/main" w="19050">
            <a:solidFill>
              <a:srgbClr val="C94C5F"/>
            </a:solidFill>
            <a:prstDash val="solid"/>
          </a:ln>
        </p:spPr>
      </p:sp>
      <p:sp>
        <p:nvSpPr>
          <p:cNvPr id="124" name="method-safe-flow-text-2">
            <a:extLst xmlns:a="http://schemas.openxmlformats.org/drawingml/2006/main">
              <a:ext uri="{FF2B5EF4-FFF2-40B4-BE49-F238E27FC236}">
                <a16:creationId xmlns:a16="http://schemas.microsoft.com/office/drawing/2014/main" id="{6CB05426-A5C2-46E9-8924-041A7B1D3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79550" y="24317325"/>
            <a:ext cx="180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250" b="1">
                <a:solidFill>
                  <a:srgbClr val="172A3A"/>
                </a:solidFill>
              </a:defRPr>
            </a:pPr>
            <a:r>
              <a:rPr sz="2250" b="1">
                <a:solidFill>
                  <a:srgbClr val="172A3A"/>
                </a:solidFill>
              </a:rPr>
              <a:t>Veto</a:t>
            </a:r>
          </a:p>
        </p:txBody>
      </p:sp>
      <p:sp>
        <p:nvSpPr>
          <p:cNvPr id="125" name="method-safe-footer-rule">
            <a:extLst xmlns:a="http://schemas.openxmlformats.org/drawingml/2006/main">
              <a:ext uri="{FF2B5EF4-FFF2-40B4-BE49-F238E27FC236}">
                <a16:creationId xmlns:a16="http://schemas.microsoft.com/office/drawing/2014/main" id="{E607FD96-B10D-407B-B77A-533919BB3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0" y="25431750"/>
            <a:ext cx="619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4C5F"/>
          </a:solidFill>
          <a:ln xmlns:a="http://schemas.openxmlformats.org/drawingml/2006/main" w="0">
            <a:solidFill>
              <a:srgbClr val="C94C5F"/>
            </a:solidFill>
            <a:prstDash val="solid"/>
          </a:ln>
        </p:spPr>
      </p:sp>
      <p:sp>
        <p:nvSpPr>
          <p:cNvPr id="126" name="method-safe-footer">
            <a:extLst xmlns:a="http://schemas.openxmlformats.org/drawingml/2006/main">
              <a:ext uri="{FF2B5EF4-FFF2-40B4-BE49-F238E27FC236}">
                <a16:creationId xmlns:a16="http://schemas.microsoft.com/office/drawing/2014/main" id="{40F1A58B-8177-40B8-A171-F8E0B12FE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0" y="25574625"/>
            <a:ext cx="619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400" b="1">
                <a:solidFill>
                  <a:srgbClr val="C94C5F"/>
                </a:solidFill>
              </a:defRPr>
            </a:pPr>
            <a:r>
              <a:rPr sz="2400" b="1">
                <a:solidFill>
                  <a:srgbClr val="C94C5F"/>
                </a:solidFill>
              </a:rPr>
              <a:t>CLARIFY OR RETURN NO-ANSWER</a:t>
            </a:r>
          </a:p>
        </p:txBody>
      </p:sp>
      <p:sp>
        <p:nvSpPr>
          <p:cNvPr id="127" name="bottom-divider">
            <a:extLst xmlns:a="http://schemas.openxmlformats.org/drawingml/2006/main">
              <a:ext uri="{FF2B5EF4-FFF2-40B4-BE49-F238E27FC236}">
                <a16:creationId xmlns:a16="http://schemas.microsoft.com/office/drawing/2014/main" id="{9C3165C6-8E72-4FD5-AC31-72D1231E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146250"/>
            <a:ext cx="27412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AD5"/>
          </a:solidFill>
          <a:ln xmlns:a="http://schemas.openxmlformats.org/drawingml/2006/main" w="0">
            <a:solidFill>
              <a:srgbClr val="BCCAD5"/>
            </a:solidFill>
            <a:prstDash val="solid"/>
          </a:ln>
        </p:spPr>
      </p:sp>
      <p:sp>
        <p:nvSpPr>
          <p:cNvPr id="128" name="demo-heading">
            <a:extLst xmlns:a="http://schemas.openxmlformats.org/drawingml/2006/main">
              <a:ext uri="{FF2B5EF4-FFF2-40B4-BE49-F238E27FC236}">
                <a16:creationId xmlns:a16="http://schemas.microsoft.com/office/drawing/2014/main" id="{C7A3BDF2-ACBB-4766-89B9-EC6817E1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479625"/>
            <a:ext cx="12192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4200" b="1">
                <a:solidFill>
                  <a:srgbClr val="176BB3"/>
                </a:solidFill>
              </a:defRPr>
            </a:pPr>
            <a:r>
              <a:rPr sz="4200" b="1">
                <a:solidFill>
                  <a:srgbClr val="176BB3"/>
                </a:solidFill>
              </a:rPr>
              <a:t>Live Website Demo</a:t>
            </a:r>
          </a:p>
        </p:txBody>
      </p:sp>
      <p:sp>
        <p:nvSpPr>
          <p:cNvPr id="129" name="demo-underline">
            <a:extLst xmlns:a="http://schemas.openxmlformats.org/drawingml/2006/main">
              <a:ext uri="{FF2B5EF4-FFF2-40B4-BE49-F238E27FC236}">
                <a16:creationId xmlns:a16="http://schemas.microsoft.com/office/drawing/2014/main" id="{EDB875DF-F742-4FCB-93C0-9B2410D6F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108275"/>
            <a:ext cx="619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B3"/>
          </a:solidFill>
          <a:ln xmlns:a="http://schemas.openxmlformats.org/drawingml/2006/main" w="0">
            <a:solidFill>
              <a:srgbClr val="176BB3"/>
            </a:solidFill>
            <a:prstDash val="solid"/>
          </a:ln>
        </p:spPr>
      </p:sp>
      <p:sp>
        <p:nvSpPr>
          <p:cNvPr id="130" name="results-heading">
            <a:extLst xmlns:a="http://schemas.openxmlformats.org/drawingml/2006/main">
              <a:ext uri="{FF2B5EF4-FFF2-40B4-BE49-F238E27FC236}">
                <a16:creationId xmlns:a16="http://schemas.microsoft.com/office/drawing/2014/main" id="{01908D7D-5EC7-4F38-84E4-DFC5CB456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0375" y="27479625"/>
            <a:ext cx="857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4200" b="1">
                <a:solidFill>
                  <a:srgbClr val="12866F"/>
                </a:solidFill>
              </a:defRPr>
            </a:pPr>
            <a:r>
              <a:rPr sz="4200" b="1">
                <a:solidFill>
                  <a:srgbClr val="12866F"/>
                </a:solidFill>
              </a:rPr>
              <a:t>Results &amp; Conclusion</a:t>
            </a:r>
          </a:p>
        </p:txBody>
      </p:sp>
      <p:sp>
        <p:nvSpPr>
          <p:cNvPr id="131" name="results-underline">
            <a:extLst xmlns:a="http://schemas.openxmlformats.org/drawingml/2006/main">
              <a:ext uri="{FF2B5EF4-FFF2-40B4-BE49-F238E27FC236}">
                <a16:creationId xmlns:a16="http://schemas.microsoft.com/office/drawing/2014/main" id="{897B8067-B0DC-48C1-A9BF-2C57EFF5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0375" y="28108275"/>
            <a:ext cx="619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66F"/>
          </a:solidFill>
          <a:ln xmlns:a="http://schemas.openxmlformats.org/drawingml/2006/main" w="0">
            <a:solidFill>
              <a:srgbClr val="12866F"/>
            </a:solidFill>
            <a:prstDash val="solid"/>
          </a:ln>
        </p:spPr>
      </p:sp>
      <p:sp>
        <p:nvSpPr>
          <p:cNvPr id="132" name="qr-heading">
            <a:extLst xmlns:a="http://schemas.openxmlformats.org/drawingml/2006/main">
              <a:ext uri="{FF2B5EF4-FFF2-40B4-BE49-F238E27FC236}">
                <a16:creationId xmlns:a16="http://schemas.microsoft.com/office/drawing/2014/main" id="{5F0465D5-8650-487F-B281-B8FA7C95F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45875" y="27479625"/>
            <a:ext cx="46958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4200" b="1">
                <a:solidFill>
                  <a:srgbClr val="E9752A"/>
                </a:solidFill>
              </a:defRPr>
            </a:pPr>
            <a:r>
              <a:rPr sz="4200" b="1">
                <a:solidFill>
                  <a:srgbClr val="E9752A"/>
                </a:solidFill>
              </a:rPr>
              <a:t>Demo Link</a:t>
            </a:r>
          </a:p>
        </p:txBody>
      </p:sp>
      <p:sp>
        <p:nvSpPr>
          <p:cNvPr id="133" name="qr-underline">
            <a:extLst xmlns:a="http://schemas.openxmlformats.org/drawingml/2006/main">
              <a:ext uri="{FF2B5EF4-FFF2-40B4-BE49-F238E27FC236}">
                <a16:creationId xmlns:a16="http://schemas.microsoft.com/office/drawing/2014/main" id="{BC4117B0-B95D-4550-A03C-7ED7FDBBD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45875" y="28108275"/>
            <a:ext cx="46958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52A"/>
          </a:solidFill>
          <a:ln xmlns:a="http://schemas.openxmlformats.org/drawingml/2006/main" w="0">
            <a:solidFill>
              <a:srgbClr val="E9752A"/>
            </a:solidFill>
            <a:prstDash val="solid"/>
          </a:ln>
        </p:spPr>
      </p:sp>
      <p:sp>
        <p:nvSpPr>
          <p:cNvPr id="134" name="demo-frame">
            <a:extLst xmlns:a="http://schemas.openxmlformats.org/drawingml/2006/main">
              <a:ext uri="{FF2B5EF4-FFF2-40B4-BE49-F238E27FC236}">
                <a16:creationId xmlns:a16="http://schemas.microsoft.com/office/drawing/2014/main" id="{B7B23FA8-C8C2-4ED4-8798-6A13B9E5C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432125"/>
            <a:ext cx="12192000" cy="585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CCAD5"/>
            </a:solidFill>
            <a:prstDash val="solid"/>
          </a:ln>
        </p:spPr>
      </p:sp>
      <p:pic>
        <p:nvPicPr>
          <p:cNvPr id="2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e585ddb31f40b0"/>
          <a:srcRect xmlns:a="http://schemas.openxmlformats.org/drawingml/2006/main" l="0" t="9467" r="0" b="94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71625" y="28575000"/>
            <a:ext cx="11906250" cy="5429250"/>
          </a:xfrm>
          <a:prstGeom xmlns:a="http://schemas.openxmlformats.org/drawingml/2006/main" prst="rect">
            <a:avLst/>
          </a:prstGeom>
        </p:spPr>
      </p:pic>
      <p:sp>
        <p:nvSpPr>
          <p:cNvPr id="136" name="demo-caption">
            <a:extLst xmlns:a="http://schemas.openxmlformats.org/drawingml/2006/main">
              <a:ext uri="{FF2B5EF4-FFF2-40B4-BE49-F238E27FC236}">
                <a16:creationId xmlns:a16="http://schemas.microsoft.com/office/drawing/2014/main" id="{9610AC4C-C1FF-43BA-BDD8-6BC984FF5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432875"/>
            <a:ext cx="1219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325" b="1">
                <a:solidFill>
                  <a:srgbClr val="176BB3"/>
                </a:solidFill>
              </a:defRPr>
            </a:pPr>
            <a:r>
              <a:rPr sz="2325" b="1">
                <a:solidFill>
                  <a:srgbClr val="176BB3"/>
                </a:solidFill>
              </a:rPr>
              <a:t>Real local response  |  service_fee_query  |  240 ms  |  confidence 0.97  |  verified source</a:t>
            </a:r>
          </a:p>
        </p:txBody>
      </p:sp>
      <p:sp>
        <p:nvSpPr>
          <p:cNvPr id="137" name="metric-cases-value">
            <a:extLst xmlns:a="http://schemas.openxmlformats.org/drawingml/2006/main">
              <a:ext uri="{FF2B5EF4-FFF2-40B4-BE49-F238E27FC236}">
                <a16:creationId xmlns:a16="http://schemas.microsoft.com/office/drawing/2014/main" id="{46AA2FD6-2A5B-40B5-85EC-1F47B970F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0375" y="28527375"/>
            <a:ext cx="419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4800" b="1">
                <a:solidFill>
                  <a:srgbClr val="176BB3"/>
                </a:solidFill>
              </a:defRPr>
            </a:pPr>
            <a:r>
              <a:rPr sz="4800" b="1">
                <a:solidFill>
                  <a:srgbClr val="176BB3"/>
                </a:solidFill>
              </a:rPr>
              <a:t>1,600+</a:t>
            </a:r>
          </a:p>
        </p:txBody>
      </p:sp>
      <p:sp>
        <p:nvSpPr>
          <p:cNvPr id="138" name="metric-cases-label">
            <a:extLst xmlns:a="http://schemas.openxmlformats.org/drawingml/2006/main">
              <a:ext uri="{FF2B5EF4-FFF2-40B4-BE49-F238E27FC236}">
                <a16:creationId xmlns:a16="http://schemas.microsoft.com/office/drawing/2014/main" id="{51ADCBC1-BCAC-44CB-A433-6BF940939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0375" y="29194125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75" b="1">
                <a:solidFill>
                  <a:srgbClr val="536879"/>
                </a:solidFill>
              </a:defRPr>
            </a:pPr>
            <a:r>
              <a:rPr sz="2175" b="1">
                <a:solidFill>
                  <a:srgbClr val="536879"/>
                </a:solidFill>
              </a:rPr>
              <a:t>EVALUATION CASES</a:t>
            </a:r>
          </a:p>
        </p:txBody>
      </p:sp>
      <p:sp>
        <p:nvSpPr>
          <p:cNvPr id="139" name="metric-pass-value">
            <a:extLst xmlns:a="http://schemas.openxmlformats.org/drawingml/2006/main">
              <a:ext uri="{FF2B5EF4-FFF2-40B4-BE49-F238E27FC236}">
                <a16:creationId xmlns:a16="http://schemas.microsoft.com/office/drawing/2014/main" id="{65047329-DC33-4E36-B8B5-7766C3D04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1875" y="28527375"/>
            <a:ext cx="419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4800" b="1">
                <a:solidFill>
                  <a:srgbClr val="12866F"/>
                </a:solidFill>
              </a:defRPr>
            </a:pPr>
            <a:r>
              <a:rPr sz="4800" b="1">
                <a:solidFill>
                  <a:srgbClr val="12866F"/>
                </a:solidFill>
              </a:rPr>
              <a:t>94.75%</a:t>
            </a:r>
          </a:p>
        </p:txBody>
      </p:sp>
      <p:sp>
        <p:nvSpPr>
          <p:cNvPr id="140" name="metric-pass-label">
            <a:extLst xmlns:a="http://schemas.openxmlformats.org/drawingml/2006/main">
              <a:ext uri="{FF2B5EF4-FFF2-40B4-BE49-F238E27FC236}">
                <a16:creationId xmlns:a16="http://schemas.microsoft.com/office/drawing/2014/main" id="{5A45439B-CCDF-493C-88CB-8F607AECD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1875" y="29194125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75" b="1">
                <a:solidFill>
                  <a:srgbClr val="536879"/>
                </a:solidFill>
              </a:defRPr>
            </a:pPr>
            <a:r>
              <a:rPr sz="2175" b="1">
                <a:solidFill>
                  <a:srgbClr val="536879"/>
                </a:solidFill>
              </a:rPr>
              <a:t>PASS RATE</a:t>
            </a:r>
          </a:p>
        </p:txBody>
      </p:sp>
      <p:sp>
        <p:nvSpPr>
          <p:cNvPr id="141" name="metric-avg-value">
            <a:extLst xmlns:a="http://schemas.openxmlformats.org/drawingml/2006/main">
              <a:ext uri="{FF2B5EF4-FFF2-40B4-BE49-F238E27FC236}">
                <a16:creationId xmlns:a16="http://schemas.microsoft.com/office/drawing/2014/main" id="{2418817D-9C2D-433D-B763-5106FAA6F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0375" y="29813250"/>
            <a:ext cx="419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4800" b="1">
                <a:solidFill>
                  <a:srgbClr val="E9752A"/>
                </a:solidFill>
              </a:defRPr>
            </a:pPr>
            <a:r>
              <a:rPr sz="4800" b="1">
                <a:solidFill>
                  <a:srgbClr val="E9752A"/>
                </a:solidFill>
              </a:rPr>
              <a:t>2.31 s</a:t>
            </a:r>
          </a:p>
        </p:txBody>
      </p:sp>
      <p:sp>
        <p:nvSpPr>
          <p:cNvPr id="142" name="metric-avg-label">
            <a:extLst xmlns:a="http://schemas.openxmlformats.org/drawingml/2006/main">
              <a:ext uri="{FF2B5EF4-FFF2-40B4-BE49-F238E27FC236}">
                <a16:creationId xmlns:a16="http://schemas.microsoft.com/office/drawing/2014/main" id="{5D9AEE7D-A74A-4B30-94F4-548C1E3CB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0375" y="304800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75" b="1">
                <a:solidFill>
                  <a:srgbClr val="536879"/>
                </a:solidFill>
              </a:defRPr>
            </a:pPr>
            <a:r>
              <a:rPr sz="2175" b="1">
                <a:solidFill>
                  <a:srgbClr val="536879"/>
                </a:solidFill>
              </a:rPr>
              <a:t>AVERAGE LATENCY</a:t>
            </a:r>
          </a:p>
        </p:txBody>
      </p:sp>
      <p:sp>
        <p:nvSpPr>
          <p:cNvPr id="143" name="metric-p95-value">
            <a:extLst xmlns:a="http://schemas.openxmlformats.org/drawingml/2006/main">
              <a:ext uri="{FF2B5EF4-FFF2-40B4-BE49-F238E27FC236}">
                <a16:creationId xmlns:a16="http://schemas.microsoft.com/office/drawing/2014/main" id="{FDCB43A6-FA9C-4DB3-BF0B-961FF45A3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1875" y="29813250"/>
            <a:ext cx="419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4800" b="1">
                <a:solidFill>
                  <a:srgbClr val="C94C5F"/>
                </a:solidFill>
              </a:defRPr>
            </a:pPr>
            <a:r>
              <a:rPr sz="4800" b="1">
                <a:solidFill>
                  <a:srgbClr val="C94C5F"/>
                </a:solidFill>
              </a:rPr>
              <a:t>12.53 s</a:t>
            </a:r>
          </a:p>
        </p:txBody>
      </p:sp>
      <p:sp>
        <p:nvSpPr>
          <p:cNvPr id="144" name="metric-p95-label">
            <a:extLst xmlns:a="http://schemas.openxmlformats.org/drawingml/2006/main">
              <a:ext uri="{FF2B5EF4-FFF2-40B4-BE49-F238E27FC236}">
                <a16:creationId xmlns:a16="http://schemas.microsoft.com/office/drawing/2014/main" id="{BEA0B4B6-53C3-4A55-BD96-909F19B9F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1875" y="304800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75" b="1">
                <a:solidFill>
                  <a:srgbClr val="536879"/>
                </a:solidFill>
              </a:defRPr>
            </a:pPr>
            <a:r>
              <a:rPr sz="2175" b="1">
                <a:solidFill>
                  <a:srgbClr val="536879"/>
                </a:solidFill>
              </a:rPr>
              <a:t>P95 LATENCY</a:t>
            </a:r>
          </a:p>
        </p:txBody>
      </p:sp>
      <p:sp>
        <p:nvSpPr>
          <p:cNvPr id="145" name="result-rule">
            <a:extLst xmlns:a="http://schemas.openxmlformats.org/drawingml/2006/main">
              <a:ext uri="{FF2B5EF4-FFF2-40B4-BE49-F238E27FC236}">
                <a16:creationId xmlns:a16="http://schemas.microsoft.com/office/drawing/2014/main" id="{9B8384EA-96F3-4C9C-A473-098AEBBF7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0375" y="31194375"/>
            <a:ext cx="857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AD5"/>
          </a:solidFill>
          <a:ln xmlns:a="http://schemas.openxmlformats.org/drawingml/2006/main" w="0">
            <a:solidFill>
              <a:srgbClr val="BCCAD5"/>
            </a:solidFill>
            <a:prstDash val="solid"/>
          </a:ln>
        </p:spPr>
      </p:sp>
      <p:sp>
        <p:nvSpPr>
          <p:cNvPr id="146" name="conclusion-title">
            <a:extLst xmlns:a="http://schemas.openxmlformats.org/drawingml/2006/main">
              <a:ext uri="{FF2B5EF4-FFF2-40B4-BE49-F238E27FC236}">
                <a16:creationId xmlns:a16="http://schemas.microsoft.com/office/drawing/2014/main" id="{3455DDDC-5594-42A7-A899-E0A292C91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0375" y="3143250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>
                <a:solidFill>
                  <a:srgbClr val="0A2A48"/>
                </a:solidFill>
              </a:defRPr>
            </a:pPr>
            <a:r>
              <a:rPr sz="3150" b="1">
                <a:solidFill>
                  <a:srgbClr val="0A2A48"/>
                </a:solidFill>
              </a:rPr>
              <a:t>Conclusion</a:t>
            </a:r>
          </a:p>
        </p:txBody>
      </p:sp>
      <p:sp>
        <p:nvSpPr>
          <p:cNvPr id="147" name="conclusion-body">
            <a:extLst xmlns:a="http://schemas.openxmlformats.org/drawingml/2006/main">
              <a:ext uri="{FF2B5EF4-FFF2-40B4-BE49-F238E27FC236}">
                <a16:creationId xmlns:a16="http://schemas.microsoft.com/office/drawing/2014/main" id="{0986D28F-6AF4-494E-8C41-9A41F8E63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0375" y="32004000"/>
            <a:ext cx="85725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2475" b="0">
                <a:solidFill>
                  <a:srgbClr val="172A3A"/>
                </a:solidFill>
              </a:defRPr>
            </a:pPr>
            <a:r>
              <a:rPr sz="2475" b="0">
                <a:solidFill>
                  <a:srgbClr val="172A3A"/>
                </a:solidFill>
              </a:rPr>
              <a:t>Structured routes deliver exact, fast answers. BGE-M3 expands coverage for new content, while Typhoon remains optional and evidence-constrained. Average latency meets the target, but P95 and concurrent-user queueing remain the main production risks.</a:t>
            </a:r>
          </a:p>
        </p:txBody>
      </p:sp>
      <p:sp>
        <p:nvSpPr>
          <p:cNvPr id="148" name="status-line">
            <a:extLst xmlns:a="http://schemas.openxmlformats.org/drawingml/2006/main">
              <a:ext uri="{FF2B5EF4-FFF2-40B4-BE49-F238E27FC236}">
                <a16:creationId xmlns:a16="http://schemas.microsoft.com/office/drawing/2014/main" id="{E56A1C0F-E993-474A-8953-86CA33EB4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0375" y="34051875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250" b="1">
                <a:solidFill>
                  <a:srgbClr val="12866F"/>
                </a:solidFill>
              </a:defRPr>
            </a:pPr>
            <a:r>
              <a:rPr sz="2250" b="1">
                <a:solidFill>
                  <a:srgbClr val="12866F"/>
                </a:solidFill>
              </a:rPr>
              <a:t>FAQ READY  |  SLOT API PENDING  |  ADMIN INPUT DESIGNED  |  BOOKING FUTURE</a:t>
            </a:r>
          </a:p>
        </p:txBody>
      </p:sp>
      <p:sp>
        <p:nvSpPr>
          <p:cNvPr id="149" name="qr-placeholder">
            <a:extLst xmlns:a="http://schemas.openxmlformats.org/drawingml/2006/main">
              <a:ext uri="{FF2B5EF4-FFF2-40B4-BE49-F238E27FC236}">
                <a16:creationId xmlns:a16="http://schemas.microsoft.com/office/drawing/2014/main" id="{32858372-FD36-435A-A93D-35DECEBE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0" y="28527375"/>
            <a:ext cx="40005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536879"/>
            </a:solidFill>
            <a:prstDash val="dash"/>
          </a:ln>
        </p:spPr>
      </p:sp>
      <p:sp>
        <p:nvSpPr>
          <p:cNvPr id="150" name="qr-placeholder-title">
            <a:extLst xmlns:a="http://schemas.openxmlformats.org/drawingml/2006/main">
              <a:ext uri="{FF2B5EF4-FFF2-40B4-BE49-F238E27FC236}">
                <a16:creationId xmlns:a16="http://schemas.microsoft.com/office/drawing/2014/main" id="{DBDB5F83-2E09-4863-A5AD-F7F0DF91A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0" y="29575125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600" b="1">
                <a:solidFill>
                  <a:srgbClr val="536879"/>
                </a:solidFill>
              </a:defRPr>
            </a:pPr>
            <a:r>
              <a:rPr sz="3600" b="1">
                <a:solidFill>
                  <a:srgbClr val="536879"/>
                </a:solidFill>
              </a:rPr>
              <a:t>PLACE QR CODE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3600" b="1">
                <a:solidFill>
                  <a:srgbClr val="536879"/>
                </a:solidFill>
              </a:defRPr>
            </a:pPr>
            <a:r>
              <a:rPr sz="3600" b="1">
                <a:solidFill>
                  <a:srgbClr val="536879"/>
                </a:solidFill>
              </a:rPr>
              <a:t>HERE</a:t>
            </a:r>
          </a:p>
        </p:txBody>
      </p:sp>
      <p:sp>
        <p:nvSpPr>
          <p:cNvPr id="151" name="qr-placeholder-note">
            <a:extLst xmlns:a="http://schemas.openxmlformats.org/drawingml/2006/main">
              <a:ext uri="{FF2B5EF4-FFF2-40B4-BE49-F238E27FC236}">
                <a16:creationId xmlns:a16="http://schemas.microsoft.com/office/drawing/2014/main" id="{8431B6B3-5F0D-4FA5-A469-3A6ADAB53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45875" y="32766000"/>
            <a:ext cx="46958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0">
                <a:solidFill>
                  <a:srgbClr val="172A3A"/>
                </a:solidFill>
              </a:defRPr>
            </a:pPr>
            <a:r>
              <a:rPr sz="2325" b="0">
                <a:solidFill>
                  <a:srgbClr val="172A3A"/>
                </a:solidFill>
              </a:rPr>
              <a:t>Replace this box with the final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325" b="0">
                <a:solidFill>
                  <a:srgbClr val="172A3A"/>
                </a:solidFill>
              </a:defRPr>
            </a:pPr>
            <a:r>
              <a:rPr sz="2325" b="0">
                <a:solidFill>
                  <a:srgbClr val="172A3A"/>
                </a:solidFill>
              </a:rPr>
              <a:t>Demo or project URL QR code.</a:t>
            </a:r>
          </a:p>
        </p:txBody>
      </p:sp>
      <p:sp>
        <p:nvSpPr>
          <p:cNvPr id="152" name="future-rule">
            <a:extLst xmlns:a="http://schemas.openxmlformats.org/drawingml/2006/main">
              <a:ext uri="{FF2B5EF4-FFF2-40B4-BE49-F238E27FC236}">
                <a16:creationId xmlns:a16="http://schemas.microsoft.com/office/drawing/2014/main" id="{A9735083-D63E-4A16-B6BD-1339A851D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337750"/>
            <a:ext cx="27412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AD5"/>
          </a:solidFill>
          <a:ln xmlns:a="http://schemas.openxmlformats.org/drawingml/2006/main" w="0">
            <a:solidFill>
              <a:srgbClr val="BCCAD5"/>
            </a:solidFill>
            <a:prstDash val="solid"/>
          </a:ln>
        </p:spPr>
      </p:sp>
      <p:sp>
        <p:nvSpPr>
          <p:cNvPr id="153" name="future-heading">
            <a:extLst xmlns:a="http://schemas.openxmlformats.org/drawingml/2006/main">
              <a:ext uri="{FF2B5EF4-FFF2-40B4-BE49-F238E27FC236}">
                <a16:creationId xmlns:a16="http://schemas.microsoft.com/office/drawing/2014/main" id="{E17B2D5E-7E3C-4F90-B59A-2504EF66C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6235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E9752A"/>
                </a:solidFill>
              </a:defRPr>
            </a:pPr>
            <a:r>
              <a:rPr sz="2700" b="1">
                <a:solidFill>
                  <a:srgbClr val="E9752A"/>
                </a:solidFill>
              </a:rPr>
              <a:t>NEXT MILESTONES</a:t>
            </a:r>
          </a:p>
        </p:txBody>
      </p:sp>
      <p:sp>
        <p:nvSpPr>
          <p:cNvPr id="154" name="future-body">
            <a:extLst xmlns:a="http://schemas.openxmlformats.org/drawingml/2006/main">
              <a:ext uri="{FF2B5EF4-FFF2-40B4-BE49-F238E27FC236}">
                <a16:creationId xmlns:a16="http://schemas.microsoft.com/office/drawing/2014/main" id="{63708C12-BDCE-455F-831A-4AEBFDE92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5623500"/>
            <a:ext cx="2331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0">
                <a:solidFill>
                  <a:srgbClr val="172A3A"/>
                </a:solidFill>
              </a:defRPr>
            </a:pPr>
            <a:r>
              <a:rPr sz="2550" b="0">
                <a:solidFill>
                  <a:srgbClr val="172A3A"/>
                </a:solidFill>
              </a:rPr>
              <a:t>P95 below 10s  →  Multi-user load test  →  Shared LLM queue  →  WordPress Slot API  →  Dual-publish content workflow</a:t>
            </a:r>
          </a:p>
        </p:txBody>
      </p:sp>
      <p:sp>
        <p:nvSpPr>
          <p:cNvPr id="155" name="sources-heading">
            <a:extLst xmlns:a="http://schemas.openxmlformats.org/drawingml/2006/main">
              <a:ext uri="{FF2B5EF4-FFF2-40B4-BE49-F238E27FC236}">
                <a16:creationId xmlns:a16="http://schemas.microsoft.com/office/drawing/2014/main" id="{942AB382-DF37-4D98-AE92-CEDDA3AD6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38550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6858B8"/>
                </a:solidFill>
              </a:defRPr>
            </a:pPr>
            <a:r>
              <a:rPr sz="2550" b="1">
                <a:solidFill>
                  <a:srgbClr val="6858B8"/>
                </a:solidFill>
              </a:rPr>
              <a:t>SOURCES</a:t>
            </a:r>
          </a:p>
        </p:txBody>
      </p:sp>
      <p:sp>
        <p:nvSpPr>
          <p:cNvPr id="156" name="sources-body">
            <a:extLst xmlns:a="http://schemas.openxmlformats.org/drawingml/2006/main">
              <a:ext uri="{FF2B5EF4-FFF2-40B4-BE49-F238E27FC236}">
                <a16:creationId xmlns:a16="http://schemas.microsoft.com/office/drawing/2014/main" id="{5F77F94B-8165-4E47-A545-3E76F3888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6385500"/>
            <a:ext cx="25031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536879"/>
                </a:solidFill>
              </a:defRPr>
            </a:pPr>
            <a:r>
              <a:rPr sz="2325" b="0">
                <a:solidFill>
                  <a:srgbClr val="536879"/>
                </a:solidFill>
              </a:rPr>
              <a:t>PSU Esports Studio website  |  Typhoon2.5-Qwen3-4B model card  |  BGE-M3 paper (arXiv:2402.03216)  |  Project Flow 43 and evaluation logs</a:t>
            </a:r>
          </a:p>
        </p:txBody>
      </p:sp>
      <p:sp>
        <p:nvSpPr>
          <p:cNvPr id="157" name="poster-takeaway">
            <a:extLst xmlns:a="http://schemas.openxmlformats.org/drawingml/2006/main">
              <a:ext uri="{FF2B5EF4-FFF2-40B4-BE49-F238E27FC236}">
                <a16:creationId xmlns:a16="http://schemas.microsoft.com/office/drawing/2014/main" id="{526FA06C-9D1B-4CF7-A690-F414CEA38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528500"/>
            <a:ext cx="274129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3150" b="1">
                <a:solidFill>
                  <a:srgbClr val="0A2A48"/>
                </a:solidFill>
              </a:defRPr>
            </a:pPr>
            <a:r>
              <a:rPr sz="3150" b="1">
                <a:solidFill>
                  <a:srgbClr val="0A2A48"/>
                </a:solidFill>
              </a:rPr>
              <a:t>Exact facts stay deterministic. New knowledge becomes searchable. Generation remains gated by evidence.</a:t>
            </a:r>
          </a:p>
        </p:txBody>
      </p:sp>
      <p:sp>
        <p:nvSpPr>
          <p:cNvPr id="158" name="poster-takeaway-rule">
            <a:extLst xmlns:a="http://schemas.openxmlformats.org/drawingml/2006/main">
              <a:ext uri="{FF2B5EF4-FFF2-40B4-BE49-F238E27FC236}">
                <a16:creationId xmlns:a16="http://schemas.microsoft.com/office/drawing/2014/main" id="{EAE6D361-6DF1-4A77-AFF7-5260A9030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8290500"/>
            <a:ext cx="16173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52A"/>
          </a:solidFill>
          <a:ln xmlns:a="http://schemas.openxmlformats.org/drawingml/2006/main" w="0">
            <a:solidFill>
              <a:srgbClr val="E9752A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865691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2026-08-27T20:19:03.1430000Z</dcterms:created>
  <dcterms:modified xsi:type="dcterms:W3CDTF">2026-08-27T20:19:03.1440000Z</dcterms:modified>
</coreProperties>
</file>