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8694c6eec4ce6" /><Relationship Type="http://schemas.openxmlformats.org/officeDocument/2006/relationships/extended-properties" Target="/docProps/app.xml" Id="Rdea0b1cfd2dc447a" /><Relationship Type="http://schemas.openxmlformats.org/officeDocument/2006/relationships/officeDocument" Target="/ppt/presentation.xml" Id="R126aad9d8c684f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e1d32bef94280"/>
  </p:sldMasterIdLst>
  <p:notesMasterIdLst>
    <p:notesMasterId xmlns:r="http://schemas.openxmlformats.org/officeDocument/2006/relationships" r:id="R19c4c417627947b9"/>
  </p:notesMasterIdLst>
  <p:sldIdLst>
    <p:sldId xmlns:r="http://schemas.openxmlformats.org/officeDocument/2006/relationships" id="256" r:id="R0427b46fd73946d5"/>
  </p:sldIdLst>
  <p:sldSz cx="30275784" cy="428061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03ee5d1bfb4fb3" /><Relationship Type="http://schemas.openxmlformats.org/officeDocument/2006/relationships/slideMaster" Target="/ppt/slideMasters/slideMaster1.xml" Id="R2d1e1d32bef94280" /><Relationship Type="http://schemas.openxmlformats.org/officeDocument/2006/relationships/notesMaster" Target="/ppt/notesMasters/notesMaster1.xml" Id="R19c4c417627947b9" /><Relationship Type="http://schemas.openxmlformats.org/officeDocument/2006/relationships/presProps" Target="/ppt/presProps.xml" Id="R9c34c0f8e140456f" /><Relationship Type="http://schemas.openxmlformats.org/officeDocument/2006/relationships/tableStyles" Target="/ppt/tableStyles.xml" Id="R0988389a32c64551" /><Relationship Type="http://schemas.openxmlformats.org/officeDocument/2006/relationships/slide" Target="/ppt/slides/slide1.xml" Id="R0427b46fd73946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6c8124d70b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170ada46540b9" /><Relationship Type="http://schemas.openxmlformats.org/officeDocument/2006/relationships/notesMaster" Target="/ppt/notesMasters/notesMaster1.xml" Id="R68e360d50c45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A0 background supplied by the user: D:/Download New/SuperAI6_PosterA0-Template_PNG.png</a:t>
            </a:r>
          </a:p>
          <a:p xmlns:a="http://schemas.openxmlformats.org/drawingml/2006/main">
            <a:r>
              <a:t>PSU Esports Studio logo supplied by the user: C:/Users/Chokhun/Downloads/Sticker.pdf.png</a:t>
            </a:r>
          </a:p>
          <a:p xmlns:a="http://schemas.openxmlformats.org/drawingml/2006/main">
            <a:r>
              <a:t>Academic poster composition reference supplied by the user: C:/Users/Chokhun/AppData/Local/Temp/codex-clipboard-aade14d1-3a56-4ff8-8cc1-a2e26dca1f52.png</a:t>
            </a:r>
          </a:p>
          <a:p xmlns:a="http://schemas.openxmlformats.org/drawingml/2006/main">
            <a:r>
              <a:t>Project architecture and evaluation: Project Flow 43, project docs, and daily logs dated 2026-08-27.</a:t>
            </a:r>
          </a:p>
          <a:p xmlns:a="http://schemas.openxmlformats.org/drawingml/2006/main">
            <a:r>
              <a:t>PSU Esports Studio official website: https://esports.phuket.psu.ac.th/</a:t>
            </a:r>
          </a:p>
          <a:p xmlns:a="http://schemas.openxmlformats.org/drawingml/2006/main">
            <a:r>
              <a:t>Typhoon model card: https://huggingface.co/typhoon-ai/typhoon2.5-qwen3-4b</a:t>
            </a:r>
          </a:p>
          <a:p xmlns:a="http://schemas.openxmlformats.org/drawingml/2006/main">
            <a:r>
              <a:t>BGE-M3 paper: https://arxiv.org/abs/2402.03216</a:t>
            </a:r>
          </a:p>
          <a:p xmlns:a="http://schemas.openxmlformats.org/drawingml/2006/main">
            <a:r>
              <a:t>Hero illustration generated with the built-in image generation tool on 2026-08-27.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b14e0b2bf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5edc884623453e" /><Relationship Type="http://schemas.openxmlformats.org/officeDocument/2006/relationships/slideLayout" Target="/ppt/slideLayouts/slideLayout1.xml" Id="Ra96821442eb7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821442eb7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fa86f5efa4ae6" /><Relationship Type="http://schemas.openxmlformats.org/officeDocument/2006/relationships/image" Target="/ppt/media/image.png" Id="Ra65455b54cf84299" /><Relationship Type="http://schemas.openxmlformats.org/officeDocument/2006/relationships/image" Target="/ppt/media/image2.png" Id="R69d8c3c149f64f25" /><Relationship Type="http://schemas.openxmlformats.org/officeDocument/2006/relationships/image" Target="/ppt/media/image3.png" Id="Rbfdbd760add64852" /><Relationship Type="http://schemas.openxmlformats.org/officeDocument/2006/relationships/notesSlide" Target="/ppt/notesSlides/notesSlide1.xml" Id="R19ef14f590844c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455b54cf842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5784" cy="42806112"/>
          </a:xfrm>
          <a:prstGeom xmlns:a="http://schemas.openxmlformats.org/drawingml/2006/main" prst="rect">
            <a:avLst/>
          </a:prstGeom>
        </p:spPr>
      </p:pic>
      <p:sp>
        <p:nvSpPr>
          <p:cNvPr id="2" name="band-title">
            <a:extLst xmlns:a="http://schemas.openxmlformats.org/drawingml/2006/main">
              <a:ext uri="{FF2B5EF4-FFF2-40B4-BE49-F238E27FC236}">
                <a16:creationId xmlns:a16="http://schemas.microsoft.com/office/drawing/2014/main" id="{5D60133F-4288-42C5-BE59-EBBC6A54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29032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3" name="band-overview">
            <a:extLst xmlns:a="http://schemas.openxmlformats.org/drawingml/2006/main">
              <a:ext uri="{FF2B5EF4-FFF2-40B4-BE49-F238E27FC236}">
                <a16:creationId xmlns:a16="http://schemas.microsoft.com/office/drawing/2014/main" id="{1E7235B1-B58D-4DE3-AE73-D235AA0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715500"/>
            <a:ext cx="290322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0">
            <a:solidFill>
              <a:srgbClr val="1B9AAA"/>
            </a:solidFill>
            <a:prstDash val="solid"/>
          </a:ln>
        </p:spPr>
      </p:sp>
      <p:sp>
        <p:nvSpPr>
          <p:cNvPr id="4" name="band-architecture">
            <a:extLst xmlns:a="http://schemas.openxmlformats.org/drawingml/2006/main">
              <a:ext uri="{FF2B5EF4-FFF2-40B4-BE49-F238E27FC236}">
                <a16:creationId xmlns:a16="http://schemas.microsoft.com/office/drawing/2014/main" id="{5B9D3DE2-3A9F-442C-9F81-39419E90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620875"/>
            <a:ext cx="29032200" cy="833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5" name="band-methodology">
            <a:extLst xmlns:a="http://schemas.openxmlformats.org/drawingml/2006/main">
              <a:ext uri="{FF2B5EF4-FFF2-40B4-BE49-F238E27FC236}">
                <a16:creationId xmlns:a16="http://schemas.microsoft.com/office/drawing/2014/main" id="{9EF37220-5E48-4D36-A4EE-F33A0760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0"/>
            <a:ext cx="29032200" cy="1052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536"/>
          </a:solidFill>
          <a:ln xmlns:a="http://schemas.openxmlformats.org/drawingml/2006/main" w="0">
            <a:solidFill>
              <a:srgbClr val="D5A536"/>
            </a:solidFill>
            <a:prstDash val="solid"/>
          </a:ln>
        </p:spPr>
      </p:sp>
      <p:sp>
        <p:nvSpPr>
          <p:cNvPr id="6" name="band-bottom">
            <a:extLst xmlns:a="http://schemas.openxmlformats.org/drawingml/2006/main">
              <a:ext uri="{FF2B5EF4-FFF2-40B4-BE49-F238E27FC236}">
                <a16:creationId xmlns:a16="http://schemas.microsoft.com/office/drawing/2014/main" id="{D3F0AA2E-5696-49A9-82B5-4CAEDFC0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89875"/>
            <a:ext cx="29032200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7" name="author-strip">
            <a:extLst xmlns:a="http://schemas.openxmlformats.org/drawingml/2006/main">
              <a:ext uri="{FF2B5EF4-FFF2-40B4-BE49-F238E27FC236}">
                <a16:creationId xmlns:a16="http://schemas.microsoft.com/office/drawing/2014/main" id="{19AFB92F-0195-418E-9654-3BA57B31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2779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นายภาสวุฒิ ชูติประชากิจ  |  PSU Esports Studio - Phuket  |  Trainee ID 600584</a:t>
            </a:r>
          </a:p>
        </p:txBody>
      </p:sp>
      <p:sp>
        <p:nvSpPr>
          <p:cNvPr id="8" name="title-panel">
            <a:extLst xmlns:a="http://schemas.openxmlformats.org/drawingml/2006/main">
              <a:ext uri="{FF2B5EF4-FFF2-40B4-BE49-F238E27FC236}">
                <a16:creationId xmlns:a16="http://schemas.microsoft.com/office/drawing/2014/main" id="{23EC4551-3795-4F17-9434-D5648B21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34125"/>
            <a:ext cx="282702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A38B53-620F-4589-A30C-F3D39BF0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34125"/>
            <a:ext cx="114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8c3c149f64f25"/>
          <a:stretch xmlns:a="http://schemas.openxmlformats.org/drawingml/2006/main"/>
        </p:blipFill>
        <p:spPr>
          <a:xfrm xmlns:a="http://schemas.openxmlformats.org/drawingml/2006/main">
            <a:off x="1428750" y="6978055"/>
            <a:ext cx="4238625" cy="1236266"/>
          </a:xfrm>
          <a:prstGeom xmlns:a="http://schemas.openxmlformats.org/drawingml/2006/main" prst="rect">
            <a:avLst/>
          </a:prstGeom>
        </p:spPr>
      </p:pic>
      <p:sp>
        <p:nvSpPr>
          <p:cNvPr id="11" name="channel">
            <a:extLst xmlns:a="http://schemas.openxmlformats.org/drawingml/2006/main">
              <a:ext uri="{FF2B5EF4-FFF2-40B4-BE49-F238E27FC236}">
                <a16:creationId xmlns:a16="http://schemas.microsoft.com/office/drawing/2014/main" id="{C01583A0-51C9-4CBE-93E3-6478D642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382000"/>
            <a:ext cx="414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6BB3"/>
                </a:solidFill>
              </a:defRPr>
            </a:pPr>
            <a:r>
              <a:rPr sz="2625" b="1">
                <a:solidFill>
                  <a:srgbClr val="176BB3"/>
                </a:solidFill>
              </a:rPr>
              <a:t>LOCAL-FIRST WEBSITE CHATBOT</a:t>
            </a:r>
          </a:p>
        </p:txBody>
      </p:sp>
      <p:sp>
        <p:nvSpPr>
          <p:cNvPr id="1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364ACF4-1BDE-4B11-A5D0-5791C82B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0"/>
            <a:ext cx="9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13" name="title-main">
            <a:extLst xmlns:a="http://schemas.openxmlformats.org/drawingml/2006/main">
              <a:ext uri="{FF2B5EF4-FFF2-40B4-BE49-F238E27FC236}">
                <a16:creationId xmlns:a16="http://schemas.microsoft.com/office/drawing/2014/main" id="{519EF832-F6D9-41B9-98C8-5120F1F8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67500"/>
            <a:ext cx="2124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A2A48"/>
                </a:solidFill>
              </a:defRPr>
            </a:pPr>
            <a:r>
              <a:rPr sz="5850" b="1">
                <a:solidFill>
                  <a:srgbClr val="0A2A48"/>
                </a:solidFill>
              </a:rPr>
              <a:t>AI Chatbot for Multi-Route Hybrid</a:t>
            </a:r>
          </a:p>
          <a:p xmlns:a="http://schemas.openxmlformats.org/drawingml/2006/main">
            <a:pPr algn="l">
              <a:defRPr sz="5850" b="1">
                <a:solidFill>
                  <a:srgbClr val="0A2A48"/>
                </a:solidFill>
              </a:defRPr>
            </a:pPr>
            <a:r>
              <a:rPr sz="5850" b="1">
                <a:solidFill>
                  <a:srgbClr val="0A2A48"/>
                </a:solidFill>
              </a:rPr>
              <a:t>Esports Knowledge Base</a:t>
            </a:r>
          </a:p>
        </p:txBody>
      </p:sp>
      <p:sp>
        <p:nvSpPr>
          <p:cNvPr id="14" name="title-sub">
            <a:extLst xmlns:a="http://schemas.openxmlformats.org/drawingml/2006/main">
              <a:ext uri="{FF2B5EF4-FFF2-40B4-BE49-F238E27FC236}">
                <a16:creationId xmlns:a16="http://schemas.microsoft.com/office/drawing/2014/main" id="{E8000C0E-FDAA-448F-B3EA-51F19A0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58150"/>
            <a:ext cx="2124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BB3"/>
                </a:solidFill>
              </a:defRPr>
            </a:pPr>
            <a:r>
              <a:rPr sz="3450" b="1">
                <a:solidFill>
                  <a:srgbClr val="176BB3"/>
                </a:solidFill>
              </a:rPr>
              <a:t>Structured facts + Semantic RAG + Gated Local LLM</a:t>
            </a:r>
          </a:p>
        </p:txBody>
      </p:sp>
      <p:sp>
        <p:nvSpPr>
          <p:cNvPr id="15" name="title-meta">
            <a:extLst xmlns:a="http://schemas.openxmlformats.org/drawingml/2006/main">
              <a:ext uri="{FF2B5EF4-FFF2-40B4-BE49-F238E27FC236}">
                <a16:creationId xmlns:a16="http://schemas.microsoft.com/office/drawing/2014/main" id="{375AD7A8-534A-4EF5-AD32-D5DA0C2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648700"/>
            <a:ext cx="2124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879"/>
                </a:solidFill>
              </a:defRPr>
            </a:pPr>
            <a:r>
              <a:rPr sz="2850" b="1">
                <a:solidFill>
                  <a:srgbClr val="536879"/>
                </a:solidFill>
              </a:rPr>
              <a:t>42 games  |  Website  |  Local models  |  Target &lt;= 10s</a:t>
            </a:r>
          </a:p>
        </p:txBody>
      </p:sp>
      <p:sp>
        <p:nvSpPr>
          <p:cNvPr id="16" name="abstract-panel">
            <a:extLst xmlns:a="http://schemas.openxmlformats.org/drawingml/2006/main">
              <a:ext uri="{FF2B5EF4-FFF2-40B4-BE49-F238E27FC236}">
                <a16:creationId xmlns:a16="http://schemas.microsoft.com/office/drawing/2014/main" id="{AE367793-DC74-4EC5-A4C9-9DB175F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048875"/>
            <a:ext cx="136017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abstract-accent">
            <a:extLst xmlns:a="http://schemas.openxmlformats.org/drawingml/2006/main">
              <a:ext uri="{FF2B5EF4-FFF2-40B4-BE49-F238E27FC236}">
                <a16:creationId xmlns:a16="http://schemas.microsoft.com/office/drawing/2014/main" id="{3A8ECB1C-DCE0-4C2B-B767-BEBCEFDF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048875"/>
            <a:ext cx="1143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8" name="abstract-heading">
            <a:extLst xmlns:a="http://schemas.openxmlformats.org/drawingml/2006/main">
              <a:ext uri="{FF2B5EF4-FFF2-40B4-BE49-F238E27FC236}">
                <a16:creationId xmlns:a16="http://schemas.microsoft.com/office/drawing/2014/main" id="{3B1ECFE4-E82B-4251-8EA7-3BFD3A3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2393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ABSTRACT</a:t>
            </a:r>
          </a:p>
        </p:txBody>
      </p:sp>
      <p:sp>
        <p:nvSpPr>
          <p:cNvPr id="19" name="abstract-heading-line">
            <a:extLst xmlns:a="http://schemas.openxmlformats.org/drawingml/2006/main">
              <a:ext uri="{FF2B5EF4-FFF2-40B4-BE49-F238E27FC236}">
                <a16:creationId xmlns:a16="http://schemas.microsoft.com/office/drawing/2014/main" id="{C8D1539E-50BC-4590-AC88-2E6A0721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8013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20" name="abstract-body">
            <a:extLst xmlns:a="http://schemas.openxmlformats.org/drawingml/2006/main">
              <a:ext uri="{FF2B5EF4-FFF2-40B4-BE49-F238E27FC236}">
                <a16:creationId xmlns:a16="http://schemas.microsoft.com/office/drawing/2014/main" id="{D14BE1C3-0EF1-4684-9A58-E56104BE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049000"/>
            <a:ext cx="1281112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2A3A"/>
                </a:solidFill>
              </a:defRPr>
            </a:pPr>
            <a:r>
              <a:rPr sz="2925" b="0">
                <a:solidFill>
                  <a:srgbClr val="172A3A"/>
                </a:solidFill>
              </a:rPr>
              <a:t>PSU Esports Studio needs a fast and reliable FAQ assistant that can answer exact operational facts while adapting to newly added rules and documents. This local-first system combines deterministic routes, semantic retrieval and gated generation, then validates every answer before delivery.</a:t>
            </a:r>
          </a:p>
        </p:txBody>
      </p:sp>
      <p:sp>
        <p:nvSpPr>
          <p:cNvPr id="21" name="objectives-panel">
            <a:extLst xmlns:a="http://schemas.openxmlformats.org/drawingml/2006/main">
              <a:ext uri="{FF2B5EF4-FFF2-40B4-BE49-F238E27FC236}">
                <a16:creationId xmlns:a16="http://schemas.microsoft.com/office/drawing/2014/main" id="{B6C1B6BA-D74C-4CC3-8DCE-B3F3F76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10048875"/>
            <a:ext cx="143827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objectives-accent">
            <a:extLst xmlns:a="http://schemas.openxmlformats.org/drawingml/2006/main">
              <a:ext uri="{FF2B5EF4-FFF2-40B4-BE49-F238E27FC236}">
                <a16:creationId xmlns:a16="http://schemas.microsoft.com/office/drawing/2014/main" id="{B747262B-2665-4118-BCB5-8E35208C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10048875"/>
            <a:ext cx="1143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23" name="objectives-heading">
            <a:extLst xmlns:a="http://schemas.openxmlformats.org/drawingml/2006/main">
              <a:ext uri="{FF2B5EF4-FFF2-40B4-BE49-F238E27FC236}">
                <a16:creationId xmlns:a16="http://schemas.microsoft.com/office/drawing/2014/main" id="{9DFB82D8-59DC-4A54-9B46-54D70255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75" y="1023937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DESIGN OBJECTIVES</a:t>
            </a:r>
          </a:p>
        </p:txBody>
      </p:sp>
      <p:sp>
        <p:nvSpPr>
          <p:cNvPr id="24" name="objectives-heading-line">
            <a:extLst xmlns:a="http://schemas.openxmlformats.org/drawingml/2006/main">
              <a:ext uri="{FF2B5EF4-FFF2-40B4-BE49-F238E27FC236}">
                <a16:creationId xmlns:a16="http://schemas.microsoft.com/office/drawing/2014/main" id="{FDFE69CA-4DDC-477F-B750-FE23B674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75" y="108013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25" name="objectives-body">
            <a:extLst xmlns:a="http://schemas.openxmlformats.org/drawingml/2006/main">
              <a:ext uri="{FF2B5EF4-FFF2-40B4-BE49-F238E27FC236}">
                <a16:creationId xmlns:a16="http://schemas.microsoft.com/office/drawing/2014/main" id="{A05670FC-E8D6-48DC-A019-2BAEEAD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75" y="11049000"/>
            <a:ext cx="885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2A3A"/>
                </a:solidFill>
              </a:defRPr>
            </a:pPr>
            <a:r>
              <a:rPr sz="3000" b="0">
                <a:solidFill>
                  <a:srgbClr val="172A3A"/>
                </a:solidFill>
              </a:rPr>
              <a:t>• Answer exact FAQs from verified records</a:t>
            </a:r>
          </a:p>
          <a:p xmlns:a="http://schemas.openxmlformats.org/drawingml/2006/main">
            <a:pPr algn="l">
              <a:defRPr sz="3000" b="0">
                <a:solidFill>
                  <a:srgbClr val="172A3A"/>
                </a:solidFill>
              </a:defRPr>
            </a:pPr>
            <a:r>
              <a:rPr sz="3000" b="0">
                <a:solidFill>
                  <a:srgbClr val="172A3A"/>
                </a:solidFill>
              </a:rPr>
              <a:t>• Retrieve new knowledge with BGE-M3</a:t>
            </a:r>
          </a:p>
          <a:p xmlns:a="http://schemas.openxmlformats.org/drawingml/2006/main">
            <a:pPr algn="l">
              <a:defRPr sz="3000" b="0">
                <a:solidFill>
                  <a:srgbClr val="172A3A"/>
                </a:solidFill>
              </a:defRPr>
            </a:pPr>
            <a:r>
              <a:rPr sz="3000" b="0">
                <a:solidFill>
                  <a:srgbClr val="172A3A"/>
                </a:solidFill>
              </a:rPr>
              <a:t>• Use the local LLM only when useful</a:t>
            </a:r>
          </a:p>
          <a:p xmlns:a="http://schemas.openxmlformats.org/drawingml/2006/main">
            <a:pPr algn="l">
              <a:defRPr sz="3000" b="0">
                <a:solidFill>
                  <a:srgbClr val="172A3A"/>
                </a:solidFill>
              </a:defRPr>
            </a:pPr>
            <a:r>
              <a:rPr sz="3000" b="0">
                <a:solidFill>
                  <a:srgbClr val="172A3A"/>
                </a:solidFill>
              </a:rPr>
              <a:t>• Clarify instead of guessing</a:t>
            </a:r>
          </a:p>
          <a:p xmlns:a="http://schemas.openxmlformats.org/drawingml/2006/main">
            <a:pPr algn="l">
              <a:defRPr sz="3000" b="0">
                <a:solidFill>
                  <a:srgbClr val="172A3A"/>
                </a:solidFill>
              </a:defRPr>
            </a:pPr>
            <a:r>
              <a:rPr sz="3000" b="0">
                <a:solidFill>
                  <a:srgbClr val="172A3A"/>
                </a:solidFill>
              </a:rPr>
              <a:t>• Keep user-visible latency within 10 seconds</a:t>
            </a:r>
          </a:p>
        </p:txBody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bd760add64852"/>
          <a:srcRect xmlns:a="http://schemas.openxmlformats.org/drawingml/2006/main" l="0" t="6915" r="0" b="6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41125" y="11049000"/>
            <a:ext cx="4476750" cy="2571750"/>
          </a:xfrm>
          <a:prstGeom xmlns:a="http://schemas.openxmlformats.org/drawingml/2006/main" prst="rect">
            <a:avLst/>
          </a:prstGeom>
        </p:spPr>
      </p:pic>
      <p:sp>
        <p:nvSpPr>
          <p:cNvPr id="27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CB087FD-9568-4288-8BC1-E2E74F8B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954250"/>
            <a:ext cx="28270200" cy="762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architecture-accent">
            <a:extLst xmlns:a="http://schemas.openxmlformats.org/drawingml/2006/main">
              <a:ext uri="{FF2B5EF4-FFF2-40B4-BE49-F238E27FC236}">
                <a16:creationId xmlns:a16="http://schemas.microsoft.com/office/drawing/2014/main" id="{DFCE8238-F971-4291-9DC9-BCE3AC60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954250"/>
            <a:ext cx="1143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29" name="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7F010A3B-1F62-40EC-8081-34A38592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1447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SYSTEM ARCHITECTURE</a:t>
            </a:r>
          </a:p>
        </p:txBody>
      </p:sp>
      <p:sp>
        <p:nvSpPr>
          <p:cNvPr id="30" name="architecture-heading-line">
            <a:extLst xmlns:a="http://schemas.openxmlformats.org/drawingml/2006/main">
              <a:ext uri="{FF2B5EF4-FFF2-40B4-BE49-F238E27FC236}">
                <a16:creationId xmlns:a16="http://schemas.microsoft.com/office/drawing/2014/main" id="{4948DA05-5A83-4C72-8D8C-AA64CA4A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706725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31" name="arch-input-node">
            <a:extLst xmlns:a="http://schemas.openxmlformats.org/drawingml/2006/main">
              <a:ext uri="{FF2B5EF4-FFF2-40B4-BE49-F238E27FC236}">
                <a16:creationId xmlns:a16="http://schemas.microsoft.com/office/drawing/2014/main" id="{3BB1101A-61DE-4877-B79E-2909B485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525875"/>
            <a:ext cx="32385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28575">
            <a:solidFill>
              <a:srgbClr val="176BB3"/>
            </a:solidFill>
            <a:prstDash val="solid"/>
          </a:ln>
        </p:spPr>
      </p:sp>
      <p:sp>
        <p:nvSpPr>
          <p:cNvPr id="32" name="arch-input-title">
            <a:extLst xmlns:a="http://schemas.openxmlformats.org/drawingml/2006/main">
              <a:ext uri="{FF2B5EF4-FFF2-40B4-BE49-F238E27FC236}">
                <a16:creationId xmlns:a16="http://schemas.microsoft.com/office/drawing/2014/main" id="{51ADBA66-FA34-43DB-9ECF-4477BF09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6973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6BB3"/>
                </a:solidFill>
              </a:defRPr>
            </a:pPr>
            <a:r>
              <a:rPr sz="3225" b="1">
                <a:solidFill>
                  <a:srgbClr val="176BB3"/>
                </a:solidFill>
              </a:rPr>
              <a:t>WEB CHAT</a:t>
            </a:r>
          </a:p>
        </p:txBody>
      </p:sp>
      <p:sp>
        <p:nvSpPr>
          <p:cNvPr id="33" name="arch-input-body">
            <a:extLst xmlns:a="http://schemas.openxmlformats.org/drawingml/2006/main">
              <a:ext uri="{FF2B5EF4-FFF2-40B4-BE49-F238E27FC236}">
                <a16:creationId xmlns:a16="http://schemas.microsoft.com/office/drawing/2014/main" id="{262110CA-8EFF-4770-BDED-C1E74B88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3640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Request ID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Admission control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Session context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10s deadline</a:t>
            </a:r>
          </a:p>
        </p:txBody>
      </p:sp>
      <p:sp>
        <p:nvSpPr>
          <p:cNvPr id="34" name="arch-understand-node">
            <a:extLst xmlns:a="http://schemas.openxmlformats.org/drawingml/2006/main">
              <a:ext uri="{FF2B5EF4-FFF2-40B4-BE49-F238E27FC236}">
                <a16:creationId xmlns:a16="http://schemas.microsoft.com/office/drawing/2014/main" id="{F1545359-8B32-4253-9AC7-495027D9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525875"/>
            <a:ext cx="32385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28575">
            <a:solidFill>
              <a:srgbClr val="6858B8"/>
            </a:solidFill>
            <a:prstDash val="solid"/>
          </a:ln>
        </p:spPr>
      </p:sp>
      <p:sp>
        <p:nvSpPr>
          <p:cNvPr id="35" name="arch-understand-title">
            <a:extLst xmlns:a="http://schemas.openxmlformats.org/drawingml/2006/main">
              <a:ext uri="{FF2B5EF4-FFF2-40B4-BE49-F238E27FC236}">
                <a16:creationId xmlns:a16="http://schemas.microsoft.com/office/drawing/2014/main" id="{E6E7A2DF-DD6F-40A4-ADEE-5BFC9FB2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6973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6858B8"/>
                </a:solidFill>
              </a:defRPr>
            </a:pPr>
            <a:r>
              <a:rPr sz="3225" b="1">
                <a:solidFill>
                  <a:srgbClr val="6858B8"/>
                </a:solidFill>
              </a:rPr>
              <a:t>UNDERSTAND</a:t>
            </a:r>
          </a:p>
        </p:txBody>
      </p:sp>
      <p:sp>
        <p:nvSpPr>
          <p:cNvPr id="36" name="arch-understand-body">
            <a:extLst xmlns:a="http://schemas.openxmlformats.org/drawingml/2006/main">
              <a:ext uri="{FF2B5EF4-FFF2-40B4-BE49-F238E27FC236}">
                <a16:creationId xmlns:a16="http://schemas.microsoft.com/office/drawing/2014/main" id="{2220F646-516B-48E3-A8E0-EA98A56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3640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Resolve references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Detect intent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Find target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Check ambiguity</a:t>
            </a:r>
          </a:p>
        </p:txBody>
      </p:sp>
      <p:sp>
        <p:nvSpPr>
          <p:cNvPr id="37" name="arch-route-node">
            <a:extLst xmlns:a="http://schemas.openxmlformats.org/drawingml/2006/main">
              <a:ext uri="{FF2B5EF4-FFF2-40B4-BE49-F238E27FC236}">
                <a16:creationId xmlns:a16="http://schemas.microsoft.com/office/drawing/2014/main" id="{9135AF1B-EF0F-46B4-8664-0494918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525875"/>
            <a:ext cx="32385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28575">
            <a:solidFill>
              <a:srgbClr val="E9752A"/>
            </a:solidFill>
            <a:prstDash val="solid"/>
          </a:ln>
        </p:spPr>
      </p:sp>
      <p:sp>
        <p:nvSpPr>
          <p:cNvPr id="38" name="arch-route-title">
            <a:extLst xmlns:a="http://schemas.openxmlformats.org/drawingml/2006/main">
              <a:ext uri="{FF2B5EF4-FFF2-40B4-BE49-F238E27FC236}">
                <a16:creationId xmlns:a16="http://schemas.microsoft.com/office/drawing/2014/main" id="{23FF85CD-5E69-4ADA-BFBB-523B5656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6973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E9752A"/>
                </a:solidFill>
              </a:defRPr>
            </a:pPr>
            <a:r>
              <a:rPr sz="3225" b="1">
                <a:solidFill>
                  <a:srgbClr val="E9752A"/>
                </a:solidFill>
              </a:rPr>
              <a:t>SELECT ROUTE</a:t>
            </a:r>
          </a:p>
        </p:txBody>
      </p:sp>
      <p:sp>
        <p:nvSpPr>
          <p:cNvPr id="39" name="arch-route-body">
            <a:extLst xmlns:a="http://schemas.openxmlformats.org/drawingml/2006/main">
              <a:ext uri="{FF2B5EF4-FFF2-40B4-BE49-F238E27FC236}">
                <a16:creationId xmlns:a16="http://schemas.microsoft.com/office/drawing/2014/main" id="{BF94C52E-C200-4690-9646-1D37E7F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3640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Rank candidates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Check tool rules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Check available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evidence</a:t>
            </a:r>
          </a:p>
        </p:txBody>
      </p:sp>
      <p:sp>
        <p:nvSpPr>
          <p:cNvPr id="40" name="arch-paths-node">
            <a:extLst xmlns:a="http://schemas.openxmlformats.org/drawingml/2006/main">
              <a:ext uri="{FF2B5EF4-FFF2-40B4-BE49-F238E27FC236}">
                <a16:creationId xmlns:a16="http://schemas.microsoft.com/office/drawing/2014/main" id="{F256D12D-75EF-47B1-BDF2-A014212B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6525875"/>
            <a:ext cx="32385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28575">
            <a:solidFill>
              <a:srgbClr val="12866F"/>
            </a:solidFill>
            <a:prstDash val="solid"/>
          </a:ln>
        </p:spPr>
      </p:sp>
      <p:sp>
        <p:nvSpPr>
          <p:cNvPr id="41" name="arch-paths-title">
            <a:extLst xmlns:a="http://schemas.openxmlformats.org/drawingml/2006/main">
              <a:ext uri="{FF2B5EF4-FFF2-40B4-BE49-F238E27FC236}">
                <a16:creationId xmlns:a16="http://schemas.microsoft.com/office/drawing/2014/main" id="{D713F470-326C-4417-A41F-78054888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66973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2866F"/>
                </a:solidFill>
              </a:defRPr>
            </a:pPr>
            <a:r>
              <a:rPr sz="3225" b="1">
                <a:solidFill>
                  <a:srgbClr val="12866F"/>
                </a:solidFill>
              </a:rPr>
              <a:t>ANSWER PATH</a:t>
            </a:r>
          </a:p>
        </p:txBody>
      </p:sp>
      <p:sp>
        <p:nvSpPr>
          <p:cNvPr id="42" name="arch-paths-body">
            <a:extLst xmlns:a="http://schemas.openxmlformats.org/drawingml/2006/main">
              <a:ext uri="{FF2B5EF4-FFF2-40B4-BE49-F238E27FC236}">
                <a16:creationId xmlns:a16="http://schemas.microsoft.com/office/drawing/2014/main" id="{E5D5B8AF-0E0F-450C-9931-65D88D38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73640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Fast / Structured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BGE-M3 RAG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Clarification /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No-answer</a:t>
            </a:r>
          </a:p>
        </p:txBody>
      </p:sp>
      <p:sp>
        <p:nvSpPr>
          <p:cNvPr id="43" name="arch-evidence-node">
            <a:extLst xmlns:a="http://schemas.openxmlformats.org/drawingml/2006/main">
              <a:ext uri="{FF2B5EF4-FFF2-40B4-BE49-F238E27FC236}">
                <a16:creationId xmlns:a16="http://schemas.microsoft.com/office/drawing/2014/main" id="{E517DC6E-132F-47F6-8CF2-4758B2C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16525875"/>
            <a:ext cx="32385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28575">
            <a:solidFill>
              <a:srgbClr val="2B9B72"/>
            </a:solidFill>
            <a:prstDash val="solid"/>
          </a:ln>
        </p:spPr>
      </p:sp>
      <p:sp>
        <p:nvSpPr>
          <p:cNvPr id="44" name="arch-evidence-title">
            <a:extLst xmlns:a="http://schemas.openxmlformats.org/drawingml/2006/main">
              <a:ext uri="{FF2B5EF4-FFF2-40B4-BE49-F238E27FC236}">
                <a16:creationId xmlns:a16="http://schemas.microsoft.com/office/drawing/2014/main" id="{E49E4330-A004-4D54-8583-B16BE3E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166973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B9B72"/>
                </a:solidFill>
              </a:defRPr>
            </a:pPr>
            <a:r>
              <a:rPr sz="3225" b="1">
                <a:solidFill>
                  <a:srgbClr val="2B9B72"/>
                </a:solidFill>
              </a:rPr>
              <a:t>EVIDENCE</a:t>
            </a:r>
          </a:p>
        </p:txBody>
      </p:sp>
      <p:sp>
        <p:nvSpPr>
          <p:cNvPr id="45" name="arch-evidence-body">
            <a:extLst xmlns:a="http://schemas.openxmlformats.org/drawingml/2006/main">
              <a:ext uri="{FF2B5EF4-FFF2-40B4-BE49-F238E27FC236}">
                <a16:creationId xmlns:a16="http://schemas.microsoft.com/office/drawing/2014/main" id="{2C664FB6-05C0-4BBA-92BC-8B46807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173640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Attach sources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Build a factual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draft without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new claims</a:t>
            </a:r>
          </a:p>
        </p:txBody>
      </p:sp>
      <p:sp>
        <p:nvSpPr>
          <p:cNvPr id="46" name="arch-llm-node">
            <a:extLst xmlns:a="http://schemas.openxmlformats.org/drawingml/2006/main">
              <a:ext uri="{FF2B5EF4-FFF2-40B4-BE49-F238E27FC236}">
                <a16:creationId xmlns:a16="http://schemas.microsoft.com/office/drawing/2014/main" id="{4331F966-2FAD-4A48-8349-7F2FA806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16525875"/>
            <a:ext cx="32385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28575">
            <a:solidFill>
              <a:srgbClr val="E9752A"/>
            </a:solidFill>
            <a:prstDash val="solid"/>
          </a:ln>
        </p:spPr>
      </p:sp>
      <p:sp>
        <p:nvSpPr>
          <p:cNvPr id="47" name="arch-llm-title">
            <a:extLst xmlns:a="http://schemas.openxmlformats.org/drawingml/2006/main">
              <a:ext uri="{FF2B5EF4-FFF2-40B4-BE49-F238E27FC236}">
                <a16:creationId xmlns:a16="http://schemas.microsoft.com/office/drawing/2014/main" id="{40B2F38B-273A-4F02-A9AF-D29A0D80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0" y="166973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E9752A"/>
                </a:solidFill>
              </a:defRPr>
            </a:pPr>
            <a:r>
              <a:rPr sz="3225" b="1">
                <a:solidFill>
                  <a:srgbClr val="E9752A"/>
                </a:solidFill>
              </a:rPr>
              <a:t>TYPHOON</a:t>
            </a:r>
          </a:p>
        </p:txBody>
      </p:sp>
      <p:sp>
        <p:nvSpPr>
          <p:cNvPr id="48" name="arch-llm-body">
            <a:extLst xmlns:a="http://schemas.openxmlformats.org/drawingml/2006/main">
              <a:ext uri="{FF2B5EF4-FFF2-40B4-BE49-F238E27FC236}">
                <a16:creationId xmlns:a16="http://schemas.microsoft.com/office/drawing/2014/main" id="{1E4D41A1-64F4-413B-9475-4D85F291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0" y="173640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Intent review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Complex planning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Evidence-only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composition</a:t>
            </a:r>
          </a:p>
        </p:txBody>
      </p:sp>
      <p:sp>
        <p:nvSpPr>
          <p:cNvPr id="49" name="arch-validate-node">
            <a:extLst xmlns:a="http://schemas.openxmlformats.org/drawingml/2006/main">
              <a:ext uri="{FF2B5EF4-FFF2-40B4-BE49-F238E27FC236}">
                <a16:creationId xmlns:a16="http://schemas.microsoft.com/office/drawing/2014/main" id="{B683F62D-A3C2-4E81-A08E-44472B13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16525875"/>
            <a:ext cx="32385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28575">
            <a:solidFill>
              <a:srgbClr val="C94C5F"/>
            </a:solidFill>
            <a:prstDash val="solid"/>
          </a:ln>
        </p:spPr>
      </p:sp>
      <p:sp>
        <p:nvSpPr>
          <p:cNvPr id="50" name="arch-validate-title">
            <a:extLst xmlns:a="http://schemas.openxmlformats.org/drawingml/2006/main">
              <a:ext uri="{FF2B5EF4-FFF2-40B4-BE49-F238E27FC236}">
                <a16:creationId xmlns:a16="http://schemas.microsoft.com/office/drawing/2014/main" id="{CD17B3F2-44D9-41B0-AF59-CB43AC0D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8325" y="16697325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C94C5F"/>
                </a:solidFill>
              </a:defRPr>
            </a:pPr>
            <a:r>
              <a:rPr sz="3225" b="1">
                <a:solidFill>
                  <a:srgbClr val="C94C5F"/>
                </a:solidFill>
              </a:rPr>
              <a:t>VALIDATE</a:t>
            </a:r>
          </a:p>
        </p:txBody>
      </p:sp>
      <p:sp>
        <p:nvSpPr>
          <p:cNvPr id="51" name="arch-validate-body">
            <a:extLst xmlns:a="http://schemas.openxmlformats.org/drawingml/2006/main">
              <a:ext uri="{FF2B5EF4-FFF2-40B4-BE49-F238E27FC236}">
                <a16:creationId xmlns:a16="http://schemas.microsoft.com/office/drawing/2014/main" id="{A0EA94A6-6363-4AD8-A480-09027CC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75" y="173640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Answer Contract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Bounded repair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Hard Veto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Final response</a:t>
            </a:r>
          </a:p>
        </p:txBody>
      </p:sp>
      <p:cxnSp>
        <p:nvCxnSpPr>
          <p:cNvPr id="216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619625" y="179784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17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477250" y="179784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18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12334875" y="179784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19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6192500" y="179784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20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20050125" y="179784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21" name=""/>
          <p:cNvCxnSpPr>
            <a:stCxn xmlns:a="http://schemas.openxmlformats.org/drawingml/2006/main" id="4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3907750" y="179784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sp>
        <p:nvSpPr>
          <p:cNvPr id="58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B975A29F-2C90-4CD5-8174-6689C275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54575"/>
            <a:ext cx="52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A2A48"/>
                </a:solidFill>
              </a:defRPr>
            </a:pPr>
            <a:r>
              <a:rPr sz="390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59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B44F336-D7B4-4D60-94A3-9E6590B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554575"/>
            <a:ext cx="52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A2A48"/>
                </a:solidFill>
              </a:defRPr>
            </a:pPr>
            <a:r>
              <a:rPr sz="390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60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08718988-1143-49E5-B808-0F85C0EA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7554575"/>
            <a:ext cx="52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A2A48"/>
                </a:solidFill>
              </a:defRPr>
            </a:pPr>
            <a:r>
              <a:rPr sz="390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61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C37A575B-E048-496A-9341-1D42CCB6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17554575"/>
            <a:ext cx="52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A2A48"/>
                </a:solidFill>
              </a:defRPr>
            </a:pPr>
            <a:r>
              <a:rPr sz="390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62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AB4C4851-E911-4134-BA3E-410B0075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17554575"/>
            <a:ext cx="52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A2A48"/>
                </a:solidFill>
              </a:defRPr>
            </a:pPr>
            <a:r>
              <a:rPr sz="390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63" name="arch-arrow-5">
            <a:extLst xmlns:a="http://schemas.openxmlformats.org/drawingml/2006/main">
              <a:ext uri="{FF2B5EF4-FFF2-40B4-BE49-F238E27FC236}">
                <a16:creationId xmlns:a16="http://schemas.microsoft.com/office/drawing/2014/main" id="{0E5ECE05-FD18-4133-AF80-DE375526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375" y="17554575"/>
            <a:ext cx="52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A2A48"/>
                </a:solidFill>
              </a:defRPr>
            </a:pPr>
            <a:r>
              <a:rPr sz="390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64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838B9CB4-52F9-4EA4-9463-056BF778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59625"/>
            <a:ext cx="27479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C8D4DE"/>
            </a:solidFill>
            <a:prstDash val="solid"/>
          </a:ln>
        </p:spPr>
      </p:sp>
      <p:sp>
        <p:nvSpPr>
          <p:cNvPr id="65" name="architecture-note-title">
            <a:extLst xmlns:a="http://schemas.openxmlformats.org/drawingml/2006/main">
              <a:ext uri="{FF2B5EF4-FFF2-40B4-BE49-F238E27FC236}">
                <a16:creationId xmlns:a16="http://schemas.microsoft.com/office/drawing/2014/main" id="{3B30CCE3-A07E-46D8-BA3C-8ADEF045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2A48"/>
                </a:solidFill>
              </a:defRPr>
            </a:pPr>
            <a:r>
              <a:rPr sz="2925" b="1">
                <a:solidFill>
                  <a:srgbClr val="0A2A48"/>
                </a:solidFill>
              </a:rPr>
              <a:t>ROUTING POLICY</a:t>
            </a:r>
          </a:p>
        </p:txBody>
      </p:sp>
      <p:sp>
        <p:nvSpPr>
          <p:cNvPr id="66" name="architecture-note-body">
            <a:extLst xmlns:a="http://schemas.openxmlformats.org/drawingml/2006/main">
              <a:ext uri="{FF2B5EF4-FFF2-40B4-BE49-F238E27FC236}">
                <a16:creationId xmlns:a16="http://schemas.microsoft.com/office/drawing/2014/main" id="{5B7DB574-C9CC-4544-9BBB-BD027228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0"/>
            <a:ext cx="2676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A3A"/>
                </a:solidFill>
              </a:defRPr>
            </a:pPr>
            <a:r>
              <a:rPr sz="2850" b="0">
                <a:solidFill>
                  <a:srgbClr val="172A3A"/>
                </a:solidFill>
              </a:rPr>
              <a:t>Exact facts use Fast/Structured without joining the LLM queue. Long or newly added content uses BGE-M3 retrieval. Typhoon is gated for review, planning and evidence-constrained composition. Insufficient evidence returns clarification or no-answer.</a:t>
            </a:r>
          </a:p>
        </p:txBody>
      </p:sp>
      <p:sp>
        <p:nvSpPr>
          <p:cNvPr id="67" name="methodology-panel">
            <a:extLst xmlns:a="http://schemas.openxmlformats.org/drawingml/2006/main">
              <a:ext uri="{FF2B5EF4-FFF2-40B4-BE49-F238E27FC236}">
                <a16:creationId xmlns:a16="http://schemas.microsoft.com/office/drawing/2014/main" id="{F941A95F-B394-4E03-BE16-E1557C88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93375"/>
            <a:ext cx="28270200" cy="9763125"/>
          </a:xfrm>
          <a:prstGeom xmlns:a="http://schemas.openxmlformats.org/drawingml/2006/main" prst="roundRect">
            <a:avLst>
              <a:gd name="adj" fmla="val 11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8" name="methodology-accent">
            <a:extLst xmlns:a="http://schemas.openxmlformats.org/drawingml/2006/main">
              <a:ext uri="{FF2B5EF4-FFF2-40B4-BE49-F238E27FC236}">
                <a16:creationId xmlns:a16="http://schemas.microsoft.com/office/drawing/2014/main" id="{2651B453-5D5F-4C6B-8562-06F1998E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93375"/>
            <a:ext cx="114300" cy="976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536"/>
          </a:solidFill>
          <a:ln xmlns:a="http://schemas.openxmlformats.org/drawingml/2006/main" w="0">
            <a:solidFill>
              <a:srgbClr val="D5A536"/>
            </a:solidFill>
            <a:prstDash val="solid"/>
          </a:ln>
        </p:spPr>
      </p:sp>
      <p:sp>
        <p:nvSpPr>
          <p:cNvPr id="69" name="methodology-heading">
            <a:extLst xmlns:a="http://schemas.openxmlformats.org/drawingml/2006/main">
              <a:ext uri="{FF2B5EF4-FFF2-40B4-BE49-F238E27FC236}">
                <a16:creationId xmlns:a16="http://schemas.microsoft.com/office/drawing/2014/main" id="{75FCD515-CDB6-498C-9A16-E5D7B877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838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METHODOLOGY</a:t>
            </a:r>
          </a:p>
        </p:txBody>
      </p:sp>
      <p:sp>
        <p:nvSpPr>
          <p:cNvPr id="70" name="methodology-heading-line">
            <a:extLst xmlns:a="http://schemas.openxmlformats.org/drawingml/2006/main">
              <a:ext uri="{FF2B5EF4-FFF2-40B4-BE49-F238E27FC236}">
                <a16:creationId xmlns:a16="http://schemas.microsoft.com/office/drawing/2014/main" id="{2CACDAC2-0486-4437-847C-2F94BFD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9458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536"/>
          </a:solidFill>
          <a:ln xmlns:a="http://schemas.openxmlformats.org/drawingml/2006/main" w="0">
            <a:solidFill>
              <a:srgbClr val="D5A536"/>
            </a:solidFill>
            <a:prstDash val="solid"/>
          </a:ln>
        </p:spPr>
      </p:sp>
      <p:sp>
        <p:nvSpPr>
          <p:cNvPr id="71" name="method-separator-0">
            <a:extLst xmlns:a="http://schemas.openxmlformats.org/drawingml/2006/main">
              <a:ext uri="{FF2B5EF4-FFF2-40B4-BE49-F238E27FC236}">
                <a16:creationId xmlns:a16="http://schemas.microsoft.com/office/drawing/2014/main" id="{35791173-9815-473A-8224-DFD86690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0"/>
            <a:ext cx="3810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E"/>
          </a:solidFill>
          <a:ln xmlns:a="http://schemas.openxmlformats.org/drawingml/2006/main" w="0">
            <a:solidFill>
              <a:srgbClr val="C8D4DE"/>
            </a:solidFill>
            <a:prstDash val="solid"/>
          </a:ln>
        </p:spPr>
      </p:sp>
      <p:sp>
        <p:nvSpPr>
          <p:cNvPr id="72" name="method-separator-1">
            <a:extLst xmlns:a="http://schemas.openxmlformats.org/drawingml/2006/main">
              <a:ext uri="{FF2B5EF4-FFF2-40B4-BE49-F238E27FC236}">
                <a16:creationId xmlns:a16="http://schemas.microsoft.com/office/drawing/2014/main" id="{E4770F4A-124E-40E7-9AE2-93AB3F86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4288750"/>
            <a:ext cx="3810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E"/>
          </a:solidFill>
          <a:ln xmlns:a="http://schemas.openxmlformats.org/drawingml/2006/main" w="0">
            <a:solidFill>
              <a:srgbClr val="C8D4DE"/>
            </a:solidFill>
            <a:prstDash val="solid"/>
          </a:ln>
        </p:spPr>
      </p:sp>
      <p:sp>
        <p:nvSpPr>
          <p:cNvPr id="73" name="method-separator-2">
            <a:extLst xmlns:a="http://schemas.openxmlformats.org/drawingml/2006/main">
              <a:ext uri="{FF2B5EF4-FFF2-40B4-BE49-F238E27FC236}">
                <a16:creationId xmlns:a16="http://schemas.microsoft.com/office/drawing/2014/main" id="{30B1C87A-36E9-4773-8CA5-350982AE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24288750"/>
            <a:ext cx="3810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E"/>
          </a:solidFill>
          <a:ln xmlns:a="http://schemas.openxmlformats.org/drawingml/2006/main" w="0">
            <a:solidFill>
              <a:srgbClr val="C8D4DE"/>
            </a:solidFill>
            <a:prstDash val="solid"/>
          </a:ln>
        </p:spPr>
      </p:sp>
      <p:sp>
        <p:nvSpPr>
          <p:cNvPr id="74" name="method-fast-eyebrow">
            <a:extLst xmlns:a="http://schemas.openxmlformats.org/drawingml/2006/main">
              <a:ext uri="{FF2B5EF4-FFF2-40B4-BE49-F238E27FC236}">
                <a16:creationId xmlns:a16="http://schemas.microsoft.com/office/drawing/2014/main" id="{50BE9C91-AD34-4A92-B73E-5EE4C14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3840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866F"/>
                </a:solidFill>
              </a:defRPr>
            </a:pPr>
            <a:r>
              <a:rPr sz="2700" b="1">
                <a:solidFill>
                  <a:srgbClr val="12866F"/>
                </a:solidFill>
              </a:rPr>
              <a:t>DETERMINISTIC ROUTING</a:t>
            </a:r>
          </a:p>
        </p:txBody>
      </p:sp>
      <p:sp>
        <p:nvSpPr>
          <p:cNvPr id="75" name="method-fast-title">
            <a:extLst xmlns:a="http://schemas.openxmlformats.org/drawingml/2006/main">
              <a:ext uri="{FF2B5EF4-FFF2-40B4-BE49-F238E27FC236}">
                <a16:creationId xmlns:a16="http://schemas.microsoft.com/office/drawing/2014/main" id="{5F222A20-4B89-4EC3-8633-08FAA5A9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8602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FAST + STRUCTURED</a:t>
            </a:r>
          </a:p>
        </p:txBody>
      </p:sp>
      <p:sp>
        <p:nvSpPr>
          <p:cNvPr id="76" name="method-fast-body">
            <a:extLst xmlns:a="http://schemas.openxmlformats.org/drawingml/2006/main">
              <a:ext uri="{FF2B5EF4-FFF2-40B4-BE49-F238E27FC236}">
                <a16:creationId xmlns:a16="http://schemas.microsoft.com/office/drawing/2014/main" id="{4AF54710-4F5F-4B2F-9A21-98A541A5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56984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Rules, aliases and structured tools answer exact questions about games, prices, zones, equipment and opening hours.</a:t>
            </a:r>
          </a:p>
        </p:txBody>
      </p:sp>
      <p:sp>
        <p:nvSpPr>
          <p:cNvPr id="77" name="method-fast-mini-0">
            <a:extLst xmlns:a="http://schemas.openxmlformats.org/drawingml/2006/main">
              <a:ext uri="{FF2B5EF4-FFF2-40B4-BE49-F238E27FC236}">
                <a16:creationId xmlns:a16="http://schemas.microsoft.com/office/drawing/2014/main" id="{930310DA-473E-4F22-9831-62368AD6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78" name="method-fast-mini-text-0">
            <a:extLst xmlns:a="http://schemas.openxmlformats.org/drawingml/2006/main">
              <a:ext uri="{FF2B5EF4-FFF2-40B4-BE49-F238E27FC236}">
                <a16:creationId xmlns:a16="http://schemas.microsoft.com/office/drawing/2014/main" id="{2BA62526-A108-4A73-A837-67EFB03F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Intent</a:t>
            </a:r>
          </a:p>
        </p:txBody>
      </p:sp>
      <p:sp>
        <p:nvSpPr>
          <p:cNvPr id="79" name="method-fast-mini-1">
            <a:extLst xmlns:a="http://schemas.openxmlformats.org/drawingml/2006/main">
              <a:ext uri="{FF2B5EF4-FFF2-40B4-BE49-F238E27FC236}">
                <a16:creationId xmlns:a16="http://schemas.microsoft.com/office/drawing/2014/main" id="{48DCA30E-B77B-4657-8F90-D0DCDD2D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72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80" name="method-fast-mini-text-1">
            <a:extLst xmlns:a="http://schemas.openxmlformats.org/drawingml/2006/main">
              <a:ext uri="{FF2B5EF4-FFF2-40B4-BE49-F238E27FC236}">
                <a16:creationId xmlns:a16="http://schemas.microsoft.com/office/drawing/2014/main" id="{1EBEC24E-65FE-43AA-AEB7-DF1CDB3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92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Exact record</a:t>
            </a:r>
          </a:p>
        </p:txBody>
      </p:sp>
      <p:sp>
        <p:nvSpPr>
          <p:cNvPr id="81" name="method-fast-mini-2">
            <a:extLst xmlns:a="http://schemas.openxmlformats.org/drawingml/2006/main">
              <a:ext uri="{FF2B5EF4-FFF2-40B4-BE49-F238E27FC236}">
                <a16:creationId xmlns:a16="http://schemas.microsoft.com/office/drawing/2014/main" id="{E41BE6A0-DB5E-4E15-B883-AA26A0F7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82" name="method-fast-mini-text-2">
            <a:extLst xmlns:a="http://schemas.openxmlformats.org/drawingml/2006/main">
              <a:ext uri="{FF2B5EF4-FFF2-40B4-BE49-F238E27FC236}">
                <a16:creationId xmlns:a16="http://schemas.microsoft.com/office/drawing/2014/main" id="{E9BFEC0C-D9B2-4E6A-A943-122576ED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22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Answer</a:t>
            </a:r>
          </a:p>
        </p:txBody>
      </p:sp>
      <p:cxnSp>
        <p:nvCxnSpPr>
          <p:cNvPr id="247" name=""/>
          <p:cNvCxnSpPr>
            <a:stCxn xmlns:a="http://schemas.openxmlformats.org/drawingml/2006/main" id="77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345122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866F"/>
            </a:solidFill>
            <a:prstDash val="solid"/>
            <a:tailEnd type="arrow" w="med" len="med"/>
          </a:ln>
        </p:spPr>
      </p:cxnSp>
      <p:cxnSp>
        <p:nvCxnSpPr>
          <p:cNvPr id="248" name=""/>
          <p:cNvCxnSpPr>
            <a:stCxn xmlns:a="http://schemas.openxmlformats.org/drawingml/2006/main" id="79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559752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866F"/>
            </a:solidFill>
            <a:prstDash val="solid"/>
            <a:tailEnd type="arrow" w="med" len="med"/>
          </a:ln>
        </p:spPr>
      </p:cxnSp>
      <p:sp>
        <p:nvSpPr>
          <p:cNvPr id="85" name="method-fast-footer-box">
            <a:extLst xmlns:a="http://schemas.openxmlformats.org/drawingml/2006/main">
              <a:ext uri="{FF2B5EF4-FFF2-40B4-BE49-F238E27FC236}">
                <a16:creationId xmlns:a16="http://schemas.microsoft.com/office/drawing/2014/main" id="{2AB2E008-3982-406C-B827-2D79CFF0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1465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86" name="method-fast-footer">
            <a:extLst xmlns:a="http://schemas.openxmlformats.org/drawingml/2006/main">
              <a:ext uri="{FF2B5EF4-FFF2-40B4-BE49-F238E27FC236}">
                <a16:creationId xmlns:a16="http://schemas.microsoft.com/office/drawing/2014/main" id="{38F73EFB-16C2-4B0B-B865-AF4A883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2417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2866F"/>
                </a:solidFill>
              </a:defRPr>
            </a:pPr>
            <a:r>
              <a:rPr sz="2475" b="1">
                <a:solidFill>
                  <a:srgbClr val="12866F"/>
                </a:solidFill>
              </a:rPr>
              <a:t>0 LLM CALLS  |  NO QUEUE</a:t>
            </a:r>
          </a:p>
        </p:txBody>
      </p:sp>
      <p:sp>
        <p:nvSpPr>
          <p:cNvPr id="87" name="method-rag-eyebrow">
            <a:extLst xmlns:a="http://schemas.openxmlformats.org/drawingml/2006/main">
              <a:ext uri="{FF2B5EF4-FFF2-40B4-BE49-F238E27FC236}">
                <a16:creationId xmlns:a16="http://schemas.microsoft.com/office/drawing/2014/main" id="{FE334B79-681B-4DB1-B466-DBAD269C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3840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D91D5"/>
                </a:solidFill>
              </a:defRPr>
            </a:pPr>
            <a:r>
              <a:rPr sz="2700" b="1">
                <a:solidFill>
                  <a:srgbClr val="2D91D5"/>
                </a:solidFill>
              </a:rPr>
              <a:t>SEMANTIC RETRIEVAL</a:t>
            </a:r>
          </a:p>
        </p:txBody>
      </p:sp>
      <p:sp>
        <p:nvSpPr>
          <p:cNvPr id="88" name="method-rag-title">
            <a:extLst xmlns:a="http://schemas.openxmlformats.org/drawingml/2006/main">
              <a:ext uri="{FF2B5EF4-FFF2-40B4-BE49-F238E27FC236}">
                <a16:creationId xmlns:a16="http://schemas.microsoft.com/office/drawing/2014/main" id="{B6275C96-96A8-487D-9949-781C5348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8602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BGE-M3</a:t>
            </a:r>
          </a:p>
        </p:txBody>
      </p:sp>
      <p:sp>
        <p:nvSpPr>
          <p:cNvPr id="89" name="method-rag-body">
            <a:extLst xmlns:a="http://schemas.openxmlformats.org/drawingml/2006/main">
              <a:ext uri="{FF2B5EF4-FFF2-40B4-BE49-F238E27FC236}">
                <a16:creationId xmlns:a16="http://schemas.microsoft.com/office/drawing/2014/main" id="{27325E77-CB81-4BF8-A37A-ABFBDD62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6984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Embeds rules, documents, news and new content. It retrieves relevant evidence and optionally reranks the candidates.</a:t>
            </a:r>
          </a:p>
        </p:txBody>
      </p:sp>
      <p:sp>
        <p:nvSpPr>
          <p:cNvPr id="90" name="method-rag-mini-0">
            <a:extLst xmlns:a="http://schemas.openxmlformats.org/drawingml/2006/main">
              <a:ext uri="{FF2B5EF4-FFF2-40B4-BE49-F238E27FC236}">
                <a16:creationId xmlns:a16="http://schemas.microsoft.com/office/drawing/2014/main" id="{17BFB809-2753-4B38-AA80-B101A84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91" name="method-rag-mini-text-0">
            <a:extLst xmlns:a="http://schemas.openxmlformats.org/drawingml/2006/main">
              <a:ext uri="{FF2B5EF4-FFF2-40B4-BE49-F238E27FC236}">
                <a16:creationId xmlns:a16="http://schemas.microsoft.com/office/drawing/2014/main" id="{F4295B06-C7DD-4793-9A34-B7A2C259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Query</a:t>
            </a:r>
          </a:p>
        </p:txBody>
      </p:sp>
      <p:sp>
        <p:nvSpPr>
          <p:cNvPr id="92" name="method-rag-mini-1">
            <a:extLst xmlns:a="http://schemas.openxmlformats.org/drawingml/2006/main">
              <a:ext uri="{FF2B5EF4-FFF2-40B4-BE49-F238E27FC236}">
                <a16:creationId xmlns:a16="http://schemas.microsoft.com/office/drawing/2014/main" id="{CB075D0E-0F55-48A0-BF47-E2571656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97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93" name="method-rag-mini-text-1">
            <a:extLst xmlns:a="http://schemas.openxmlformats.org/drawingml/2006/main">
              <a:ext uri="{FF2B5EF4-FFF2-40B4-BE49-F238E27FC236}">
                <a16:creationId xmlns:a16="http://schemas.microsoft.com/office/drawing/2014/main" id="{75A65D4F-E4F3-4A8D-BF8E-D0AC24F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7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BGE-M3</a:t>
            </a:r>
          </a:p>
        </p:txBody>
      </p:sp>
      <p:sp>
        <p:nvSpPr>
          <p:cNvPr id="94" name="method-rag-mini-2">
            <a:extLst xmlns:a="http://schemas.openxmlformats.org/drawingml/2006/main">
              <a:ext uri="{FF2B5EF4-FFF2-40B4-BE49-F238E27FC236}">
                <a16:creationId xmlns:a16="http://schemas.microsoft.com/office/drawing/2014/main" id="{20C14101-BF95-4A9D-BC69-E136159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127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95" name="method-rag-mini-text-2">
            <a:extLst xmlns:a="http://schemas.openxmlformats.org/drawingml/2006/main">
              <a:ext uri="{FF2B5EF4-FFF2-40B4-BE49-F238E27FC236}">
                <a16:creationId xmlns:a16="http://schemas.microsoft.com/office/drawing/2014/main" id="{39E27FBF-1DCD-4BD3-B8EE-122D48C6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747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Evidence</a:t>
            </a:r>
          </a:p>
        </p:txBody>
      </p:sp>
      <p:cxnSp>
        <p:nvCxnSpPr>
          <p:cNvPr id="260" name=""/>
          <p:cNvCxnSpPr>
            <a:stCxn xmlns:a="http://schemas.openxmlformats.org/drawingml/2006/main" id="90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1040447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D91D5"/>
            </a:solidFill>
            <a:prstDash val="solid"/>
            <a:tailEnd type="arrow" w="med" len="med"/>
          </a:ln>
        </p:spPr>
      </p:cxnSp>
      <p:cxnSp>
        <p:nvCxnSpPr>
          <p:cNvPr id="261" name=""/>
          <p:cNvCxnSpPr>
            <a:stCxn xmlns:a="http://schemas.openxmlformats.org/drawingml/2006/main" id="92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1255077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D91D5"/>
            </a:solidFill>
            <a:prstDash val="solid"/>
            <a:tailEnd type="arrow" w="med" len="med"/>
          </a:ln>
        </p:spPr>
      </p:cxnSp>
      <p:sp>
        <p:nvSpPr>
          <p:cNvPr id="98" name="method-rag-footer-box">
            <a:extLst xmlns:a="http://schemas.openxmlformats.org/drawingml/2006/main">
              <a:ext uri="{FF2B5EF4-FFF2-40B4-BE49-F238E27FC236}">
                <a16:creationId xmlns:a16="http://schemas.microsoft.com/office/drawing/2014/main" id="{17575016-8601-4754-A91A-40A2624B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99" name="method-rag-footer">
            <a:extLst xmlns:a="http://schemas.openxmlformats.org/drawingml/2006/main">
              <a:ext uri="{FF2B5EF4-FFF2-40B4-BE49-F238E27FC236}">
                <a16:creationId xmlns:a16="http://schemas.microsoft.com/office/drawing/2014/main" id="{9B213763-06A9-4AE7-8210-4F94621E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2417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D91D5"/>
                </a:solidFill>
              </a:defRPr>
            </a:pPr>
            <a:r>
              <a:rPr sz="2475" b="1">
                <a:solidFill>
                  <a:srgbClr val="2D91D5"/>
                </a:solidFill>
              </a:rPr>
              <a:t>EMBEDDING  |  OPTIONAL RERANK</a:t>
            </a:r>
          </a:p>
        </p:txBody>
      </p:sp>
      <p:sp>
        <p:nvSpPr>
          <p:cNvPr id="100" name="method-llm-eyebrow">
            <a:extLst xmlns:a="http://schemas.openxmlformats.org/drawingml/2006/main">
              <a:ext uri="{FF2B5EF4-FFF2-40B4-BE49-F238E27FC236}">
                <a16:creationId xmlns:a16="http://schemas.microsoft.com/office/drawing/2014/main" id="{9593F99E-E677-4BE9-87FF-E2A01E98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43840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9752A"/>
                </a:solidFill>
              </a:defRPr>
            </a:pPr>
            <a:r>
              <a:rPr sz="2700" b="1">
                <a:solidFill>
                  <a:srgbClr val="E9752A"/>
                </a:solidFill>
              </a:rPr>
              <a:t>GATED LOCAL LLM</a:t>
            </a:r>
          </a:p>
        </p:txBody>
      </p:sp>
      <p:sp>
        <p:nvSpPr>
          <p:cNvPr id="101" name="method-llm-title">
            <a:extLst xmlns:a="http://schemas.openxmlformats.org/drawingml/2006/main">
              <a:ext uri="{FF2B5EF4-FFF2-40B4-BE49-F238E27FC236}">
                <a16:creationId xmlns:a16="http://schemas.microsoft.com/office/drawing/2014/main" id="{FA6D9BCE-92CF-4A49-A87B-775280F4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48602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TYPHOON2.5 QWEN3 4B</a:t>
            </a:r>
          </a:p>
        </p:txBody>
      </p:sp>
      <p:sp>
        <p:nvSpPr>
          <p:cNvPr id="102" name="method-llm-body">
            <a:extLst xmlns:a="http://schemas.openxmlformats.org/drawingml/2006/main">
              <a:ext uri="{FF2B5EF4-FFF2-40B4-BE49-F238E27FC236}">
                <a16:creationId xmlns:a16="http://schemas.microsoft.com/office/drawing/2014/main" id="{AB66B87B-5339-48DD-8A86-149AEC20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256984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Reviews intent, plans dependent questions and composes answers from verified evidence only. It cannot create new PSU facts.</a:t>
            </a:r>
          </a:p>
        </p:txBody>
      </p:sp>
      <p:sp>
        <p:nvSpPr>
          <p:cNvPr id="103" name="method-llm-mini-0">
            <a:extLst xmlns:a="http://schemas.openxmlformats.org/drawingml/2006/main">
              <a:ext uri="{FF2B5EF4-FFF2-40B4-BE49-F238E27FC236}">
                <a16:creationId xmlns:a16="http://schemas.microsoft.com/office/drawing/2014/main" id="{340F32E5-F5D0-48D2-85B0-43272D78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04" name="method-llm-mini-text-0">
            <a:extLst xmlns:a="http://schemas.openxmlformats.org/drawingml/2006/main">
              <a:ext uri="{FF2B5EF4-FFF2-40B4-BE49-F238E27FC236}">
                <a16:creationId xmlns:a16="http://schemas.microsoft.com/office/drawing/2014/main" id="{59F56BD6-417E-407C-9AAD-BA837BD5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Evidence</a:t>
            </a:r>
          </a:p>
        </p:txBody>
      </p:sp>
      <p:sp>
        <p:nvSpPr>
          <p:cNvPr id="105" name="method-llm-mini-1">
            <a:extLst xmlns:a="http://schemas.openxmlformats.org/drawingml/2006/main">
              <a:ext uri="{FF2B5EF4-FFF2-40B4-BE49-F238E27FC236}">
                <a16:creationId xmlns:a16="http://schemas.microsoft.com/office/drawing/2014/main" id="{18F81E73-637D-482F-898A-08F0C4C0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822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06" name="method-llm-mini-text-1">
            <a:extLst xmlns:a="http://schemas.openxmlformats.org/drawingml/2006/main">
              <a:ext uri="{FF2B5EF4-FFF2-40B4-BE49-F238E27FC236}">
                <a16:creationId xmlns:a16="http://schemas.microsoft.com/office/drawing/2014/main" id="{18B75C46-5AEA-4CFD-B031-97266BE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442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Typhoon</a:t>
            </a:r>
          </a:p>
        </p:txBody>
      </p:sp>
      <p:sp>
        <p:nvSpPr>
          <p:cNvPr id="107" name="method-llm-mini-2">
            <a:extLst xmlns:a="http://schemas.openxmlformats.org/drawingml/2006/main">
              <a:ext uri="{FF2B5EF4-FFF2-40B4-BE49-F238E27FC236}">
                <a16:creationId xmlns:a16="http://schemas.microsoft.com/office/drawing/2014/main" id="{19153CAD-E083-4E68-A6BE-807A3FB4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452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08" name="method-llm-mini-text-2">
            <a:extLst xmlns:a="http://schemas.openxmlformats.org/drawingml/2006/main">
              <a:ext uri="{FF2B5EF4-FFF2-40B4-BE49-F238E27FC236}">
                <a16:creationId xmlns:a16="http://schemas.microsoft.com/office/drawing/2014/main" id="{30455F81-5CBA-4129-B9C5-4122659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072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Draft</a:t>
            </a:r>
          </a:p>
        </p:txBody>
      </p:sp>
      <p:cxnSp>
        <p:nvCxnSpPr>
          <p:cNvPr id="273" name=""/>
          <p:cNvCxnSpPr>
            <a:stCxn xmlns:a="http://schemas.openxmlformats.org/drawingml/2006/main" id="103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1735772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9752A"/>
            </a:solidFill>
            <a:prstDash val="solid"/>
            <a:tailEnd type="arrow" w="med" len="med"/>
          </a:ln>
        </p:spPr>
      </p:cxnSp>
      <p:cxnSp>
        <p:nvCxnSpPr>
          <p:cNvPr id="274" name=""/>
          <p:cNvCxnSpPr>
            <a:stCxn xmlns:a="http://schemas.openxmlformats.org/drawingml/2006/main" id="105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1950402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9752A"/>
            </a:solidFill>
            <a:prstDash val="solid"/>
            <a:tailEnd type="arrow" w="med" len="med"/>
          </a:ln>
        </p:spPr>
      </p:cxnSp>
      <p:sp>
        <p:nvSpPr>
          <p:cNvPr id="111" name="method-llm-footer-box">
            <a:extLst xmlns:a="http://schemas.openxmlformats.org/drawingml/2006/main">
              <a:ext uri="{FF2B5EF4-FFF2-40B4-BE49-F238E27FC236}">
                <a16:creationId xmlns:a16="http://schemas.microsoft.com/office/drawing/2014/main" id="{2CCEB4B1-A7B2-4603-862F-6BA63C6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91465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12" name="method-llm-footer">
            <a:extLst xmlns:a="http://schemas.openxmlformats.org/drawingml/2006/main">
              <a:ext uri="{FF2B5EF4-FFF2-40B4-BE49-F238E27FC236}">
                <a16:creationId xmlns:a16="http://schemas.microsoft.com/office/drawing/2014/main" id="{B320A652-8EA8-4A0A-895F-9BE99EE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292417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9752A"/>
                </a:solidFill>
              </a:defRPr>
            </a:pPr>
            <a:r>
              <a:rPr sz="2475" b="1">
                <a:solidFill>
                  <a:srgbClr val="E9752A"/>
                </a:solidFill>
              </a:rPr>
              <a:t>MAX 2 CALLS  |  CONCURRENCY 1</a:t>
            </a:r>
          </a:p>
        </p:txBody>
      </p:sp>
      <p:sp>
        <p:nvSpPr>
          <p:cNvPr id="113" name="method-safety-eyebrow">
            <a:extLst xmlns:a="http://schemas.openxmlformats.org/drawingml/2006/main">
              <a:ext uri="{FF2B5EF4-FFF2-40B4-BE49-F238E27FC236}">
                <a16:creationId xmlns:a16="http://schemas.microsoft.com/office/drawing/2014/main" id="{6EE6008B-3715-480D-838C-522067F7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75" y="243840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94C5F"/>
                </a:solidFill>
              </a:defRPr>
            </a:pPr>
            <a:r>
              <a:rPr sz="2700" b="1">
                <a:solidFill>
                  <a:srgbClr val="C94C5F"/>
                </a:solidFill>
              </a:rPr>
              <a:t>ANSWER SAFETY</a:t>
            </a:r>
          </a:p>
        </p:txBody>
      </p:sp>
      <p:sp>
        <p:nvSpPr>
          <p:cNvPr id="114" name="method-safety-title">
            <a:extLst xmlns:a="http://schemas.openxmlformats.org/drawingml/2006/main">
              <a:ext uri="{FF2B5EF4-FFF2-40B4-BE49-F238E27FC236}">
                <a16:creationId xmlns:a16="http://schemas.microsoft.com/office/drawing/2014/main" id="{27A18093-E34C-4064-8BED-D296EB8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75" y="248602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GUARDS + CONTRACT</a:t>
            </a:r>
          </a:p>
        </p:txBody>
      </p:sp>
      <p:sp>
        <p:nvSpPr>
          <p:cNvPr id="115" name="method-safety-body">
            <a:extLst xmlns:a="http://schemas.openxmlformats.org/drawingml/2006/main">
              <a:ext uri="{FF2B5EF4-FFF2-40B4-BE49-F238E27FC236}">
                <a16:creationId xmlns:a16="http://schemas.microsoft.com/office/drawing/2014/main" id="{DB5ECB51-5821-48B1-AEDE-1340B82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275" y="256984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Boundary and Ambiguity checks protect scope. Source Guard verifies evidence. Repair and Hard Veto block unsupported output.</a:t>
            </a:r>
          </a:p>
        </p:txBody>
      </p:sp>
      <p:sp>
        <p:nvSpPr>
          <p:cNvPr id="116" name="method-safety-mini-0">
            <a:extLst xmlns:a="http://schemas.openxmlformats.org/drawingml/2006/main">
              <a:ext uri="{FF2B5EF4-FFF2-40B4-BE49-F238E27FC236}">
                <a16:creationId xmlns:a16="http://schemas.microsoft.com/office/drawing/2014/main" id="{0B910D37-8F6E-4900-AF5B-13A3727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17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17" name="method-safety-mini-text-0">
            <a:extLst xmlns:a="http://schemas.openxmlformats.org/drawingml/2006/main">
              <a:ext uri="{FF2B5EF4-FFF2-40B4-BE49-F238E27FC236}">
                <a16:creationId xmlns:a16="http://schemas.microsoft.com/office/drawing/2014/main" id="{A09D6D4E-822F-4017-8EF7-1FF91FA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Check</a:t>
            </a:r>
          </a:p>
        </p:txBody>
      </p:sp>
      <p:sp>
        <p:nvSpPr>
          <p:cNvPr id="118" name="method-safety-mini-1">
            <a:extLst xmlns:a="http://schemas.openxmlformats.org/drawingml/2006/main">
              <a:ext uri="{FF2B5EF4-FFF2-40B4-BE49-F238E27FC236}">
                <a16:creationId xmlns:a16="http://schemas.microsoft.com/office/drawing/2014/main" id="{3F40E8D1-B388-481F-8146-FE11FF4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47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19" name="method-safety-mini-text-1">
            <a:extLst xmlns:a="http://schemas.openxmlformats.org/drawingml/2006/main">
              <a:ext uri="{FF2B5EF4-FFF2-40B4-BE49-F238E27FC236}">
                <a16:creationId xmlns:a16="http://schemas.microsoft.com/office/drawing/2014/main" id="{F4B40716-9F60-4AAE-9988-6702D20C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767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Repair</a:t>
            </a:r>
          </a:p>
        </p:txBody>
      </p:sp>
      <p:sp>
        <p:nvSpPr>
          <p:cNvPr id="120" name="method-safety-mini-2">
            <a:extLst xmlns:a="http://schemas.openxmlformats.org/drawingml/2006/main">
              <a:ext uri="{FF2B5EF4-FFF2-40B4-BE49-F238E27FC236}">
                <a16:creationId xmlns:a16="http://schemas.microsoft.com/office/drawing/2014/main" id="{6F2B1F7D-98C6-4877-BA14-FE37DD3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7775" y="279082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21" name="method-safety-mini-text-2">
            <a:extLst xmlns:a="http://schemas.openxmlformats.org/drawingml/2006/main">
              <a:ext uri="{FF2B5EF4-FFF2-40B4-BE49-F238E27FC236}">
                <a16:creationId xmlns:a16="http://schemas.microsoft.com/office/drawing/2014/main" id="{5D3CA42F-CE88-4CC1-938D-8056ABF7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3975" y="279939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Veto</a:t>
            </a:r>
          </a:p>
        </p:txBody>
      </p:sp>
      <p:cxnSp>
        <p:nvCxnSpPr>
          <p:cNvPr id="286" name=""/>
          <p:cNvCxnSpPr>
            <a:stCxn xmlns:a="http://schemas.openxmlformats.org/drawingml/2006/main" id="116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2431097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4C5F"/>
            </a:solidFill>
            <a:prstDash val="solid"/>
            <a:tailEnd type="arrow" w="med" len="med"/>
          </a:ln>
        </p:spPr>
      </p:cxnSp>
      <p:cxnSp>
        <p:nvCxnSpPr>
          <p:cNvPr id="287" name=""/>
          <p:cNvCxnSpPr>
            <a:stCxn xmlns:a="http://schemas.openxmlformats.org/drawingml/2006/main" id="118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26457275" y="28346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4C5F"/>
            </a:solidFill>
            <a:prstDash val="solid"/>
            <a:tailEnd type="arrow" w="med" len="med"/>
          </a:ln>
        </p:spPr>
      </p:cxnSp>
      <p:sp>
        <p:nvSpPr>
          <p:cNvPr id="124" name="method-safety-footer-box">
            <a:extLst xmlns:a="http://schemas.openxmlformats.org/drawingml/2006/main">
              <a:ext uri="{FF2B5EF4-FFF2-40B4-BE49-F238E27FC236}">
                <a16:creationId xmlns:a16="http://schemas.microsoft.com/office/drawing/2014/main" id="{4B8F368F-50DC-4A39-8775-C9D19E3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291465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25" name="method-safety-footer">
            <a:extLst xmlns:a="http://schemas.openxmlformats.org/drawingml/2006/main">
              <a:ext uri="{FF2B5EF4-FFF2-40B4-BE49-F238E27FC236}">
                <a16:creationId xmlns:a16="http://schemas.microsoft.com/office/drawing/2014/main" id="{57741913-0520-4E14-B96C-B2ED2E2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0425" y="292417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C94C5F"/>
                </a:solidFill>
              </a:defRPr>
            </a:pPr>
            <a:r>
              <a:rPr sz="2475" b="1">
                <a:solidFill>
                  <a:srgbClr val="C94C5F"/>
                </a:solidFill>
              </a:rPr>
              <a:t>CLARIFY OR NO-ANSWER</a:t>
            </a:r>
          </a:p>
        </p:txBody>
      </p:sp>
      <p:sp>
        <p:nvSpPr>
          <p:cNvPr id="126" name="results-panel">
            <a:extLst xmlns:a="http://schemas.openxmlformats.org/drawingml/2006/main">
              <a:ext uri="{FF2B5EF4-FFF2-40B4-BE49-F238E27FC236}">
                <a16:creationId xmlns:a16="http://schemas.microsoft.com/office/drawing/2014/main" id="{30FEC79E-723D-4CAD-AC07-ACBAEB8F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623250"/>
            <a:ext cx="8572500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7" name="results-accent">
            <a:extLst xmlns:a="http://schemas.openxmlformats.org/drawingml/2006/main">
              <a:ext uri="{FF2B5EF4-FFF2-40B4-BE49-F238E27FC236}">
                <a16:creationId xmlns:a16="http://schemas.microsoft.com/office/drawing/2014/main" id="{E4425041-D2E1-40C1-BA14-45B04157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623250"/>
            <a:ext cx="1143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28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62C60F0F-0645-4BB0-848A-D68195FA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RESULTS</a:t>
            </a:r>
          </a:p>
        </p:txBody>
      </p:sp>
      <p:sp>
        <p:nvSpPr>
          <p:cNvPr id="129" name="results-heading-line">
            <a:extLst xmlns:a="http://schemas.openxmlformats.org/drawingml/2006/main">
              <a:ext uri="{FF2B5EF4-FFF2-40B4-BE49-F238E27FC236}">
                <a16:creationId xmlns:a16="http://schemas.microsoft.com/office/drawing/2014/main" id="{5D8B995C-40D4-4515-9161-A93610B7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75725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30" name="cases-value">
            <a:extLst xmlns:a="http://schemas.openxmlformats.org/drawingml/2006/main">
              <a:ext uri="{FF2B5EF4-FFF2-40B4-BE49-F238E27FC236}">
                <a16:creationId xmlns:a16="http://schemas.microsoft.com/office/drawing/2014/main" id="{C2614428-46F6-44B0-BEAE-D2945FD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18625"/>
            <a:ext cx="3667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76BB3"/>
                </a:solidFill>
              </a:defRPr>
            </a:pPr>
            <a:r>
              <a:rPr sz="4950" b="1">
                <a:solidFill>
                  <a:srgbClr val="176BB3"/>
                </a:solidFill>
              </a:rPr>
              <a:t>1,600+</a:t>
            </a:r>
          </a:p>
        </p:txBody>
      </p:sp>
      <p:sp>
        <p:nvSpPr>
          <p:cNvPr id="131" name="cases-label">
            <a:extLst xmlns:a="http://schemas.openxmlformats.org/drawingml/2006/main">
              <a:ext uri="{FF2B5EF4-FFF2-40B4-BE49-F238E27FC236}">
                <a16:creationId xmlns:a16="http://schemas.microsoft.com/office/drawing/2014/main" id="{F7C0B856-9C08-409F-B99F-6D1FA603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404425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EVALUATION CASES</a:t>
            </a:r>
          </a:p>
        </p:txBody>
      </p:sp>
      <p:sp>
        <p:nvSpPr>
          <p:cNvPr id="132" name="pass-value">
            <a:extLst xmlns:a="http://schemas.openxmlformats.org/drawingml/2006/main">
              <a:ext uri="{FF2B5EF4-FFF2-40B4-BE49-F238E27FC236}">
                <a16:creationId xmlns:a16="http://schemas.microsoft.com/office/drawing/2014/main" id="{00048968-495A-4C55-A324-9477E436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18625"/>
            <a:ext cx="3667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2866F"/>
                </a:solidFill>
              </a:defRPr>
            </a:pPr>
            <a:r>
              <a:rPr sz="4950" b="1">
                <a:solidFill>
                  <a:srgbClr val="12866F"/>
                </a:solidFill>
              </a:rPr>
              <a:t>94.75%</a:t>
            </a:r>
          </a:p>
        </p:txBody>
      </p:sp>
      <p:sp>
        <p:nvSpPr>
          <p:cNvPr id="133" name="pass-label">
            <a:extLst xmlns:a="http://schemas.openxmlformats.org/drawingml/2006/main">
              <a:ext uri="{FF2B5EF4-FFF2-40B4-BE49-F238E27FC236}">
                <a16:creationId xmlns:a16="http://schemas.microsoft.com/office/drawing/2014/main" id="{A88CE128-DEA2-41F2-88BA-AB865CE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04425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PASS RATE</a:t>
            </a:r>
          </a:p>
        </p:txBody>
      </p:sp>
      <p:sp>
        <p:nvSpPr>
          <p:cNvPr id="134" name="avg-value">
            <a:extLst xmlns:a="http://schemas.openxmlformats.org/drawingml/2006/main">
              <a:ext uri="{FF2B5EF4-FFF2-40B4-BE49-F238E27FC236}">
                <a16:creationId xmlns:a16="http://schemas.microsoft.com/office/drawing/2014/main" id="{8495F2EA-E114-4C3C-B54B-9FFF6D9C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290250"/>
            <a:ext cx="3667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E9752A"/>
                </a:solidFill>
              </a:defRPr>
            </a:pPr>
            <a:r>
              <a:rPr sz="4950" b="1">
                <a:solidFill>
                  <a:srgbClr val="E9752A"/>
                </a:solidFill>
              </a:rPr>
              <a:t>2.31 s</a:t>
            </a:r>
          </a:p>
        </p:txBody>
      </p:sp>
      <p:sp>
        <p:nvSpPr>
          <p:cNvPr id="135" name="avg-label">
            <a:extLst xmlns:a="http://schemas.openxmlformats.org/drawingml/2006/main">
              <a:ext uri="{FF2B5EF4-FFF2-40B4-BE49-F238E27FC236}">
                <a16:creationId xmlns:a16="http://schemas.microsoft.com/office/drawing/2014/main" id="{D9A88EA9-3F74-4F5C-8D72-1EBA9782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9760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AVERAGE LATENCY</a:t>
            </a:r>
          </a:p>
        </p:txBody>
      </p:sp>
      <p:sp>
        <p:nvSpPr>
          <p:cNvPr id="136" name="p95-value">
            <a:extLst xmlns:a="http://schemas.openxmlformats.org/drawingml/2006/main">
              <a:ext uri="{FF2B5EF4-FFF2-40B4-BE49-F238E27FC236}">
                <a16:creationId xmlns:a16="http://schemas.microsoft.com/office/drawing/2014/main" id="{CB19B72A-6F51-46C8-9B21-2732E1E3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290250"/>
            <a:ext cx="3667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C94C5F"/>
                </a:solidFill>
              </a:defRPr>
            </a:pPr>
            <a:r>
              <a:rPr sz="4950" b="1">
                <a:solidFill>
                  <a:srgbClr val="C94C5F"/>
                </a:solidFill>
              </a:rPr>
              <a:t>12.53 s</a:t>
            </a:r>
          </a:p>
        </p:txBody>
      </p:sp>
      <p:sp>
        <p:nvSpPr>
          <p:cNvPr id="137" name="p95-label">
            <a:extLst xmlns:a="http://schemas.openxmlformats.org/drawingml/2006/main">
              <a:ext uri="{FF2B5EF4-FFF2-40B4-BE49-F238E27FC236}">
                <a16:creationId xmlns:a16="http://schemas.microsoft.com/office/drawing/2014/main" id="{E2C59E15-8025-411E-B732-F900A62A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9760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P95 LATENCY</a:t>
            </a:r>
          </a:p>
        </p:txBody>
      </p:sp>
      <p:sp>
        <p:nvSpPr>
          <p:cNvPr id="138" name="result-finding">
            <a:extLst xmlns:a="http://schemas.openxmlformats.org/drawingml/2006/main">
              <a:ext uri="{FF2B5EF4-FFF2-40B4-BE49-F238E27FC236}">
                <a16:creationId xmlns:a16="http://schemas.microsoft.com/office/drawing/2014/main" id="{7A47E8A1-4233-47ED-ACBF-FB9D2351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57125"/>
            <a:ext cx="7762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C8D4DE"/>
            </a:solidFill>
            <a:prstDash val="solid"/>
          </a:ln>
        </p:spPr>
      </p:sp>
      <p:sp>
        <p:nvSpPr>
          <p:cNvPr id="139" name="result-finding-text">
            <a:extLst xmlns:a="http://schemas.openxmlformats.org/drawingml/2006/main">
              <a:ext uri="{FF2B5EF4-FFF2-40B4-BE49-F238E27FC236}">
                <a16:creationId xmlns:a16="http://schemas.microsoft.com/office/drawing/2014/main" id="{4F4C67F9-EE5A-4BA7-9C55-539F8D6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052375"/>
            <a:ext cx="728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A2A48"/>
                </a:solidFill>
              </a:defRPr>
            </a:pPr>
            <a:r>
              <a:rPr sz="2550" b="1">
                <a:solidFill>
                  <a:srgbClr val="0A2A48"/>
                </a:solidFill>
              </a:rPr>
              <a:t>Average meets the target; P95 remains above 10s.</a:t>
            </a:r>
          </a:p>
        </p:txBody>
      </p:sp>
      <p:sp>
        <p:nvSpPr>
          <p:cNvPr id="140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B89179A1-E1DE-4F97-8F9F-B97C0E77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623250"/>
            <a:ext cx="11811000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1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E2DD9264-D9E1-4B44-99A8-9DCBC7E9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623250"/>
            <a:ext cx="1143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142" name="conclusion-heading">
            <a:extLst xmlns:a="http://schemas.openxmlformats.org/drawingml/2006/main">
              <a:ext uri="{FF2B5EF4-FFF2-40B4-BE49-F238E27FC236}">
                <a16:creationId xmlns:a16="http://schemas.microsoft.com/office/drawing/2014/main" id="{2391B209-B14E-4F15-B5A5-5FEF2B91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813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CONCLUSION</a:t>
            </a:r>
          </a:p>
        </p:txBody>
      </p:sp>
      <p:sp>
        <p:nvSpPr>
          <p:cNvPr id="143" name="conclusion-heading-line">
            <a:extLst xmlns:a="http://schemas.openxmlformats.org/drawingml/2006/main">
              <a:ext uri="{FF2B5EF4-FFF2-40B4-BE49-F238E27FC236}">
                <a16:creationId xmlns:a16="http://schemas.microsoft.com/office/drawing/2014/main" id="{35863ABE-E163-4983-A364-4C154B2B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375725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144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913F80F1-C1CD-48EF-8FE9-9855524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718625"/>
            <a:ext cx="11049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A3A"/>
                </a:solidFill>
              </a:defRPr>
            </a:pPr>
            <a:r>
              <a:rPr sz="2850" b="0">
                <a:solidFill>
                  <a:srgbClr val="172A3A"/>
                </a:solidFill>
              </a:rPr>
              <a:t>Structured routes provide speed and exactness. BGE-M3 expands coverage for long documents and newly added knowledge. Typhoon is gated to preserve factual control and latency. The current average meets the target, while tail latency and concurrent-user queueing remain the main production risks.</a:t>
            </a:r>
          </a:p>
        </p:txBody>
      </p:sp>
      <p:sp>
        <p:nvSpPr>
          <p:cNvPr id="145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B89DF66F-D9F1-444D-A1C1-E0C1E971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433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858B8"/>
                </a:solidFill>
              </a:defRPr>
            </a:pPr>
            <a:r>
              <a:rPr sz="2700" b="1">
                <a:solidFill>
                  <a:srgbClr val="6858B8"/>
                </a:solidFill>
              </a:rPr>
              <a:t>SOURCES</a:t>
            </a:r>
          </a:p>
        </p:txBody>
      </p:sp>
      <p:sp>
        <p:nvSpPr>
          <p:cNvPr id="146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E6BCF51A-2469-4C47-9B2B-68B8EEBC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90950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536879"/>
                </a:solidFill>
              </a:defRPr>
            </a:pPr>
            <a:r>
              <a:rPr sz="2475" b="0">
                <a:solidFill>
                  <a:srgbClr val="536879"/>
                </a:solidFill>
              </a:rPr>
              <a:t>PSU Esports Studio website  |  Typhoon2.5-Qwen3-4B  |  BGE-M3  |  Project evaluation logs</a:t>
            </a:r>
          </a:p>
        </p:txBody>
      </p:sp>
      <p:sp>
        <p:nvSpPr>
          <p:cNvPr id="147" name="status-panel">
            <a:extLst xmlns:a="http://schemas.openxmlformats.org/drawingml/2006/main">
              <a:ext uri="{FF2B5EF4-FFF2-40B4-BE49-F238E27FC236}">
                <a16:creationId xmlns:a16="http://schemas.microsoft.com/office/drawing/2014/main" id="{E0E45027-A547-4607-B7B0-4E58029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3623250"/>
            <a:ext cx="7315200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8" name="status-accent">
            <a:extLst xmlns:a="http://schemas.openxmlformats.org/drawingml/2006/main">
              <a:ext uri="{FF2B5EF4-FFF2-40B4-BE49-F238E27FC236}">
                <a16:creationId xmlns:a16="http://schemas.microsoft.com/office/drawing/2014/main" id="{9E1144D3-3816-44DC-943A-A25BA4E4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3623250"/>
            <a:ext cx="1143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149" name="status-heading">
            <a:extLst xmlns:a="http://schemas.openxmlformats.org/drawingml/2006/main">
              <a:ext uri="{FF2B5EF4-FFF2-40B4-BE49-F238E27FC236}">
                <a16:creationId xmlns:a16="http://schemas.microsoft.com/office/drawing/2014/main" id="{3BCCCD8D-5447-4B22-A0AD-8864C58D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3813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PROJECT STATUS</a:t>
            </a:r>
          </a:p>
        </p:txBody>
      </p:sp>
      <p:sp>
        <p:nvSpPr>
          <p:cNvPr id="150" name="status-heading-line">
            <a:extLst xmlns:a="http://schemas.openxmlformats.org/drawingml/2006/main">
              <a:ext uri="{FF2B5EF4-FFF2-40B4-BE49-F238E27FC236}">
                <a16:creationId xmlns:a16="http://schemas.microsoft.com/office/drawing/2014/main" id="{E21DA1A9-8999-4E31-B187-59F3A800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4375725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151" name="status-label-0">
            <a:extLst xmlns:a="http://schemas.openxmlformats.org/drawingml/2006/main">
              <a:ext uri="{FF2B5EF4-FFF2-40B4-BE49-F238E27FC236}">
                <a16:creationId xmlns:a16="http://schemas.microsoft.com/office/drawing/2014/main" id="{A0DB7B73-D23A-43DA-96E8-337B366D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46900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A3A"/>
                </a:solidFill>
              </a:defRPr>
            </a:pPr>
            <a:r>
              <a:rPr sz="2550" b="1">
                <a:solidFill>
                  <a:srgbClr val="172A3A"/>
                </a:solidFill>
              </a:rPr>
              <a:t>FAQ CHATBOT</a:t>
            </a:r>
          </a:p>
        </p:txBody>
      </p:sp>
      <p:sp>
        <p:nvSpPr>
          <p:cNvPr id="152" name="status-chip-0">
            <a:extLst xmlns:a="http://schemas.openxmlformats.org/drawingml/2006/main">
              <a:ext uri="{FF2B5EF4-FFF2-40B4-BE49-F238E27FC236}">
                <a16:creationId xmlns:a16="http://schemas.microsoft.com/office/drawing/2014/main" id="{F50A08A6-4C83-44FD-A27C-12A25B33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0" y="34728150"/>
            <a:ext cx="3143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53" name="status-chip-text-0">
            <a:extLst xmlns:a="http://schemas.openxmlformats.org/drawingml/2006/main">
              <a:ext uri="{FF2B5EF4-FFF2-40B4-BE49-F238E27FC236}">
                <a16:creationId xmlns:a16="http://schemas.microsoft.com/office/drawing/2014/main" id="{52458153-2C5B-460A-AFA8-C7ACA43F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34747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154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351DA5FF-A0B4-4220-AEE7-271C6518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5433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A3A"/>
                </a:solidFill>
              </a:defRPr>
            </a:pPr>
            <a:r>
              <a:rPr sz="2550" b="1">
                <a:solidFill>
                  <a:srgbClr val="172A3A"/>
                </a:solidFill>
              </a:rPr>
              <a:t>CHECK SLOT</a:t>
            </a:r>
          </a:p>
        </p:txBody>
      </p:sp>
      <p:sp>
        <p:nvSpPr>
          <p:cNvPr id="155" name="status-chip-1">
            <a:extLst xmlns:a="http://schemas.openxmlformats.org/drawingml/2006/main">
              <a:ext uri="{FF2B5EF4-FFF2-40B4-BE49-F238E27FC236}">
                <a16:creationId xmlns:a16="http://schemas.microsoft.com/office/drawing/2014/main" id="{456F00D3-4671-4AF6-9C7C-D0866EA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0" y="35471100"/>
            <a:ext cx="3143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156" name="status-chip-text-1">
            <a:extLst xmlns:a="http://schemas.openxmlformats.org/drawingml/2006/main">
              <a:ext uri="{FF2B5EF4-FFF2-40B4-BE49-F238E27FC236}">
                <a16:creationId xmlns:a16="http://schemas.microsoft.com/office/drawing/2014/main" id="{E628B70C-1998-4996-964C-0FEE021D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354901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WAITING API</a:t>
            </a:r>
          </a:p>
        </p:txBody>
      </p:sp>
      <p:sp>
        <p:nvSpPr>
          <p:cNvPr id="157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E9852074-5822-4025-976D-5299CBDA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61759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A3A"/>
                </a:solidFill>
              </a:defRPr>
            </a:pPr>
            <a:r>
              <a:rPr sz="2550" b="1">
                <a:solidFill>
                  <a:srgbClr val="172A3A"/>
                </a:solidFill>
              </a:rPr>
              <a:t>ADMIN INPUT</a:t>
            </a:r>
          </a:p>
        </p:txBody>
      </p:sp>
      <p:sp>
        <p:nvSpPr>
          <p:cNvPr id="158" name="status-chip-2">
            <a:extLst xmlns:a="http://schemas.openxmlformats.org/drawingml/2006/main">
              <a:ext uri="{FF2B5EF4-FFF2-40B4-BE49-F238E27FC236}">
                <a16:creationId xmlns:a16="http://schemas.microsoft.com/office/drawing/2014/main" id="{7CEF865F-6B52-4487-A4F6-9E5AA16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0" y="36214050"/>
            <a:ext cx="3143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D91D5"/>
          </a:solidFill>
          <a:ln xmlns:a="http://schemas.openxmlformats.org/drawingml/2006/main" w="0">
            <a:solidFill>
              <a:srgbClr val="2D91D5"/>
            </a:solidFill>
            <a:prstDash val="solid"/>
          </a:ln>
        </p:spPr>
      </p:sp>
      <p:sp>
        <p:nvSpPr>
          <p:cNvPr id="159" name="status-chip-text-2">
            <a:extLst xmlns:a="http://schemas.openxmlformats.org/drawingml/2006/main">
              <a:ext uri="{FF2B5EF4-FFF2-40B4-BE49-F238E27FC236}">
                <a16:creationId xmlns:a16="http://schemas.microsoft.com/office/drawing/2014/main" id="{AE00B32C-E679-4A24-89D8-A400FF0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362331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160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5156A0AF-48FA-47AF-8127-4494F03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69189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A3A"/>
                </a:solidFill>
              </a:defRPr>
            </a:pPr>
            <a:r>
              <a:rPr sz="2550" b="1">
                <a:solidFill>
                  <a:srgbClr val="172A3A"/>
                </a:solidFill>
              </a:rPr>
              <a:t>BOOKING</a:t>
            </a:r>
          </a:p>
        </p:txBody>
      </p:sp>
      <p:sp>
        <p:nvSpPr>
          <p:cNvPr id="161" name="status-chip-3">
            <a:extLst xmlns:a="http://schemas.openxmlformats.org/drawingml/2006/main">
              <a:ext uri="{FF2B5EF4-FFF2-40B4-BE49-F238E27FC236}">
                <a16:creationId xmlns:a16="http://schemas.microsoft.com/office/drawing/2014/main" id="{9058D9AD-0664-427F-83C9-439DCFF8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0" y="36957000"/>
            <a:ext cx="3143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C94C5F"/>
          </a:solidFill>
          <a:ln xmlns:a="http://schemas.openxmlformats.org/drawingml/2006/main" w="0">
            <a:solidFill>
              <a:srgbClr val="C94C5F"/>
            </a:solidFill>
            <a:prstDash val="solid"/>
          </a:ln>
        </p:spPr>
      </p:sp>
      <p:sp>
        <p:nvSpPr>
          <p:cNvPr id="162" name="status-chip-text-3">
            <a:extLst xmlns:a="http://schemas.openxmlformats.org/drawingml/2006/main">
              <a:ext uri="{FF2B5EF4-FFF2-40B4-BE49-F238E27FC236}">
                <a16:creationId xmlns:a16="http://schemas.microsoft.com/office/drawing/2014/main" id="{A48DDC43-CDC3-4F06-B6BD-9B14953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369760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163" name="next-title">
            <a:extLst xmlns:a="http://schemas.openxmlformats.org/drawingml/2006/main">
              <a:ext uri="{FF2B5EF4-FFF2-40B4-BE49-F238E27FC236}">
                <a16:creationId xmlns:a16="http://schemas.microsoft.com/office/drawing/2014/main" id="{5FAE4CD9-2348-44A3-A66B-7D0F4D9F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78142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B3"/>
                </a:solidFill>
              </a:defRPr>
            </a:pPr>
            <a:r>
              <a:rPr sz="2550" b="1">
                <a:solidFill>
                  <a:srgbClr val="176BB3"/>
                </a:solidFill>
              </a:rPr>
              <a:t>NEXT</a:t>
            </a:r>
          </a:p>
        </p:txBody>
      </p:sp>
      <p:sp>
        <p:nvSpPr>
          <p:cNvPr id="164" name="next-body">
            <a:extLst xmlns:a="http://schemas.openxmlformats.org/drawingml/2006/main">
              <a:ext uri="{FF2B5EF4-FFF2-40B4-BE49-F238E27FC236}">
                <a16:creationId xmlns:a16="http://schemas.microsoft.com/office/drawing/2014/main" id="{A4373F2A-CB74-434A-8BC2-A9C0A151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38195250"/>
            <a:ext cx="6429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P95 &lt; 10s  |  Multi-user load test</a:t>
            </a:r>
          </a:p>
          <a:p xmlns:a="http://schemas.openxmlformats.org/drawingml/2006/main">
            <a:pPr algn="l"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Shared LLM queue  |  WordPress Slot API</a:t>
            </a:r>
          </a:p>
        </p:txBody>
      </p:sp>
    </p:spTree>
    <p:extLst>
      <p:ext uri="{BB962C8B-B14F-4D97-AF65-F5344CB8AC3E}">
        <p14:creationId xmlns:p14="http://schemas.microsoft.com/office/powerpoint/2010/main" val="451478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2026-08-27T17:00:23.2640000Z</dcterms:created>
  <dcterms:modified xsi:type="dcterms:W3CDTF">2026-08-27T17:00:23.2640000Z</dcterms:modified>
</coreProperties>
</file>