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adc42bd6ec4f7c" /><Relationship Type="http://schemas.openxmlformats.org/officeDocument/2006/relationships/extended-properties" Target="/docProps/app.xml" Id="Rfa8d4e1de80544a2" /><Relationship Type="http://schemas.openxmlformats.org/officeDocument/2006/relationships/officeDocument" Target="/ppt/presentation.xml" Id="Rcf34f904e98f40cd" /></Relationships>
</file>

<file path=ppt/presentation.xml><?xml version="1.0" encoding="utf-8"?>
<p:presentation xmlns:p="http://schemas.openxmlformats.org/presentationml/2006/main">
  <p:sldMasterIdLst>
    <p:sldMasterId xmlns:r="http://schemas.openxmlformats.org/officeDocument/2006/relationships" id="2147483648" r:id="R96ba5f11e7004a36"/>
  </p:sldMasterIdLst>
  <p:notesMasterIdLst>
    <p:notesMasterId xmlns:r="http://schemas.openxmlformats.org/officeDocument/2006/relationships" r:id="R3bdcb882fe184129"/>
  </p:notesMasterIdLst>
  <p:sldIdLst>
    <p:sldId xmlns:r="http://schemas.openxmlformats.org/officeDocument/2006/relationships" id="256" r:id="Rd6fd5169003648e6"/>
  </p:sldIdLst>
  <p:sldSz cx="30275784" cy="42806112"/>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573925c3ee49bf" /><Relationship Type="http://schemas.openxmlformats.org/officeDocument/2006/relationships/slideMaster" Target="/ppt/slideMasters/slideMaster1.xml" Id="R96ba5f11e7004a36" /><Relationship Type="http://schemas.openxmlformats.org/officeDocument/2006/relationships/notesMaster" Target="/ppt/notesMasters/notesMaster1.xml" Id="R3bdcb882fe184129" /><Relationship Type="http://schemas.openxmlformats.org/officeDocument/2006/relationships/presProps" Target="/ppt/presProps.xml" Id="Rf3b8936367ea4dfb" /><Relationship Type="http://schemas.openxmlformats.org/officeDocument/2006/relationships/tableStyles" Target="/ppt/tableStyles.xml" Id="R93f744bbd73a49be" /><Relationship Type="http://schemas.openxmlformats.org/officeDocument/2006/relationships/slide" Target="/ppt/slides/slide1.xml" Id="Rd6fd5169003648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11922e7aa644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070b8657394593" /><Relationship Type="http://schemas.openxmlformats.org/officeDocument/2006/relationships/notesMaster" Target="/ppt/notesMasters/notesMaster1.xml" Id="R7860f57230cd40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Official A0 background supplied by the user: D:/Download New/SuperAI6_PosterA0-Template_PNG.png</a:t>
            </a:r>
          </a:p>
          <a:p xmlns:a="http://schemas.openxmlformats.org/drawingml/2006/main">
            <a:r>
              <a:t>PSU Esports Studio logo supplied by the user: C:/Users/Chokhun/Downloads/Sticker.pdf.png</a:t>
            </a:r>
          </a:p>
          <a:p xmlns:a="http://schemas.openxmlformats.org/drawingml/2006/main">
            <a:r>
              <a:t>Design references supplied by the user: D:/Download New/_Real-Time Conversational AI Pipeline Poster.pdf; C:/Users/Chokhun/AppData/Local/Temp/1.png; C:/Users/Chokhun/AppData/Local/Temp/codex-clipboard-83d3ecea-c793-438d-83d8-9c66c7f7bb4a.png</a:t>
            </a:r>
          </a:p>
          <a:p xmlns:a="http://schemas.openxmlformats.org/drawingml/2006/main">
            <a:r>
              <a:t>Current architecture and evaluation: project docs/43, docs/45-46, and daily logs dated 2026-08-27.</a:t>
            </a:r>
          </a:p>
          <a:p xmlns:a="http://schemas.openxmlformats.org/drawingml/2006/main">
            <a:r>
              <a:t>PSU Esports Studio official website: https://esports.phuket.psu.ac.th/</a:t>
            </a:r>
          </a:p>
          <a:p xmlns:a="http://schemas.openxmlformats.org/drawingml/2006/main">
            <a:r>
              <a:t>Typhoon model card: https://huggingface.co/typhoon-ai/typhoon2.5-qwen3-4b</a:t>
            </a:r>
          </a:p>
          <a:p xmlns:a="http://schemas.openxmlformats.org/drawingml/2006/main">
            <a:r>
              <a:t>BGE-M3 paper: https://arxiv.org/abs/2402.03216</a:t>
            </a:r>
          </a:p>
          <a:p xmlns:a="http://schemas.openxmlformats.org/drawingml/2006/main">
            <a:r>
              <a:t>Hero illustration generated with the built-in image generation tool on 2026-08-27.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c97692c9f14f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f27fd45ae945ed" /><Relationship Type="http://schemas.openxmlformats.org/officeDocument/2006/relationships/slideLayout" Target="/ppt/slideLayouts/slideLayout1.xml" Id="R1490ed4232b94f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90ed4232b94f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c8fafb5f3c433e" /><Relationship Type="http://schemas.openxmlformats.org/officeDocument/2006/relationships/image" Target="/ppt/media/image.png" Id="R218574e7587b45ec" /><Relationship Type="http://schemas.openxmlformats.org/officeDocument/2006/relationships/image" Target="/ppt/media/image2.png" Id="Rc2e0b1912e1e455a" /><Relationship Type="http://schemas.openxmlformats.org/officeDocument/2006/relationships/image" Target="/ppt/media/image3.png" Id="Rb1e2f11eac0e4ca7" /><Relationship Type="http://schemas.openxmlformats.org/officeDocument/2006/relationships/notesSlide" Target="/ppt/notesSlides/notesSlide1.xml" Id="R3003a07335cb4c8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218574e7587b45ec"/>
          <a:srcRect xmlns:a="http://schemas.openxmlformats.org/drawingml/2006/main" l="0" t="0" r="0" b="0"/>
          <a:stretch xmlns:a="http://schemas.openxmlformats.org/drawingml/2006/main">
            <a:fillRect l="0" t="0" r="0" b="0"/>
          </a:stretch>
        </p:blipFill>
        <p:spPr>
          <a:xfrm xmlns:a="http://schemas.openxmlformats.org/drawingml/2006/main">
            <a:off x="0" y="0"/>
            <a:ext cx="30275784" cy="42806112"/>
          </a:xfrm>
          <a:prstGeom xmlns:a="http://schemas.openxmlformats.org/drawingml/2006/main" prst="rect">
            <a:avLst/>
          </a:prstGeom>
        </p:spPr>
      </p:pic>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c2e0b1912e1e455a"/>
          <a:stretch xmlns:a="http://schemas.openxmlformats.org/drawingml/2006/main"/>
        </p:blipFill>
        <p:spPr>
          <a:xfrm xmlns:a="http://schemas.openxmlformats.org/drawingml/2006/main">
            <a:off x="1524000" y="6561733"/>
            <a:ext cx="4905375" cy="1430734"/>
          </a:xfrm>
          <a:prstGeom xmlns:a="http://schemas.openxmlformats.org/drawingml/2006/main" prst="rect">
            <a:avLst/>
          </a:prstGeom>
        </p:spPr>
      </p:pic>
      <p:sp>
        <p:nvSpPr>
          <p:cNvPr id="3" name="scope-label">
            <a:extLst xmlns:a="http://schemas.openxmlformats.org/drawingml/2006/main">
              <a:ext uri="{FF2B5EF4-FFF2-40B4-BE49-F238E27FC236}">
                <a16:creationId xmlns:a16="http://schemas.microsoft.com/office/drawing/2014/main" id="{9D1C1AE0-7955-44D1-B70E-146E3C232126}"/>
              </a:ext>
            </a:extLst>
          </p:cNvPr>
          <p:cNvSpPr>
            <a:spLocks xmlns:a="http://schemas.openxmlformats.org/drawingml/2006/main" noGrp="1"/>
          </p:cNvSpPr>
          <p:nvPr/>
        </p:nvSpPr>
        <p:spPr>
          <a:xfrm xmlns:a="http://schemas.openxmlformats.org/drawingml/2006/main">
            <a:off x="1571625" y="8382000"/>
            <a:ext cx="485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1B67B2"/>
                </a:solidFill>
              </a:defRPr>
            </a:pPr>
            <a:r>
              <a:rPr sz="3000" b="1">
                <a:solidFill>
                  <a:srgbClr val="1B67B2"/>
                </a:solidFill>
              </a:rPr>
              <a:t>LOCAL-FIRST WEBSITE FAQ ASSISTANT</a:t>
            </a:r>
          </a:p>
        </p:txBody>
      </p:sp>
      <p:sp>
        <p:nvSpPr>
          <p:cNvPr id="4" name="title-accent">
            <a:extLst xmlns:a="http://schemas.openxmlformats.org/drawingml/2006/main">
              <a:ext uri="{FF2B5EF4-FFF2-40B4-BE49-F238E27FC236}">
                <a16:creationId xmlns:a16="http://schemas.microsoft.com/office/drawing/2014/main" id="{686E0AA7-366D-4EE7-A7F9-E146A595B712}"/>
              </a:ext>
            </a:extLst>
          </p:cNvPr>
          <p:cNvSpPr>
            <a:spLocks xmlns:a="http://schemas.openxmlformats.org/drawingml/2006/main" noGrp="1"/>
          </p:cNvSpPr>
          <p:nvPr/>
        </p:nvSpPr>
        <p:spPr>
          <a:xfrm xmlns:a="http://schemas.openxmlformats.org/drawingml/2006/main">
            <a:off x="6905625" y="6191250"/>
            <a:ext cx="171450" cy="4000500"/>
          </a:xfrm>
          <a:prstGeom xmlns:a="http://schemas.openxmlformats.org/drawingml/2006/main" prst="rect">
            <a:avLst/>
          </a:prstGeom>
          <a:solidFill xmlns:a="http://schemas.openxmlformats.org/drawingml/2006/main">
            <a:srgbClr val="E86F22"/>
          </a:solidFill>
          <a:ln xmlns:a="http://schemas.openxmlformats.org/drawingml/2006/main" w="0">
            <a:solidFill>
              <a:srgbClr val="E86F22"/>
            </a:solidFill>
            <a:prstDash val="solid"/>
          </a:ln>
        </p:spPr>
      </p:sp>
      <p:sp>
        <p:nvSpPr>
          <p:cNvPr id="5" name="project-title">
            <a:extLst xmlns:a="http://schemas.openxmlformats.org/drawingml/2006/main">
              <a:ext uri="{FF2B5EF4-FFF2-40B4-BE49-F238E27FC236}">
                <a16:creationId xmlns:a16="http://schemas.microsoft.com/office/drawing/2014/main" id="{EDB837DC-E8C0-485A-9899-E181AAA3069B}"/>
              </a:ext>
            </a:extLst>
          </p:cNvPr>
          <p:cNvSpPr>
            <a:spLocks xmlns:a="http://schemas.openxmlformats.org/drawingml/2006/main" noGrp="1"/>
          </p:cNvSpPr>
          <p:nvPr/>
        </p:nvSpPr>
        <p:spPr>
          <a:xfrm xmlns:a="http://schemas.openxmlformats.org/drawingml/2006/main">
            <a:off x="7524750" y="6238875"/>
            <a:ext cx="21336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150" b="1">
                <a:solidFill>
                  <a:srgbClr val="0A2342"/>
                </a:solidFill>
              </a:defRPr>
            </a:pPr>
            <a:r>
              <a:rPr sz="6150" b="1">
                <a:solidFill>
                  <a:srgbClr val="0A2342"/>
                </a:solidFill>
              </a:rPr>
              <a:t>AI Chatbot for Multi-Route Hybrid</a:t>
            </a:r>
          </a:p>
          <a:p xmlns:a="http://schemas.openxmlformats.org/drawingml/2006/main">
            <a:pPr algn="l">
              <a:defRPr sz="6150" b="1">
                <a:solidFill>
                  <a:srgbClr val="0A2342"/>
                </a:solidFill>
              </a:defRPr>
            </a:pPr>
            <a:r>
              <a:rPr sz="6150" b="1">
                <a:solidFill>
                  <a:srgbClr val="0A2342"/>
                </a:solidFill>
              </a:rPr>
              <a:t>Esports Knowledge Base</a:t>
            </a:r>
          </a:p>
        </p:txBody>
      </p:sp>
      <p:sp>
        <p:nvSpPr>
          <p:cNvPr id="6" name="project-tagline">
            <a:extLst xmlns:a="http://schemas.openxmlformats.org/drawingml/2006/main">
              <a:ext uri="{FF2B5EF4-FFF2-40B4-BE49-F238E27FC236}">
                <a16:creationId xmlns:a16="http://schemas.microsoft.com/office/drawing/2014/main" id="{125CFB17-BF90-4281-A34A-4D6EFE240A09}"/>
              </a:ext>
            </a:extLst>
          </p:cNvPr>
          <p:cNvSpPr>
            <a:spLocks xmlns:a="http://schemas.openxmlformats.org/drawingml/2006/main" noGrp="1"/>
          </p:cNvSpPr>
          <p:nvPr/>
        </p:nvSpPr>
        <p:spPr>
          <a:xfrm xmlns:a="http://schemas.openxmlformats.org/drawingml/2006/main">
            <a:off x="7524750" y="8334375"/>
            <a:ext cx="2133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B67B2"/>
                </a:solidFill>
              </a:defRPr>
            </a:pPr>
            <a:r>
              <a:rPr sz="3375" b="1">
                <a:solidFill>
                  <a:srgbClr val="1B67B2"/>
                </a:solidFill>
              </a:rPr>
              <a:t>Evidence-grounded answers through deterministic routing, semantic retrieval, and gated local LLM assistance</a:t>
            </a:r>
          </a:p>
        </p:txBody>
      </p:sp>
      <p:sp>
        <p:nvSpPr>
          <p:cNvPr id="7" name="author">
            <a:extLst xmlns:a="http://schemas.openxmlformats.org/drawingml/2006/main">
              <a:ext uri="{FF2B5EF4-FFF2-40B4-BE49-F238E27FC236}">
                <a16:creationId xmlns:a16="http://schemas.microsoft.com/office/drawing/2014/main" id="{7E938760-F52D-46A3-B11D-BA7B8C54FD12}"/>
              </a:ext>
            </a:extLst>
          </p:cNvPr>
          <p:cNvSpPr>
            <a:spLocks xmlns:a="http://schemas.openxmlformats.org/drawingml/2006/main" noGrp="1"/>
          </p:cNvSpPr>
          <p:nvPr/>
        </p:nvSpPr>
        <p:spPr>
          <a:xfrm xmlns:a="http://schemas.openxmlformats.org/drawingml/2006/main">
            <a:off x="7524750" y="9096375"/>
            <a:ext cx="2133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4283C"/>
                </a:solidFill>
              </a:defRPr>
            </a:pPr>
            <a:r>
              <a:rPr sz="3750" b="1">
                <a:solidFill>
                  <a:srgbClr val="14283C"/>
                </a:solidFill>
              </a:rPr>
              <a:t>Presented by นายภาสวุฒิ ชูติประชากิจ  |  Trainee ID 600584</a:t>
            </a:r>
          </a:p>
        </p:txBody>
      </p:sp>
      <p:sp>
        <p:nvSpPr>
          <p:cNvPr id="8" name="host">
            <a:extLst xmlns:a="http://schemas.openxmlformats.org/drawingml/2006/main">
              <a:ext uri="{FF2B5EF4-FFF2-40B4-BE49-F238E27FC236}">
                <a16:creationId xmlns:a16="http://schemas.microsoft.com/office/drawing/2014/main" id="{2F4E5A14-0BBA-4BCC-942C-8C82674B76E5}"/>
              </a:ext>
            </a:extLst>
          </p:cNvPr>
          <p:cNvSpPr>
            <a:spLocks xmlns:a="http://schemas.openxmlformats.org/drawingml/2006/main" noGrp="1"/>
          </p:cNvSpPr>
          <p:nvPr/>
        </p:nvSpPr>
        <p:spPr>
          <a:xfrm xmlns:a="http://schemas.openxmlformats.org/drawingml/2006/main">
            <a:off x="7524750" y="9667875"/>
            <a:ext cx="2133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0">
                <a:solidFill>
                  <a:srgbClr val="536A7F"/>
                </a:solidFill>
              </a:defRPr>
            </a:pPr>
            <a:r>
              <a:rPr sz="3600" b="0">
                <a:solidFill>
                  <a:srgbClr val="536A7F"/>
                </a:solidFill>
              </a:rPr>
              <a:t>Host Organization: PSU Esports Studio - Phuket</a:t>
            </a:r>
          </a:p>
        </p:txBody>
      </p:sp>
      <p:sp>
        <p:nvSpPr>
          <p:cNvPr id="9" name="problem-objective-text">
            <a:extLst xmlns:a="http://schemas.openxmlformats.org/drawingml/2006/main">
              <a:ext uri="{FF2B5EF4-FFF2-40B4-BE49-F238E27FC236}">
                <a16:creationId xmlns:a16="http://schemas.microsoft.com/office/drawing/2014/main" id="{DD8A2A05-F4B2-4F1D-9729-30416BE898CE}"/>
              </a:ext>
            </a:extLst>
          </p:cNvPr>
          <p:cNvSpPr>
            <a:spLocks xmlns:a="http://schemas.openxmlformats.org/drawingml/2006/main" noGrp="1"/>
          </p:cNvSpPr>
          <p:nvPr/>
        </p:nvSpPr>
        <p:spPr>
          <a:xfrm xmlns:a="http://schemas.openxmlformats.org/drawingml/2006/main">
            <a:off x="1428750" y="10668000"/>
            <a:ext cx="1238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0A2342"/>
                </a:solidFill>
              </a:defRPr>
            </a:pPr>
            <a:r>
              <a:rPr sz="4350" b="1">
                <a:solidFill>
                  <a:srgbClr val="0A2342"/>
                </a:solidFill>
              </a:rPr>
              <a:t>Problem &amp; Objective</a:t>
            </a:r>
          </a:p>
        </p:txBody>
      </p:sp>
      <p:sp>
        <p:nvSpPr>
          <p:cNvPr id="10" name="problem-objective-line">
            <a:extLst xmlns:a="http://schemas.openxmlformats.org/drawingml/2006/main">
              <a:ext uri="{FF2B5EF4-FFF2-40B4-BE49-F238E27FC236}">
                <a16:creationId xmlns:a16="http://schemas.microsoft.com/office/drawing/2014/main" id="{A71B46B9-CA7B-4C9A-947C-9E3EABBBC310}"/>
              </a:ext>
            </a:extLst>
          </p:cNvPr>
          <p:cNvSpPr>
            <a:spLocks xmlns:a="http://schemas.openxmlformats.org/drawingml/2006/main" noGrp="1"/>
          </p:cNvSpPr>
          <p:nvPr/>
        </p:nvSpPr>
        <p:spPr>
          <a:xfrm xmlns:a="http://schemas.openxmlformats.org/drawingml/2006/main">
            <a:off x="1428750" y="11334750"/>
            <a:ext cx="4762500" cy="76200"/>
          </a:xfrm>
          <a:prstGeom xmlns:a="http://schemas.openxmlformats.org/drawingml/2006/main" prst="rect">
            <a:avLst/>
          </a:prstGeom>
          <a:solidFill xmlns:a="http://schemas.openxmlformats.org/drawingml/2006/main">
            <a:srgbClr val="E86F22"/>
          </a:solidFill>
          <a:ln xmlns:a="http://schemas.openxmlformats.org/drawingml/2006/main" w="0">
            <a:solidFill>
              <a:srgbClr val="E86F22"/>
            </a:solidFill>
            <a:prstDash val="solid"/>
          </a:ln>
        </p:spPr>
      </p:sp>
      <p:sp>
        <p:nvSpPr>
          <p:cNvPr id="11" name="problem-copy">
            <a:extLst xmlns:a="http://schemas.openxmlformats.org/drawingml/2006/main">
              <a:ext uri="{FF2B5EF4-FFF2-40B4-BE49-F238E27FC236}">
                <a16:creationId xmlns:a16="http://schemas.microsoft.com/office/drawing/2014/main" id="{90DB7D88-8919-4084-A06B-8B2DCBA5FBB2}"/>
              </a:ext>
            </a:extLst>
          </p:cNvPr>
          <p:cNvSpPr>
            <a:spLocks xmlns:a="http://schemas.openxmlformats.org/drawingml/2006/main" noGrp="1"/>
          </p:cNvSpPr>
          <p:nvPr/>
        </p:nvSpPr>
        <p:spPr>
          <a:xfrm xmlns:a="http://schemas.openxmlformats.org/drawingml/2006/main">
            <a:off x="1428750" y="11525250"/>
            <a:ext cx="12668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0">
                <a:solidFill>
                  <a:srgbClr val="14283C"/>
                </a:solidFill>
              </a:defRPr>
            </a:pPr>
            <a:r>
              <a:rPr sz="3000" b="0">
                <a:solidFill>
                  <a:srgbClr val="14283C"/>
                </a:solidFill>
              </a:rPr>
              <a:t>Operational facts are spread across structured records, rules, web pages, and long-form documents. Ambiguous or compound questions can select the wrong target, while unrestricted LLM use increases latency and unsupported claims.</a:t>
            </a:r>
          </a:p>
        </p:txBody>
      </p:sp>
      <p:sp>
        <p:nvSpPr>
          <p:cNvPr id="12" name="objective-copy">
            <a:extLst xmlns:a="http://schemas.openxmlformats.org/drawingml/2006/main">
              <a:ext uri="{FF2B5EF4-FFF2-40B4-BE49-F238E27FC236}">
                <a16:creationId xmlns:a16="http://schemas.microsoft.com/office/drawing/2014/main" id="{42459434-FB39-4B5A-81C8-09F814B6F1B7}"/>
              </a:ext>
            </a:extLst>
          </p:cNvPr>
          <p:cNvSpPr>
            <a:spLocks xmlns:a="http://schemas.openxmlformats.org/drawingml/2006/main" noGrp="1"/>
          </p:cNvSpPr>
          <p:nvPr/>
        </p:nvSpPr>
        <p:spPr>
          <a:xfrm xmlns:a="http://schemas.openxmlformats.org/drawingml/2006/main">
            <a:off x="1428750" y="13144500"/>
            <a:ext cx="12668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1B67B2"/>
                </a:solidFill>
              </a:defRPr>
            </a:pPr>
            <a:r>
              <a:rPr sz="3150" b="1">
                <a:solidFill>
                  <a:srgbClr val="1B67B2"/>
                </a:solidFill>
              </a:rPr>
              <a:t>OBJECTIVE  Build a local-first assistant that answers the exact user intent, cites evidence, preserves session context, and returns a safe response within a 10-second user-visible limit.</a:t>
            </a:r>
          </a:p>
        </p:txBody>
      </p:sp>
      <p:sp>
        <p:nvSpPr>
          <p:cNvPr id="13" name="hero-frame">
            <a:extLst xmlns:a="http://schemas.openxmlformats.org/drawingml/2006/main">
              <a:ext uri="{FF2B5EF4-FFF2-40B4-BE49-F238E27FC236}">
                <a16:creationId xmlns:a16="http://schemas.microsoft.com/office/drawing/2014/main" id="{11F9ABF6-1ABF-478D-A7BD-F7E807D28F86}"/>
              </a:ext>
            </a:extLst>
          </p:cNvPr>
          <p:cNvSpPr>
            <a:spLocks xmlns:a="http://schemas.openxmlformats.org/drawingml/2006/main" noGrp="1"/>
          </p:cNvSpPr>
          <p:nvPr/>
        </p:nvSpPr>
        <p:spPr>
          <a:xfrm xmlns:a="http://schemas.openxmlformats.org/drawingml/2006/main">
            <a:off x="15001875" y="10858500"/>
            <a:ext cx="13858875" cy="3667125"/>
          </a:xfrm>
          <a:prstGeom xmlns:a="http://schemas.openxmlformats.org/drawingml/2006/main" prst="roundRect">
            <a:avLst>
              <a:gd name="adj" fmla="val 3117"/>
            </a:avLst>
          </a:prstGeom>
          <a:solidFill xmlns:a="http://schemas.openxmlformats.org/drawingml/2006/main">
            <a:srgbClr val="0A2342"/>
          </a:solidFill>
          <a:ln xmlns:a="http://schemas.openxmlformats.org/drawingml/2006/main" w="0">
            <a:solidFill>
              <a:srgbClr val="0A2342"/>
            </a:solidFill>
            <a:prstDash val="solid"/>
          </a:ln>
        </p:spPr>
      </p:sp>
      <p:pic>
        <p:nvPicPr>
          <p:cNvPr id="145" name=""/>
          <p:cNvPicPr>
            <a:picLocks xmlns:a="http://schemas.openxmlformats.org/drawingml/2006/main" noChangeAspect="1"/>
          </p:cNvPicPr>
          <p:nvPr/>
        </p:nvPicPr>
        <p:blipFill>
          <a:blip xmlns:r="http://schemas.openxmlformats.org/officeDocument/2006/relationships" xmlns:a="http://schemas.openxmlformats.org/drawingml/2006/main" r:embed="Rb1e2f11eac0e4ca7"/>
          <a:srcRect xmlns:a="http://schemas.openxmlformats.org/drawingml/2006/main" l="0" t="30155" r="0" b="30155"/>
          <a:stretch xmlns:a="http://schemas.openxmlformats.org/drawingml/2006/main">
            <a:fillRect l="0" t="0" r="0" b="0"/>
          </a:stretch>
        </p:blipFill>
        <p:spPr>
          <a:xfrm xmlns:a="http://schemas.openxmlformats.org/drawingml/2006/main">
            <a:off x="15001875" y="10858500"/>
            <a:ext cx="13858875" cy="3667125"/>
          </a:xfrm>
          <a:prstGeom xmlns:a="http://schemas.openxmlformats.org/drawingml/2006/main" prst="rect">
            <a:avLst/>
          </a:prstGeom>
        </p:spPr>
      </p:pic>
      <p:sp>
        <p:nvSpPr>
          <p:cNvPr id="15" name="project-profile">
            <a:extLst xmlns:a="http://schemas.openxmlformats.org/drawingml/2006/main">
              <a:ext uri="{FF2B5EF4-FFF2-40B4-BE49-F238E27FC236}">
                <a16:creationId xmlns:a16="http://schemas.microsoft.com/office/drawing/2014/main" id="{13288231-48BE-43DF-9EC1-77BFEC44FDD6}"/>
              </a:ext>
            </a:extLst>
          </p:cNvPr>
          <p:cNvSpPr>
            <a:spLocks xmlns:a="http://schemas.openxmlformats.org/drawingml/2006/main" noGrp="1"/>
          </p:cNvSpPr>
          <p:nvPr/>
        </p:nvSpPr>
        <p:spPr>
          <a:xfrm xmlns:a="http://schemas.openxmlformats.org/drawingml/2006/main">
            <a:off x="15001875" y="14573250"/>
            <a:ext cx="13858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536A7F"/>
                </a:solidFill>
              </a:defRPr>
            </a:pPr>
            <a:r>
              <a:rPr sz="3000" b="1">
                <a:solidFill>
                  <a:srgbClr val="536A7F"/>
                </a:solidFill>
              </a:rPr>
              <a:t>42-game catalog  |  Local LLM &lt;= 10B  |  Max 2 LLM calls/request  |  Website channel</a:t>
            </a:r>
          </a:p>
        </p:txBody>
      </p:sp>
      <p:sp>
        <p:nvSpPr>
          <p:cNvPr id="16" name="architecture-text">
            <a:extLst xmlns:a="http://schemas.openxmlformats.org/drawingml/2006/main">
              <a:ext uri="{FF2B5EF4-FFF2-40B4-BE49-F238E27FC236}">
                <a16:creationId xmlns:a16="http://schemas.microsoft.com/office/drawing/2014/main" id="{A7453C0D-3E3D-40CF-B19E-589D6257A3E1}"/>
              </a:ext>
            </a:extLst>
          </p:cNvPr>
          <p:cNvSpPr>
            <a:spLocks xmlns:a="http://schemas.openxmlformats.org/drawingml/2006/main" noGrp="1"/>
          </p:cNvSpPr>
          <p:nvPr/>
        </p:nvSpPr>
        <p:spPr>
          <a:xfrm xmlns:a="http://schemas.openxmlformats.org/drawingml/2006/main">
            <a:off x="1428750" y="15192375"/>
            <a:ext cx="1333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0A2342"/>
                </a:solidFill>
              </a:defRPr>
            </a:pPr>
            <a:r>
              <a:rPr sz="4350" b="1">
                <a:solidFill>
                  <a:srgbClr val="0A2342"/>
                </a:solidFill>
              </a:rPr>
              <a:t>System Architecture</a:t>
            </a:r>
          </a:p>
        </p:txBody>
      </p:sp>
      <p:sp>
        <p:nvSpPr>
          <p:cNvPr id="17" name="architecture-line">
            <a:extLst xmlns:a="http://schemas.openxmlformats.org/drawingml/2006/main">
              <a:ext uri="{FF2B5EF4-FFF2-40B4-BE49-F238E27FC236}">
                <a16:creationId xmlns:a16="http://schemas.microsoft.com/office/drawing/2014/main" id="{5BFD976B-786B-45AE-9DB2-2FAFDF02D382}"/>
              </a:ext>
            </a:extLst>
          </p:cNvPr>
          <p:cNvSpPr>
            <a:spLocks xmlns:a="http://schemas.openxmlformats.org/drawingml/2006/main" noGrp="1"/>
          </p:cNvSpPr>
          <p:nvPr/>
        </p:nvSpPr>
        <p:spPr>
          <a:xfrm xmlns:a="http://schemas.openxmlformats.org/drawingml/2006/main">
            <a:off x="1428750" y="15859125"/>
            <a:ext cx="4762500" cy="76200"/>
          </a:xfrm>
          <a:prstGeom xmlns:a="http://schemas.openxmlformats.org/drawingml/2006/main" prst="rect">
            <a:avLst/>
          </a:prstGeom>
          <a:solidFill xmlns:a="http://schemas.openxmlformats.org/drawingml/2006/main">
            <a:srgbClr val="1B67B2"/>
          </a:solidFill>
          <a:ln xmlns:a="http://schemas.openxmlformats.org/drawingml/2006/main" w="0">
            <a:solidFill>
              <a:srgbClr val="1B67B2"/>
            </a:solidFill>
            <a:prstDash val="solid"/>
          </a:ln>
        </p:spPr>
      </p:sp>
      <p:sp>
        <p:nvSpPr>
          <p:cNvPr id="18" name="architecture-caption">
            <a:extLst xmlns:a="http://schemas.openxmlformats.org/drawingml/2006/main">
              <a:ext uri="{FF2B5EF4-FFF2-40B4-BE49-F238E27FC236}">
                <a16:creationId xmlns:a16="http://schemas.microsoft.com/office/drawing/2014/main" id="{0E48735C-93E9-4A82-87FC-206E7B293DC1}"/>
              </a:ext>
            </a:extLst>
          </p:cNvPr>
          <p:cNvSpPr>
            <a:spLocks xmlns:a="http://schemas.openxmlformats.org/drawingml/2006/main" noGrp="1"/>
          </p:cNvSpPr>
          <p:nvPr/>
        </p:nvSpPr>
        <p:spPr>
          <a:xfrm xmlns:a="http://schemas.openxmlformats.org/drawingml/2006/main">
            <a:off x="12573000" y="15240000"/>
            <a:ext cx="16287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3150" b="1">
                <a:solidFill>
                  <a:srgbClr val="536A7F"/>
                </a:solidFill>
              </a:defRPr>
            </a:pPr>
            <a:r>
              <a:rPr sz="3150" b="1">
                <a:solidFill>
                  <a:srgbClr val="536A7F"/>
                </a:solidFill>
              </a:rPr>
              <a:t>Deterministic for exact facts. Semantic for unstructured knowledge. Generative only when gated.</a:t>
            </a:r>
          </a:p>
        </p:txBody>
      </p:sp>
      <p:sp>
        <p:nvSpPr>
          <p:cNvPr id="19" name="startup-band">
            <a:extLst xmlns:a="http://schemas.openxmlformats.org/drawingml/2006/main">
              <a:ext uri="{FF2B5EF4-FFF2-40B4-BE49-F238E27FC236}">
                <a16:creationId xmlns:a16="http://schemas.microsoft.com/office/drawing/2014/main" id="{7472BA05-6A2F-4E31-A7A1-ABA853EE47C4}"/>
              </a:ext>
            </a:extLst>
          </p:cNvPr>
          <p:cNvSpPr>
            <a:spLocks xmlns:a="http://schemas.openxmlformats.org/drawingml/2006/main" noGrp="1"/>
          </p:cNvSpPr>
          <p:nvPr/>
        </p:nvSpPr>
        <p:spPr>
          <a:xfrm xmlns:a="http://schemas.openxmlformats.org/drawingml/2006/main">
            <a:off x="1428750" y="16097250"/>
            <a:ext cx="27412950" cy="876300"/>
          </a:xfrm>
          <a:prstGeom xmlns:a="http://schemas.openxmlformats.org/drawingml/2006/main" prst="roundRect">
            <a:avLst>
              <a:gd name="adj" fmla="val 13043"/>
            </a:avLst>
          </a:prstGeom>
          <a:solidFill xmlns:a="http://schemas.openxmlformats.org/drawingml/2006/main">
            <a:srgbClr val="EAF4FD"/>
          </a:solidFill>
          <a:ln xmlns:a="http://schemas.openxmlformats.org/drawingml/2006/main" w="19050">
            <a:solidFill>
              <a:srgbClr val="1B67B2"/>
            </a:solidFill>
            <a:prstDash val="solid"/>
          </a:ln>
        </p:spPr>
      </p:sp>
      <p:sp>
        <p:nvSpPr>
          <p:cNvPr id="20" name="startup-text">
            <a:extLst xmlns:a="http://schemas.openxmlformats.org/drawingml/2006/main">
              <a:ext uri="{FF2B5EF4-FFF2-40B4-BE49-F238E27FC236}">
                <a16:creationId xmlns:a16="http://schemas.microsoft.com/office/drawing/2014/main" id="{4F3E3381-B9B0-4D16-B4FE-C8DB0AC1B2ED}"/>
              </a:ext>
            </a:extLst>
          </p:cNvPr>
          <p:cNvSpPr>
            <a:spLocks xmlns:a="http://schemas.openxmlformats.org/drawingml/2006/main" noGrp="1"/>
          </p:cNvSpPr>
          <p:nvPr/>
        </p:nvSpPr>
        <p:spPr>
          <a:xfrm xmlns:a="http://schemas.openxmlformats.org/drawingml/2006/main">
            <a:off x="1762125" y="16221075"/>
            <a:ext cx="26746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1B67B2"/>
                </a:solidFill>
              </a:defRPr>
            </a:pPr>
            <a:r>
              <a:rPr sz="3000" b="1">
                <a:solidFill>
                  <a:srgbClr val="1B67B2"/>
                </a:solidFill>
              </a:rPr>
              <a:t>STARTUP + WARMUP   Load data, cache, indexes, optional BGE, and the local LLM according to runtime policy</a:t>
            </a:r>
          </a:p>
        </p:txBody>
      </p:sp>
      <p:sp>
        <p:nvSpPr>
          <p:cNvPr id="21" name="input-box">
            <a:extLst xmlns:a="http://schemas.openxmlformats.org/drawingml/2006/main">
              <a:ext uri="{FF2B5EF4-FFF2-40B4-BE49-F238E27FC236}">
                <a16:creationId xmlns:a16="http://schemas.microsoft.com/office/drawing/2014/main" id="{8C675295-221A-4367-9941-36D6CD20169C}"/>
              </a:ext>
            </a:extLst>
          </p:cNvPr>
          <p:cNvSpPr>
            <a:spLocks xmlns:a="http://schemas.openxmlformats.org/drawingml/2006/main" noGrp="1"/>
          </p:cNvSpPr>
          <p:nvPr/>
        </p:nvSpPr>
        <p:spPr>
          <a:xfrm xmlns:a="http://schemas.openxmlformats.org/drawingml/2006/main">
            <a:off x="1428750" y="17383125"/>
            <a:ext cx="8096250" cy="1571625"/>
          </a:xfrm>
          <a:prstGeom xmlns:a="http://schemas.openxmlformats.org/drawingml/2006/main" prst="roundRect">
            <a:avLst>
              <a:gd name="adj" fmla="val 7273"/>
            </a:avLst>
          </a:prstGeom>
          <a:solidFill xmlns:a="http://schemas.openxmlformats.org/drawingml/2006/main">
            <a:srgbClr val="EAF4FD"/>
          </a:solidFill>
          <a:ln xmlns:a="http://schemas.openxmlformats.org/drawingml/2006/main" w="28575">
            <a:solidFill>
              <a:srgbClr val="1B67B2"/>
            </a:solidFill>
            <a:prstDash val="solid"/>
          </a:ln>
        </p:spPr>
      </p:sp>
      <p:sp>
        <p:nvSpPr>
          <p:cNvPr id="22" name="input-code-bg">
            <a:extLst xmlns:a="http://schemas.openxmlformats.org/drawingml/2006/main">
              <a:ext uri="{FF2B5EF4-FFF2-40B4-BE49-F238E27FC236}">
                <a16:creationId xmlns:a16="http://schemas.microsoft.com/office/drawing/2014/main" id="{8718A202-03B9-4670-A43E-CE8AFD95F88F}"/>
              </a:ext>
            </a:extLst>
          </p:cNvPr>
          <p:cNvSpPr>
            <a:spLocks xmlns:a="http://schemas.openxmlformats.org/drawingml/2006/main" noGrp="1"/>
          </p:cNvSpPr>
          <p:nvPr/>
        </p:nvSpPr>
        <p:spPr>
          <a:xfrm xmlns:a="http://schemas.openxmlformats.org/drawingml/2006/main">
            <a:off x="1638300" y="17611725"/>
            <a:ext cx="590550" cy="590550"/>
          </a:xfrm>
          <a:prstGeom xmlns:a="http://schemas.openxmlformats.org/drawingml/2006/main" prst="ellipse">
            <a:avLst/>
          </a:prstGeom>
          <a:solidFill xmlns:a="http://schemas.openxmlformats.org/drawingml/2006/main">
            <a:srgbClr val="1B67B2"/>
          </a:solidFill>
          <a:ln xmlns:a="http://schemas.openxmlformats.org/drawingml/2006/main" w="0">
            <a:solidFill>
              <a:srgbClr val="1B67B2"/>
            </a:solidFill>
            <a:prstDash val="solid"/>
          </a:ln>
        </p:spPr>
      </p:sp>
      <p:sp>
        <p:nvSpPr>
          <p:cNvPr id="23" name="input-code">
            <a:extLst xmlns:a="http://schemas.openxmlformats.org/drawingml/2006/main">
              <a:ext uri="{FF2B5EF4-FFF2-40B4-BE49-F238E27FC236}">
                <a16:creationId xmlns:a16="http://schemas.microsoft.com/office/drawing/2014/main" id="{89678243-9E50-488C-B0CA-2D0A4210161F}"/>
              </a:ext>
            </a:extLst>
          </p:cNvPr>
          <p:cNvSpPr>
            <a:spLocks xmlns:a="http://schemas.openxmlformats.org/drawingml/2006/main" noGrp="1"/>
          </p:cNvSpPr>
          <p:nvPr/>
        </p:nvSpPr>
        <p:spPr>
          <a:xfrm xmlns:a="http://schemas.openxmlformats.org/drawingml/2006/main">
            <a:off x="1638300" y="176403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1</a:t>
            </a:r>
          </a:p>
        </p:txBody>
      </p:sp>
      <p:sp>
        <p:nvSpPr>
          <p:cNvPr id="24" name="input-title">
            <a:extLst xmlns:a="http://schemas.openxmlformats.org/drawingml/2006/main">
              <a:ext uri="{FF2B5EF4-FFF2-40B4-BE49-F238E27FC236}">
                <a16:creationId xmlns:a16="http://schemas.microsoft.com/office/drawing/2014/main" id="{42562F5A-2BB3-470E-9C77-B90260A90DAD}"/>
              </a:ext>
            </a:extLst>
          </p:cNvPr>
          <p:cNvSpPr>
            <a:spLocks xmlns:a="http://schemas.openxmlformats.org/drawingml/2006/main" noGrp="1"/>
          </p:cNvSpPr>
          <p:nvPr/>
        </p:nvSpPr>
        <p:spPr>
          <a:xfrm xmlns:a="http://schemas.openxmlformats.org/drawingml/2006/main">
            <a:off x="2409825" y="17554575"/>
            <a:ext cx="689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Web Chat + Request Guard</a:t>
            </a:r>
          </a:p>
        </p:txBody>
      </p:sp>
      <p:sp>
        <p:nvSpPr>
          <p:cNvPr id="25" name="input-detail">
            <a:extLst xmlns:a="http://schemas.openxmlformats.org/drawingml/2006/main">
              <a:ext uri="{FF2B5EF4-FFF2-40B4-BE49-F238E27FC236}">
                <a16:creationId xmlns:a16="http://schemas.microsoft.com/office/drawing/2014/main" id="{61D22985-B056-4FDE-B5F4-784EF56C2BA4}"/>
              </a:ext>
            </a:extLst>
          </p:cNvPr>
          <p:cNvSpPr>
            <a:spLocks xmlns:a="http://schemas.openxmlformats.org/drawingml/2006/main" noGrp="1"/>
          </p:cNvSpPr>
          <p:nvPr/>
        </p:nvSpPr>
        <p:spPr>
          <a:xfrm xmlns:a="http://schemas.openxmlformats.org/drawingml/2006/main">
            <a:off x="1647825" y="18173700"/>
            <a:ext cx="76581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Message + session_id</a:t>
            </a:r>
          </a:p>
          <a:p xmlns:a="http://schemas.openxmlformats.org/drawingml/2006/main">
            <a:pPr algn="l">
              <a:defRPr sz="2850" b="0">
                <a:solidFill>
                  <a:srgbClr val="536A7F"/>
                </a:solidFill>
              </a:defRPr>
            </a:pPr>
            <a:r>
              <a:rPr sz="2850" b="0">
                <a:solidFill>
                  <a:srgbClr val="536A7F"/>
                </a:solidFill>
              </a:rPr>
              <a:t>Request ID, admission control, global deadline</a:t>
            </a:r>
          </a:p>
        </p:txBody>
      </p:sp>
      <p:sp>
        <p:nvSpPr>
          <p:cNvPr id="26" name="context-box">
            <a:extLst xmlns:a="http://schemas.openxmlformats.org/drawingml/2006/main">
              <a:ext uri="{FF2B5EF4-FFF2-40B4-BE49-F238E27FC236}">
                <a16:creationId xmlns:a16="http://schemas.microsoft.com/office/drawing/2014/main" id="{D9B31BE9-3572-4626-B52B-5F9B9F3B34DD}"/>
              </a:ext>
            </a:extLst>
          </p:cNvPr>
          <p:cNvSpPr>
            <a:spLocks xmlns:a="http://schemas.openxmlformats.org/drawingml/2006/main" noGrp="1"/>
          </p:cNvSpPr>
          <p:nvPr/>
        </p:nvSpPr>
        <p:spPr>
          <a:xfrm xmlns:a="http://schemas.openxmlformats.org/drawingml/2006/main">
            <a:off x="11087100" y="17383125"/>
            <a:ext cx="8096250" cy="1571625"/>
          </a:xfrm>
          <a:prstGeom xmlns:a="http://schemas.openxmlformats.org/drawingml/2006/main" prst="roundRect">
            <a:avLst>
              <a:gd name="adj" fmla="val 7273"/>
            </a:avLst>
          </a:prstGeom>
          <a:solidFill xmlns:a="http://schemas.openxmlformats.org/drawingml/2006/main">
            <a:srgbClr val="F1EFFF"/>
          </a:solidFill>
          <a:ln xmlns:a="http://schemas.openxmlformats.org/drawingml/2006/main" w="28575">
            <a:solidFill>
              <a:srgbClr val="6858B8"/>
            </a:solidFill>
            <a:prstDash val="solid"/>
          </a:ln>
        </p:spPr>
      </p:sp>
      <p:sp>
        <p:nvSpPr>
          <p:cNvPr id="27" name="context-code-bg">
            <a:extLst xmlns:a="http://schemas.openxmlformats.org/drawingml/2006/main">
              <a:ext uri="{FF2B5EF4-FFF2-40B4-BE49-F238E27FC236}">
                <a16:creationId xmlns:a16="http://schemas.microsoft.com/office/drawing/2014/main" id="{28F200D2-712A-4A7F-BED4-8E77234A5EDC}"/>
              </a:ext>
            </a:extLst>
          </p:cNvPr>
          <p:cNvSpPr>
            <a:spLocks xmlns:a="http://schemas.openxmlformats.org/drawingml/2006/main" noGrp="1"/>
          </p:cNvSpPr>
          <p:nvPr/>
        </p:nvSpPr>
        <p:spPr>
          <a:xfrm xmlns:a="http://schemas.openxmlformats.org/drawingml/2006/main">
            <a:off x="11296650" y="17611725"/>
            <a:ext cx="590550" cy="590550"/>
          </a:xfrm>
          <a:prstGeom xmlns:a="http://schemas.openxmlformats.org/drawingml/2006/main" prst="ellipse">
            <a:avLst/>
          </a:prstGeom>
          <a:solidFill xmlns:a="http://schemas.openxmlformats.org/drawingml/2006/main">
            <a:srgbClr val="6858B8"/>
          </a:solidFill>
          <a:ln xmlns:a="http://schemas.openxmlformats.org/drawingml/2006/main" w="0">
            <a:solidFill>
              <a:srgbClr val="6858B8"/>
            </a:solidFill>
            <a:prstDash val="solid"/>
          </a:ln>
        </p:spPr>
      </p:sp>
      <p:sp>
        <p:nvSpPr>
          <p:cNvPr id="28" name="context-code">
            <a:extLst xmlns:a="http://schemas.openxmlformats.org/drawingml/2006/main">
              <a:ext uri="{FF2B5EF4-FFF2-40B4-BE49-F238E27FC236}">
                <a16:creationId xmlns:a16="http://schemas.microsoft.com/office/drawing/2014/main" id="{7A085554-BBCD-45E6-9851-A823EE925BC2}"/>
              </a:ext>
            </a:extLst>
          </p:cNvPr>
          <p:cNvSpPr>
            <a:spLocks xmlns:a="http://schemas.openxmlformats.org/drawingml/2006/main" noGrp="1"/>
          </p:cNvSpPr>
          <p:nvPr/>
        </p:nvSpPr>
        <p:spPr>
          <a:xfrm xmlns:a="http://schemas.openxmlformats.org/drawingml/2006/main">
            <a:off x="11296650" y="176403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2</a:t>
            </a:r>
          </a:p>
        </p:txBody>
      </p:sp>
      <p:sp>
        <p:nvSpPr>
          <p:cNvPr id="29" name="context-title">
            <a:extLst xmlns:a="http://schemas.openxmlformats.org/drawingml/2006/main">
              <a:ext uri="{FF2B5EF4-FFF2-40B4-BE49-F238E27FC236}">
                <a16:creationId xmlns:a16="http://schemas.microsoft.com/office/drawing/2014/main" id="{AF904368-F503-45B8-BCCA-E9EA77F7E21C}"/>
              </a:ext>
            </a:extLst>
          </p:cNvPr>
          <p:cNvSpPr>
            <a:spLocks xmlns:a="http://schemas.openxmlformats.org/drawingml/2006/main" noGrp="1"/>
          </p:cNvSpPr>
          <p:nvPr/>
        </p:nvSpPr>
        <p:spPr>
          <a:xfrm xmlns:a="http://schemas.openxmlformats.org/drawingml/2006/main">
            <a:off x="12068175" y="17554575"/>
            <a:ext cx="689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Context + Complexity</a:t>
            </a:r>
          </a:p>
        </p:txBody>
      </p:sp>
      <p:sp>
        <p:nvSpPr>
          <p:cNvPr id="30" name="context-detail">
            <a:extLst xmlns:a="http://schemas.openxmlformats.org/drawingml/2006/main">
              <a:ext uri="{FF2B5EF4-FFF2-40B4-BE49-F238E27FC236}">
                <a16:creationId xmlns:a16="http://schemas.microsoft.com/office/drawing/2014/main" id="{C9A6C13C-3BBB-4F35-9D45-460104582F9B}"/>
              </a:ext>
            </a:extLst>
          </p:cNvPr>
          <p:cNvSpPr>
            <a:spLocks xmlns:a="http://schemas.openxmlformats.org/drawingml/2006/main" noGrp="1"/>
          </p:cNvSpPr>
          <p:nvPr/>
        </p:nvSpPr>
        <p:spPr>
          <a:xfrm xmlns:a="http://schemas.openxmlformats.org/drawingml/2006/main">
            <a:off x="11306175" y="18173700"/>
            <a:ext cx="76581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Resolve chat references</a:t>
            </a:r>
          </a:p>
          <a:p xmlns:a="http://schemas.openxmlformats.org/drawingml/2006/main">
            <a:pPr algn="l">
              <a:defRPr sz="2850" b="0">
                <a:solidFill>
                  <a:srgbClr val="536A7F"/>
                </a:solidFill>
              </a:defRPr>
            </a:pPr>
            <a:r>
              <a:rPr sz="2850" b="0">
                <a:solidFill>
                  <a:srgbClr val="536A7F"/>
                </a:solidFill>
              </a:rPr>
              <a:t>Split multi-question; gate simple vs. complex</a:t>
            </a:r>
          </a:p>
        </p:txBody>
      </p:sp>
      <p:sp>
        <p:nvSpPr>
          <p:cNvPr id="31" name="understand-box">
            <a:extLst xmlns:a="http://schemas.openxmlformats.org/drawingml/2006/main">
              <a:ext uri="{FF2B5EF4-FFF2-40B4-BE49-F238E27FC236}">
                <a16:creationId xmlns:a16="http://schemas.microsoft.com/office/drawing/2014/main" id="{890E3BA9-D9B1-440A-8123-2787AC77ADBC}"/>
              </a:ext>
            </a:extLst>
          </p:cNvPr>
          <p:cNvSpPr>
            <a:spLocks xmlns:a="http://schemas.openxmlformats.org/drawingml/2006/main" noGrp="1"/>
          </p:cNvSpPr>
          <p:nvPr/>
        </p:nvSpPr>
        <p:spPr>
          <a:xfrm xmlns:a="http://schemas.openxmlformats.org/drawingml/2006/main">
            <a:off x="20745450" y="17383125"/>
            <a:ext cx="8096250" cy="1571625"/>
          </a:xfrm>
          <a:prstGeom xmlns:a="http://schemas.openxmlformats.org/drawingml/2006/main" prst="roundRect">
            <a:avLst>
              <a:gd name="adj" fmla="val 7273"/>
            </a:avLst>
          </a:prstGeom>
          <a:solidFill xmlns:a="http://schemas.openxmlformats.org/drawingml/2006/main">
            <a:srgbClr val="FFF1E8"/>
          </a:solidFill>
          <a:ln xmlns:a="http://schemas.openxmlformats.org/drawingml/2006/main" w="28575">
            <a:solidFill>
              <a:srgbClr val="E86F22"/>
            </a:solidFill>
            <a:prstDash val="solid"/>
          </a:ln>
        </p:spPr>
      </p:sp>
      <p:sp>
        <p:nvSpPr>
          <p:cNvPr id="32" name="understand-code-bg">
            <a:extLst xmlns:a="http://schemas.openxmlformats.org/drawingml/2006/main">
              <a:ext uri="{FF2B5EF4-FFF2-40B4-BE49-F238E27FC236}">
                <a16:creationId xmlns:a16="http://schemas.microsoft.com/office/drawing/2014/main" id="{FC3A81CE-FE51-4161-9339-314AD1CF73A0}"/>
              </a:ext>
            </a:extLst>
          </p:cNvPr>
          <p:cNvSpPr>
            <a:spLocks xmlns:a="http://schemas.openxmlformats.org/drawingml/2006/main" noGrp="1"/>
          </p:cNvSpPr>
          <p:nvPr/>
        </p:nvSpPr>
        <p:spPr>
          <a:xfrm xmlns:a="http://schemas.openxmlformats.org/drawingml/2006/main">
            <a:off x="20955000" y="17611725"/>
            <a:ext cx="590550" cy="590550"/>
          </a:xfrm>
          <a:prstGeom xmlns:a="http://schemas.openxmlformats.org/drawingml/2006/main" prst="ellipse">
            <a:avLst/>
          </a:prstGeom>
          <a:solidFill xmlns:a="http://schemas.openxmlformats.org/drawingml/2006/main">
            <a:srgbClr val="E86F22"/>
          </a:solidFill>
          <a:ln xmlns:a="http://schemas.openxmlformats.org/drawingml/2006/main" w="0">
            <a:solidFill>
              <a:srgbClr val="E86F22"/>
            </a:solidFill>
            <a:prstDash val="solid"/>
          </a:ln>
        </p:spPr>
      </p:sp>
      <p:sp>
        <p:nvSpPr>
          <p:cNvPr id="33" name="understand-code">
            <a:extLst xmlns:a="http://schemas.openxmlformats.org/drawingml/2006/main">
              <a:ext uri="{FF2B5EF4-FFF2-40B4-BE49-F238E27FC236}">
                <a16:creationId xmlns:a16="http://schemas.microsoft.com/office/drawing/2014/main" id="{31CB26D7-F61C-4C14-B814-0C046716DD9E}"/>
              </a:ext>
            </a:extLst>
          </p:cNvPr>
          <p:cNvSpPr>
            <a:spLocks xmlns:a="http://schemas.openxmlformats.org/drawingml/2006/main" noGrp="1"/>
          </p:cNvSpPr>
          <p:nvPr/>
        </p:nvSpPr>
        <p:spPr>
          <a:xfrm xmlns:a="http://schemas.openxmlformats.org/drawingml/2006/main">
            <a:off x="20955000" y="176403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3</a:t>
            </a:r>
          </a:p>
        </p:txBody>
      </p:sp>
      <p:sp>
        <p:nvSpPr>
          <p:cNvPr id="34" name="understand-title">
            <a:extLst xmlns:a="http://schemas.openxmlformats.org/drawingml/2006/main">
              <a:ext uri="{FF2B5EF4-FFF2-40B4-BE49-F238E27FC236}">
                <a16:creationId xmlns:a16="http://schemas.microsoft.com/office/drawing/2014/main" id="{5EC40E2B-709C-403A-8D4F-7876BAFA0379}"/>
              </a:ext>
            </a:extLst>
          </p:cNvPr>
          <p:cNvSpPr>
            <a:spLocks xmlns:a="http://schemas.openxmlformats.org/drawingml/2006/main" noGrp="1"/>
          </p:cNvSpPr>
          <p:nvPr/>
        </p:nvSpPr>
        <p:spPr>
          <a:xfrm xmlns:a="http://schemas.openxmlformats.org/drawingml/2006/main">
            <a:off x="21726525" y="17554575"/>
            <a:ext cx="689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Question Understanding</a:t>
            </a:r>
          </a:p>
        </p:txBody>
      </p:sp>
      <p:sp>
        <p:nvSpPr>
          <p:cNvPr id="35" name="understand-detail">
            <a:extLst xmlns:a="http://schemas.openxmlformats.org/drawingml/2006/main">
              <a:ext uri="{FF2B5EF4-FFF2-40B4-BE49-F238E27FC236}">
                <a16:creationId xmlns:a16="http://schemas.microsoft.com/office/drawing/2014/main" id="{7B39A4BA-B9E5-4DA3-B210-6B3D208D7746}"/>
              </a:ext>
            </a:extLst>
          </p:cNvPr>
          <p:cNvSpPr>
            <a:spLocks xmlns:a="http://schemas.openxmlformats.org/drawingml/2006/main" noGrp="1"/>
          </p:cNvSpPr>
          <p:nvPr/>
        </p:nvSpPr>
        <p:spPr>
          <a:xfrm xmlns:a="http://schemas.openxmlformats.org/drawingml/2006/main">
            <a:off x="20964525" y="18173700"/>
            <a:ext cx="76581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Normalize + entities</a:t>
            </a:r>
          </a:p>
          <a:p xmlns:a="http://schemas.openxmlformats.org/drawingml/2006/main">
            <a:pPr algn="l">
              <a:defRPr sz="2850" b="0">
                <a:solidFill>
                  <a:srgbClr val="536A7F"/>
                </a:solidFill>
              </a:defRPr>
            </a:pPr>
            <a:r>
              <a:rPr sz="2850" b="0">
                <a:solidFill>
                  <a:srgbClr val="536A7F"/>
                </a:solidFill>
              </a:rPr>
              <a:t>Boundary, ambiguity, intent and route review</a:t>
            </a:r>
          </a:p>
        </p:txBody>
      </p:sp>
      <p:cxnSp>
        <p:nvCxnSpPr>
          <p:cNvPr id="167" name=""/>
          <p:cNvCxnSpPr>
            <a:stCxn xmlns:a="http://schemas.openxmlformats.org/drawingml/2006/main" id="21" idx="3"/>
            <a:endCxn xmlns:a="http://schemas.openxmlformats.org/drawingml/2006/main" id="26" idx="1"/>
          </p:cNvCxnSpPr>
          <p:nvPr/>
        </p:nvCxnSpPr>
        <p:spPr>
          <a:xfrm xmlns:a="http://schemas.openxmlformats.org/drawingml/2006/main">
            <a:off x="9525000" y="18168938"/>
            <a:ext cx="1562100" cy="0"/>
          </a:xfrm>
          <a:prstGeom xmlns:a="http://schemas.openxmlformats.org/drawingml/2006/main" prst="straightConnector1">
            <a:avLst/>
          </a:prstGeom>
          <a:ln xmlns:a="http://schemas.openxmlformats.org/drawingml/2006/main" w="38100">
            <a:solidFill>
              <a:srgbClr val="C8D6E4"/>
            </a:solidFill>
            <a:prstDash val="solid"/>
            <a:tailEnd type="arrow" w="med" len="med"/>
          </a:ln>
        </p:spPr>
      </p:cxnSp>
      <p:cxnSp>
        <p:nvCxnSpPr>
          <p:cNvPr id="168" name=""/>
          <p:cNvCxnSpPr>
            <a:stCxn xmlns:a="http://schemas.openxmlformats.org/drawingml/2006/main" id="26" idx="3"/>
            <a:endCxn xmlns:a="http://schemas.openxmlformats.org/drawingml/2006/main" id="31" idx="1"/>
          </p:cNvCxnSpPr>
          <p:nvPr/>
        </p:nvCxnSpPr>
        <p:spPr>
          <a:xfrm xmlns:a="http://schemas.openxmlformats.org/drawingml/2006/main">
            <a:off x="19183350" y="18168938"/>
            <a:ext cx="1562100" cy="0"/>
          </a:xfrm>
          <a:prstGeom xmlns:a="http://schemas.openxmlformats.org/drawingml/2006/main" prst="straightConnector1">
            <a:avLst/>
          </a:prstGeom>
          <a:ln xmlns:a="http://schemas.openxmlformats.org/drawingml/2006/main" w="38100">
            <a:solidFill>
              <a:srgbClr val="C8D6E4"/>
            </a:solidFill>
            <a:prstDash val="solid"/>
            <a:tailEnd type="arrow" w="med" len="med"/>
          </a:ln>
        </p:spPr>
      </p:cxnSp>
      <p:sp>
        <p:nvSpPr>
          <p:cNvPr id="38" name="score-box">
            <a:extLst xmlns:a="http://schemas.openxmlformats.org/drawingml/2006/main">
              <a:ext uri="{FF2B5EF4-FFF2-40B4-BE49-F238E27FC236}">
                <a16:creationId xmlns:a16="http://schemas.microsoft.com/office/drawing/2014/main" id="{D0011DA3-BC20-4C88-BE6F-DDBC2CA2BA20}"/>
              </a:ext>
            </a:extLst>
          </p:cNvPr>
          <p:cNvSpPr>
            <a:spLocks xmlns:a="http://schemas.openxmlformats.org/drawingml/2006/main" noGrp="1"/>
          </p:cNvSpPr>
          <p:nvPr/>
        </p:nvSpPr>
        <p:spPr>
          <a:xfrm xmlns:a="http://schemas.openxmlformats.org/drawingml/2006/main">
            <a:off x="5905500" y="19431000"/>
            <a:ext cx="8858250" cy="1619250"/>
          </a:xfrm>
          <a:prstGeom xmlns:a="http://schemas.openxmlformats.org/drawingml/2006/main" prst="roundRect">
            <a:avLst>
              <a:gd name="adj" fmla="val 7059"/>
            </a:avLst>
          </a:prstGeom>
          <a:solidFill xmlns:a="http://schemas.openxmlformats.org/drawingml/2006/main">
            <a:srgbClr val="E9F9FC"/>
          </a:solidFill>
          <a:ln xmlns:a="http://schemas.openxmlformats.org/drawingml/2006/main" w="28575">
            <a:solidFill>
              <a:srgbClr val="11A5C3"/>
            </a:solidFill>
            <a:prstDash val="solid"/>
          </a:ln>
        </p:spPr>
      </p:sp>
      <p:sp>
        <p:nvSpPr>
          <p:cNvPr id="39" name="score-code-bg">
            <a:extLst xmlns:a="http://schemas.openxmlformats.org/drawingml/2006/main">
              <a:ext uri="{FF2B5EF4-FFF2-40B4-BE49-F238E27FC236}">
                <a16:creationId xmlns:a16="http://schemas.microsoft.com/office/drawing/2014/main" id="{41D4BC7C-28AE-4692-8B4D-6B4D4B09E047}"/>
              </a:ext>
            </a:extLst>
          </p:cNvPr>
          <p:cNvSpPr>
            <a:spLocks xmlns:a="http://schemas.openxmlformats.org/drawingml/2006/main" noGrp="1"/>
          </p:cNvSpPr>
          <p:nvPr/>
        </p:nvSpPr>
        <p:spPr>
          <a:xfrm xmlns:a="http://schemas.openxmlformats.org/drawingml/2006/main">
            <a:off x="6115050" y="19659600"/>
            <a:ext cx="590550" cy="590550"/>
          </a:xfrm>
          <a:prstGeom xmlns:a="http://schemas.openxmlformats.org/drawingml/2006/main" prst="ellipse">
            <a:avLst/>
          </a:prstGeom>
          <a:solidFill xmlns:a="http://schemas.openxmlformats.org/drawingml/2006/main">
            <a:srgbClr val="11A5C3"/>
          </a:solidFill>
          <a:ln xmlns:a="http://schemas.openxmlformats.org/drawingml/2006/main" w="0">
            <a:solidFill>
              <a:srgbClr val="11A5C3"/>
            </a:solidFill>
            <a:prstDash val="solid"/>
          </a:ln>
        </p:spPr>
      </p:sp>
      <p:sp>
        <p:nvSpPr>
          <p:cNvPr id="40" name="score-code">
            <a:extLst xmlns:a="http://schemas.openxmlformats.org/drawingml/2006/main">
              <a:ext uri="{FF2B5EF4-FFF2-40B4-BE49-F238E27FC236}">
                <a16:creationId xmlns:a16="http://schemas.microsoft.com/office/drawing/2014/main" id="{14EABB7C-CE0F-444C-A386-E0E1C14DCEB0}"/>
              </a:ext>
            </a:extLst>
          </p:cNvPr>
          <p:cNvSpPr>
            <a:spLocks xmlns:a="http://schemas.openxmlformats.org/drawingml/2006/main" noGrp="1"/>
          </p:cNvSpPr>
          <p:nvPr/>
        </p:nvSpPr>
        <p:spPr>
          <a:xfrm xmlns:a="http://schemas.openxmlformats.org/drawingml/2006/main">
            <a:off x="6115050" y="19688175"/>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4</a:t>
            </a:r>
          </a:p>
        </p:txBody>
      </p:sp>
      <p:sp>
        <p:nvSpPr>
          <p:cNvPr id="41" name="score-title">
            <a:extLst xmlns:a="http://schemas.openxmlformats.org/drawingml/2006/main">
              <a:ext uri="{FF2B5EF4-FFF2-40B4-BE49-F238E27FC236}">
                <a16:creationId xmlns:a16="http://schemas.microsoft.com/office/drawing/2014/main" id="{5B8F0E84-7DC8-46A3-930D-213EA44D986C}"/>
              </a:ext>
            </a:extLst>
          </p:cNvPr>
          <p:cNvSpPr>
            <a:spLocks xmlns:a="http://schemas.openxmlformats.org/drawingml/2006/main" noGrp="1"/>
          </p:cNvSpPr>
          <p:nvPr/>
        </p:nvSpPr>
        <p:spPr>
          <a:xfrm xmlns:a="http://schemas.openxmlformats.org/drawingml/2006/main">
            <a:off x="6886575" y="19602450"/>
            <a:ext cx="7658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Frame + Candidate Scoring</a:t>
            </a:r>
          </a:p>
        </p:txBody>
      </p:sp>
      <p:sp>
        <p:nvSpPr>
          <p:cNvPr id="42" name="score-detail">
            <a:extLst xmlns:a="http://schemas.openxmlformats.org/drawingml/2006/main">
              <a:ext uri="{FF2B5EF4-FFF2-40B4-BE49-F238E27FC236}">
                <a16:creationId xmlns:a16="http://schemas.microsoft.com/office/drawing/2014/main" id="{18AE3435-0A12-4EF8-BC3F-B6527966AB9F}"/>
              </a:ext>
            </a:extLst>
          </p:cNvPr>
          <p:cNvSpPr>
            <a:spLocks xmlns:a="http://schemas.openxmlformats.org/drawingml/2006/main" noGrp="1"/>
          </p:cNvSpPr>
          <p:nvPr/>
        </p:nvSpPr>
        <p:spPr>
          <a:xfrm xmlns:a="http://schemas.openxmlformats.org/drawingml/2006/main">
            <a:off x="6124575" y="20221575"/>
            <a:ext cx="8420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Fix intent, target and source</a:t>
            </a:r>
          </a:p>
          <a:p xmlns:a="http://schemas.openxmlformats.org/drawingml/2006/main">
            <a:pPr algn="l">
              <a:defRPr sz="2850" b="0">
                <a:solidFill>
                  <a:srgbClr val="536A7F"/>
                </a:solidFill>
              </a:defRPr>
            </a:pPr>
            <a:r>
              <a:rPr sz="2850" b="0">
                <a:solidFill>
                  <a:srgbClr val="536A7F"/>
                </a:solidFill>
              </a:rPr>
              <a:t>Rank candidate paths and check tool preconditions</a:t>
            </a:r>
          </a:p>
        </p:txBody>
      </p:sp>
      <p:sp>
        <p:nvSpPr>
          <p:cNvPr id="43" name="select-box">
            <a:extLst xmlns:a="http://schemas.openxmlformats.org/drawingml/2006/main">
              <a:ext uri="{FF2B5EF4-FFF2-40B4-BE49-F238E27FC236}">
                <a16:creationId xmlns:a16="http://schemas.microsoft.com/office/drawing/2014/main" id="{056B05C8-AB2C-4506-ABAE-11187C2EA1F4}"/>
              </a:ext>
            </a:extLst>
          </p:cNvPr>
          <p:cNvSpPr>
            <a:spLocks xmlns:a="http://schemas.openxmlformats.org/drawingml/2006/main" noGrp="1"/>
          </p:cNvSpPr>
          <p:nvPr/>
        </p:nvSpPr>
        <p:spPr>
          <a:xfrm xmlns:a="http://schemas.openxmlformats.org/drawingml/2006/main">
            <a:off x="16097250" y="19431000"/>
            <a:ext cx="8858250" cy="1619250"/>
          </a:xfrm>
          <a:prstGeom xmlns:a="http://schemas.openxmlformats.org/drawingml/2006/main" prst="roundRect">
            <a:avLst>
              <a:gd name="adj" fmla="val 7059"/>
            </a:avLst>
          </a:prstGeom>
          <a:solidFill xmlns:a="http://schemas.openxmlformats.org/drawingml/2006/main">
            <a:srgbClr val="EAF8F4"/>
          </a:solidFill>
          <a:ln xmlns:a="http://schemas.openxmlformats.org/drawingml/2006/main" w="28575">
            <a:solidFill>
              <a:srgbClr val="158C76"/>
            </a:solidFill>
            <a:prstDash val="solid"/>
          </a:ln>
        </p:spPr>
      </p:sp>
      <p:sp>
        <p:nvSpPr>
          <p:cNvPr id="44" name="select-code-bg">
            <a:extLst xmlns:a="http://schemas.openxmlformats.org/drawingml/2006/main">
              <a:ext uri="{FF2B5EF4-FFF2-40B4-BE49-F238E27FC236}">
                <a16:creationId xmlns:a16="http://schemas.microsoft.com/office/drawing/2014/main" id="{42FC730A-2273-4E2B-9D0A-1E00BCA449B0}"/>
              </a:ext>
            </a:extLst>
          </p:cNvPr>
          <p:cNvSpPr>
            <a:spLocks xmlns:a="http://schemas.openxmlformats.org/drawingml/2006/main" noGrp="1"/>
          </p:cNvSpPr>
          <p:nvPr/>
        </p:nvSpPr>
        <p:spPr>
          <a:xfrm xmlns:a="http://schemas.openxmlformats.org/drawingml/2006/main">
            <a:off x="16306800" y="19659600"/>
            <a:ext cx="590550" cy="590550"/>
          </a:xfrm>
          <a:prstGeom xmlns:a="http://schemas.openxmlformats.org/drawingml/2006/main" prst="ellipse">
            <a:avLst/>
          </a:prstGeom>
          <a:solidFill xmlns:a="http://schemas.openxmlformats.org/drawingml/2006/main">
            <a:srgbClr val="158C76"/>
          </a:solidFill>
          <a:ln xmlns:a="http://schemas.openxmlformats.org/drawingml/2006/main" w="0">
            <a:solidFill>
              <a:srgbClr val="158C76"/>
            </a:solidFill>
            <a:prstDash val="solid"/>
          </a:ln>
        </p:spPr>
      </p:sp>
      <p:sp>
        <p:nvSpPr>
          <p:cNvPr id="45" name="select-code">
            <a:extLst xmlns:a="http://schemas.openxmlformats.org/drawingml/2006/main">
              <a:ext uri="{FF2B5EF4-FFF2-40B4-BE49-F238E27FC236}">
                <a16:creationId xmlns:a16="http://schemas.microsoft.com/office/drawing/2014/main" id="{09349815-C4E2-47BA-990B-0BFD6E423462}"/>
              </a:ext>
            </a:extLst>
          </p:cNvPr>
          <p:cNvSpPr>
            <a:spLocks xmlns:a="http://schemas.openxmlformats.org/drawingml/2006/main" noGrp="1"/>
          </p:cNvSpPr>
          <p:nvPr/>
        </p:nvSpPr>
        <p:spPr>
          <a:xfrm xmlns:a="http://schemas.openxmlformats.org/drawingml/2006/main">
            <a:off x="16306800" y="19688175"/>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5</a:t>
            </a:r>
          </a:p>
        </p:txBody>
      </p:sp>
      <p:sp>
        <p:nvSpPr>
          <p:cNvPr id="46" name="select-title">
            <a:extLst xmlns:a="http://schemas.openxmlformats.org/drawingml/2006/main">
              <a:ext uri="{FF2B5EF4-FFF2-40B4-BE49-F238E27FC236}">
                <a16:creationId xmlns:a16="http://schemas.microsoft.com/office/drawing/2014/main" id="{AB8066F6-B2A0-4EB1-8D26-876EE64E6B84}"/>
              </a:ext>
            </a:extLst>
          </p:cNvPr>
          <p:cNvSpPr>
            <a:spLocks xmlns:a="http://schemas.openxmlformats.org/drawingml/2006/main" noGrp="1"/>
          </p:cNvSpPr>
          <p:nvPr/>
        </p:nvSpPr>
        <p:spPr>
          <a:xfrm xmlns:a="http://schemas.openxmlformats.org/drawingml/2006/main">
            <a:off x="17078325" y="19602450"/>
            <a:ext cx="7658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Execution Path Selection</a:t>
            </a:r>
          </a:p>
        </p:txBody>
      </p:sp>
      <p:sp>
        <p:nvSpPr>
          <p:cNvPr id="47" name="select-detail">
            <a:extLst xmlns:a="http://schemas.openxmlformats.org/drawingml/2006/main">
              <a:ext uri="{FF2B5EF4-FFF2-40B4-BE49-F238E27FC236}">
                <a16:creationId xmlns:a16="http://schemas.microsoft.com/office/drawing/2014/main" id="{C7F5FC26-2419-4AD8-94BC-22F4B0E58B58}"/>
              </a:ext>
            </a:extLst>
          </p:cNvPr>
          <p:cNvSpPr>
            <a:spLocks xmlns:a="http://schemas.openxmlformats.org/drawingml/2006/main" noGrp="1"/>
          </p:cNvSpPr>
          <p:nvPr/>
        </p:nvSpPr>
        <p:spPr>
          <a:xfrm xmlns:a="http://schemas.openxmlformats.org/drawingml/2006/main">
            <a:off x="16316325" y="20221575"/>
            <a:ext cx="8420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Select by confidence, policy, evidence</a:t>
            </a:r>
          </a:p>
          <a:p xmlns:a="http://schemas.openxmlformats.org/drawingml/2006/main">
            <a:pPr algn="l">
              <a:defRPr sz="2850" b="0">
                <a:solidFill>
                  <a:srgbClr val="536A7F"/>
                </a:solidFill>
              </a:defRPr>
            </a:pPr>
            <a:r>
              <a:rPr sz="2850" b="0">
                <a:solidFill>
                  <a:srgbClr val="536A7F"/>
                </a:solidFill>
              </a:rPr>
              <a:t>and time remaining in the request</a:t>
            </a:r>
          </a:p>
        </p:txBody>
      </p:sp>
      <p:cxnSp>
        <p:nvCxnSpPr>
          <p:cNvPr id="179" name=""/>
          <p:cNvCxnSpPr>
            <a:stCxn xmlns:a="http://schemas.openxmlformats.org/drawingml/2006/main" id="31" idx="2"/>
            <a:endCxn xmlns:a="http://schemas.openxmlformats.org/drawingml/2006/main" id="38" idx="0"/>
          </p:cNvCxnSpPr>
          <p:nvPr/>
        </p:nvCxnSpPr>
        <p:spPr>
          <a:xfrm xmlns:a="http://schemas.openxmlformats.org/drawingml/2006/main" flipH="1">
            <a:off x="10334625" y="18954750"/>
            <a:ext cx="14458950" cy="476250"/>
          </a:xfrm>
          <a:prstGeom xmlns:a="http://schemas.openxmlformats.org/drawingml/2006/main" prst="bentConnector4">
            <a:avLst>
              <a:gd name="adj1" fmla="val 0"/>
              <a:gd name="adj2" fmla="val 50000"/>
            </a:avLst>
          </a:prstGeom>
          <a:ln xmlns:a="http://schemas.openxmlformats.org/drawingml/2006/main" w="38100">
            <a:solidFill>
              <a:srgbClr val="E86F22"/>
            </a:solidFill>
            <a:prstDash val="solid"/>
            <a:tailEnd type="arrow" w="med" len="med"/>
          </a:ln>
        </p:spPr>
      </p:cxnSp>
      <p:cxnSp>
        <p:nvCxnSpPr>
          <p:cNvPr id="180" name=""/>
          <p:cNvCxnSpPr>
            <a:stCxn xmlns:a="http://schemas.openxmlformats.org/drawingml/2006/main" id="38" idx="3"/>
            <a:endCxn xmlns:a="http://schemas.openxmlformats.org/drawingml/2006/main" id="43" idx="1"/>
          </p:cNvCxnSpPr>
          <p:nvPr/>
        </p:nvCxnSpPr>
        <p:spPr>
          <a:xfrm xmlns:a="http://schemas.openxmlformats.org/drawingml/2006/main">
            <a:off x="14763750" y="20240625"/>
            <a:ext cx="1333500" cy="0"/>
          </a:xfrm>
          <a:prstGeom xmlns:a="http://schemas.openxmlformats.org/drawingml/2006/main" prst="straightConnector1">
            <a:avLst/>
          </a:prstGeom>
          <a:ln xmlns:a="http://schemas.openxmlformats.org/drawingml/2006/main" w="38100">
            <a:solidFill>
              <a:srgbClr val="11A5C3"/>
            </a:solidFill>
            <a:prstDash val="solid"/>
            <a:tailEnd type="arrow" w="med" len="med"/>
          </a:ln>
        </p:spPr>
      </p:cxnSp>
      <p:sp>
        <p:nvSpPr>
          <p:cNvPr id="50" name="fast-box">
            <a:extLst xmlns:a="http://schemas.openxmlformats.org/drawingml/2006/main">
              <a:ext uri="{FF2B5EF4-FFF2-40B4-BE49-F238E27FC236}">
                <a16:creationId xmlns:a16="http://schemas.microsoft.com/office/drawing/2014/main" id="{737FACD1-4952-4EEE-8629-3089E6BE450F}"/>
              </a:ext>
            </a:extLst>
          </p:cNvPr>
          <p:cNvSpPr>
            <a:spLocks xmlns:a="http://schemas.openxmlformats.org/drawingml/2006/main" noGrp="1"/>
          </p:cNvSpPr>
          <p:nvPr/>
        </p:nvSpPr>
        <p:spPr>
          <a:xfrm xmlns:a="http://schemas.openxmlformats.org/drawingml/2006/main">
            <a:off x="1428750" y="21526500"/>
            <a:ext cx="8382000" cy="1666875"/>
          </a:xfrm>
          <a:prstGeom xmlns:a="http://schemas.openxmlformats.org/drawingml/2006/main" prst="roundRect">
            <a:avLst>
              <a:gd name="adj" fmla="val 6857"/>
            </a:avLst>
          </a:prstGeom>
          <a:solidFill xmlns:a="http://schemas.openxmlformats.org/drawingml/2006/main">
            <a:srgbClr val="EAF8F4"/>
          </a:solidFill>
          <a:ln xmlns:a="http://schemas.openxmlformats.org/drawingml/2006/main" w="28575">
            <a:solidFill>
              <a:srgbClr val="158C76"/>
            </a:solidFill>
            <a:prstDash val="solid"/>
          </a:ln>
        </p:spPr>
      </p:sp>
      <p:sp>
        <p:nvSpPr>
          <p:cNvPr id="51" name="fast-code-bg">
            <a:extLst xmlns:a="http://schemas.openxmlformats.org/drawingml/2006/main">
              <a:ext uri="{FF2B5EF4-FFF2-40B4-BE49-F238E27FC236}">
                <a16:creationId xmlns:a16="http://schemas.microsoft.com/office/drawing/2014/main" id="{7BABE9BE-1A01-4354-B5EE-35EC6234C7F5}"/>
              </a:ext>
            </a:extLst>
          </p:cNvPr>
          <p:cNvSpPr>
            <a:spLocks xmlns:a="http://schemas.openxmlformats.org/drawingml/2006/main" noGrp="1"/>
          </p:cNvSpPr>
          <p:nvPr/>
        </p:nvSpPr>
        <p:spPr>
          <a:xfrm xmlns:a="http://schemas.openxmlformats.org/drawingml/2006/main">
            <a:off x="1638300" y="21755100"/>
            <a:ext cx="590550" cy="590550"/>
          </a:xfrm>
          <a:prstGeom xmlns:a="http://schemas.openxmlformats.org/drawingml/2006/main" prst="ellipse">
            <a:avLst/>
          </a:prstGeom>
          <a:solidFill xmlns:a="http://schemas.openxmlformats.org/drawingml/2006/main">
            <a:srgbClr val="158C76"/>
          </a:solidFill>
          <a:ln xmlns:a="http://schemas.openxmlformats.org/drawingml/2006/main" w="0">
            <a:solidFill>
              <a:srgbClr val="158C76"/>
            </a:solidFill>
            <a:prstDash val="solid"/>
          </a:ln>
        </p:spPr>
      </p:sp>
      <p:sp>
        <p:nvSpPr>
          <p:cNvPr id="52" name="fast-code">
            <a:extLst xmlns:a="http://schemas.openxmlformats.org/drawingml/2006/main">
              <a:ext uri="{FF2B5EF4-FFF2-40B4-BE49-F238E27FC236}">
                <a16:creationId xmlns:a16="http://schemas.microsoft.com/office/drawing/2014/main" id="{29D1D7F9-4FB2-4094-A6B8-8B4FBE1A2953}"/>
              </a:ext>
            </a:extLst>
          </p:cNvPr>
          <p:cNvSpPr>
            <a:spLocks xmlns:a="http://schemas.openxmlformats.org/drawingml/2006/main" noGrp="1"/>
          </p:cNvSpPr>
          <p:nvPr/>
        </p:nvSpPr>
        <p:spPr>
          <a:xfrm xmlns:a="http://schemas.openxmlformats.org/drawingml/2006/main">
            <a:off x="1638300" y="21783675"/>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A</a:t>
            </a:r>
          </a:p>
        </p:txBody>
      </p:sp>
      <p:sp>
        <p:nvSpPr>
          <p:cNvPr id="53" name="fast-title">
            <a:extLst xmlns:a="http://schemas.openxmlformats.org/drawingml/2006/main">
              <a:ext uri="{FF2B5EF4-FFF2-40B4-BE49-F238E27FC236}">
                <a16:creationId xmlns:a16="http://schemas.microsoft.com/office/drawing/2014/main" id="{8C6CB780-2130-4B1F-918D-9F907A2AF4C4}"/>
              </a:ext>
            </a:extLst>
          </p:cNvPr>
          <p:cNvSpPr>
            <a:spLocks xmlns:a="http://schemas.openxmlformats.org/drawingml/2006/main" noGrp="1"/>
          </p:cNvSpPr>
          <p:nvPr/>
        </p:nvSpPr>
        <p:spPr>
          <a:xfrm xmlns:a="http://schemas.openxmlformats.org/drawingml/2006/main">
            <a:off x="2409825" y="21697950"/>
            <a:ext cx="718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Fast / Structured</a:t>
            </a:r>
          </a:p>
        </p:txBody>
      </p:sp>
      <p:sp>
        <p:nvSpPr>
          <p:cNvPr id="54" name="fast-detail">
            <a:extLst xmlns:a="http://schemas.openxmlformats.org/drawingml/2006/main">
              <a:ext uri="{FF2B5EF4-FFF2-40B4-BE49-F238E27FC236}">
                <a16:creationId xmlns:a16="http://schemas.microsoft.com/office/drawing/2014/main" id="{4B1C3448-7656-49AB-9839-34AA815456C9}"/>
              </a:ext>
            </a:extLst>
          </p:cNvPr>
          <p:cNvSpPr>
            <a:spLocks xmlns:a="http://schemas.openxmlformats.org/drawingml/2006/main" noGrp="1"/>
          </p:cNvSpPr>
          <p:nvPr/>
        </p:nvSpPr>
        <p:spPr>
          <a:xfrm xmlns:a="http://schemas.openxmlformats.org/drawingml/2006/main">
            <a:off x="1647825" y="22317075"/>
            <a:ext cx="79438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Exact and deterministic records</a:t>
            </a:r>
          </a:p>
          <a:p xmlns:a="http://schemas.openxmlformats.org/drawingml/2006/main">
            <a:pPr algn="l">
              <a:defRPr sz="2850" b="0">
                <a:solidFill>
                  <a:srgbClr val="536A7F"/>
                </a:solidFill>
              </a:defRPr>
            </a:pPr>
            <a:r>
              <a:rPr sz="2850" b="0">
                <a:solidFill>
                  <a:srgbClr val="536A7F"/>
                </a:solidFill>
              </a:rPr>
              <a:t>Games, pricing, equipment, hours and FAQ</a:t>
            </a:r>
          </a:p>
        </p:txBody>
      </p:sp>
      <p:sp>
        <p:nvSpPr>
          <p:cNvPr id="55" name="rag-box">
            <a:extLst xmlns:a="http://schemas.openxmlformats.org/drawingml/2006/main">
              <a:ext uri="{FF2B5EF4-FFF2-40B4-BE49-F238E27FC236}">
                <a16:creationId xmlns:a16="http://schemas.microsoft.com/office/drawing/2014/main" id="{1DAE3DE5-36DE-4E57-9ACC-700764383C35}"/>
              </a:ext>
            </a:extLst>
          </p:cNvPr>
          <p:cNvSpPr>
            <a:spLocks xmlns:a="http://schemas.openxmlformats.org/drawingml/2006/main" noGrp="1"/>
          </p:cNvSpPr>
          <p:nvPr/>
        </p:nvSpPr>
        <p:spPr>
          <a:xfrm xmlns:a="http://schemas.openxmlformats.org/drawingml/2006/main">
            <a:off x="10944225" y="21526500"/>
            <a:ext cx="8382000" cy="1666875"/>
          </a:xfrm>
          <a:prstGeom xmlns:a="http://schemas.openxmlformats.org/drawingml/2006/main" prst="roundRect">
            <a:avLst>
              <a:gd name="adj" fmla="val 6857"/>
            </a:avLst>
          </a:prstGeom>
          <a:solidFill xmlns:a="http://schemas.openxmlformats.org/drawingml/2006/main">
            <a:srgbClr val="EAF4FD"/>
          </a:solidFill>
          <a:ln xmlns:a="http://schemas.openxmlformats.org/drawingml/2006/main" w="28575">
            <a:solidFill>
              <a:srgbClr val="2787D9"/>
            </a:solidFill>
            <a:prstDash val="solid"/>
          </a:ln>
        </p:spPr>
      </p:sp>
      <p:sp>
        <p:nvSpPr>
          <p:cNvPr id="56" name="rag-code-bg">
            <a:extLst xmlns:a="http://schemas.openxmlformats.org/drawingml/2006/main">
              <a:ext uri="{FF2B5EF4-FFF2-40B4-BE49-F238E27FC236}">
                <a16:creationId xmlns:a16="http://schemas.microsoft.com/office/drawing/2014/main" id="{82117EAE-CBE3-4738-81E3-11F3F3E22311}"/>
              </a:ext>
            </a:extLst>
          </p:cNvPr>
          <p:cNvSpPr>
            <a:spLocks xmlns:a="http://schemas.openxmlformats.org/drawingml/2006/main" noGrp="1"/>
          </p:cNvSpPr>
          <p:nvPr/>
        </p:nvSpPr>
        <p:spPr>
          <a:xfrm xmlns:a="http://schemas.openxmlformats.org/drawingml/2006/main">
            <a:off x="11153775" y="21755100"/>
            <a:ext cx="590550" cy="590550"/>
          </a:xfrm>
          <a:prstGeom xmlns:a="http://schemas.openxmlformats.org/drawingml/2006/main" prst="ellipse">
            <a:avLst/>
          </a:prstGeom>
          <a:solidFill xmlns:a="http://schemas.openxmlformats.org/drawingml/2006/main">
            <a:srgbClr val="2787D9"/>
          </a:solidFill>
          <a:ln xmlns:a="http://schemas.openxmlformats.org/drawingml/2006/main" w="0">
            <a:solidFill>
              <a:srgbClr val="2787D9"/>
            </a:solidFill>
            <a:prstDash val="solid"/>
          </a:ln>
        </p:spPr>
      </p:sp>
      <p:sp>
        <p:nvSpPr>
          <p:cNvPr id="57" name="rag-code">
            <a:extLst xmlns:a="http://schemas.openxmlformats.org/drawingml/2006/main">
              <a:ext uri="{FF2B5EF4-FFF2-40B4-BE49-F238E27FC236}">
                <a16:creationId xmlns:a16="http://schemas.microsoft.com/office/drawing/2014/main" id="{78A316B2-0D79-427E-B084-AAD6F5FC25D9}"/>
              </a:ext>
            </a:extLst>
          </p:cNvPr>
          <p:cNvSpPr>
            <a:spLocks xmlns:a="http://schemas.openxmlformats.org/drawingml/2006/main" noGrp="1"/>
          </p:cNvSpPr>
          <p:nvPr/>
        </p:nvSpPr>
        <p:spPr>
          <a:xfrm xmlns:a="http://schemas.openxmlformats.org/drawingml/2006/main">
            <a:off x="11153775" y="21783675"/>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B</a:t>
            </a:r>
          </a:p>
        </p:txBody>
      </p:sp>
      <p:sp>
        <p:nvSpPr>
          <p:cNvPr id="58" name="rag-title">
            <a:extLst xmlns:a="http://schemas.openxmlformats.org/drawingml/2006/main">
              <a:ext uri="{FF2B5EF4-FFF2-40B4-BE49-F238E27FC236}">
                <a16:creationId xmlns:a16="http://schemas.microsoft.com/office/drawing/2014/main" id="{7B76E2EA-BB00-4A83-BBF2-0304AE2F1EF6}"/>
              </a:ext>
            </a:extLst>
          </p:cNvPr>
          <p:cNvSpPr>
            <a:spLocks xmlns:a="http://schemas.openxmlformats.org/drawingml/2006/main" noGrp="1"/>
          </p:cNvSpPr>
          <p:nvPr/>
        </p:nvSpPr>
        <p:spPr>
          <a:xfrm xmlns:a="http://schemas.openxmlformats.org/drawingml/2006/main">
            <a:off x="11925300" y="21697950"/>
            <a:ext cx="718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Semantic RAG</a:t>
            </a:r>
          </a:p>
        </p:txBody>
      </p:sp>
      <p:sp>
        <p:nvSpPr>
          <p:cNvPr id="59" name="rag-detail">
            <a:extLst xmlns:a="http://schemas.openxmlformats.org/drawingml/2006/main">
              <a:ext uri="{FF2B5EF4-FFF2-40B4-BE49-F238E27FC236}">
                <a16:creationId xmlns:a16="http://schemas.microsoft.com/office/drawing/2014/main" id="{E7A5B7C7-ED11-49AE-AA6D-D61D2DEDF82E}"/>
              </a:ext>
            </a:extLst>
          </p:cNvPr>
          <p:cNvSpPr>
            <a:spLocks xmlns:a="http://schemas.openxmlformats.org/drawingml/2006/main" noGrp="1"/>
          </p:cNvSpPr>
          <p:nvPr/>
        </p:nvSpPr>
        <p:spPr>
          <a:xfrm xmlns:a="http://schemas.openxmlformats.org/drawingml/2006/main">
            <a:off x="11163300" y="22317075"/>
            <a:ext cx="79438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BGE retrieval + optional rerank</a:t>
            </a:r>
          </a:p>
          <a:p xmlns:a="http://schemas.openxmlformats.org/drawingml/2006/main">
            <a:pPr algn="l">
              <a:defRPr sz="2850" b="0">
                <a:solidFill>
                  <a:srgbClr val="536A7F"/>
                </a:solidFill>
              </a:defRPr>
            </a:pPr>
            <a:r>
              <a:rPr sz="2850" b="0">
                <a:solidFill>
                  <a:srgbClr val="536A7F"/>
                </a:solidFill>
              </a:rPr>
              <a:t>Long documents, rules, news and new content</a:t>
            </a:r>
          </a:p>
        </p:txBody>
      </p:sp>
      <p:sp>
        <p:nvSpPr>
          <p:cNvPr id="60" name="safe-box">
            <a:extLst xmlns:a="http://schemas.openxmlformats.org/drawingml/2006/main">
              <a:ext uri="{FF2B5EF4-FFF2-40B4-BE49-F238E27FC236}">
                <a16:creationId xmlns:a16="http://schemas.microsoft.com/office/drawing/2014/main" id="{109A5388-1D0A-47B0-8284-5EB216C4D3BA}"/>
              </a:ext>
            </a:extLst>
          </p:cNvPr>
          <p:cNvSpPr>
            <a:spLocks xmlns:a="http://schemas.openxmlformats.org/drawingml/2006/main" noGrp="1"/>
          </p:cNvSpPr>
          <p:nvPr/>
        </p:nvSpPr>
        <p:spPr>
          <a:xfrm xmlns:a="http://schemas.openxmlformats.org/drawingml/2006/main">
            <a:off x="20459700" y="21526500"/>
            <a:ext cx="8382000" cy="1666875"/>
          </a:xfrm>
          <a:prstGeom xmlns:a="http://schemas.openxmlformats.org/drawingml/2006/main" prst="roundRect">
            <a:avLst>
              <a:gd name="adj" fmla="val 6857"/>
            </a:avLst>
          </a:prstGeom>
          <a:solidFill xmlns:a="http://schemas.openxmlformats.org/drawingml/2006/main">
            <a:srgbClr val="FFF0F2"/>
          </a:solidFill>
          <a:ln xmlns:a="http://schemas.openxmlformats.org/drawingml/2006/main" w="28575">
            <a:solidFill>
              <a:srgbClr val="C64758"/>
            </a:solidFill>
            <a:prstDash val="solid"/>
          </a:ln>
        </p:spPr>
      </p:sp>
      <p:sp>
        <p:nvSpPr>
          <p:cNvPr id="61" name="safe-code-bg">
            <a:extLst xmlns:a="http://schemas.openxmlformats.org/drawingml/2006/main">
              <a:ext uri="{FF2B5EF4-FFF2-40B4-BE49-F238E27FC236}">
                <a16:creationId xmlns:a16="http://schemas.microsoft.com/office/drawing/2014/main" id="{2BF850C8-9227-4A5F-B5B9-DF32FB34EB56}"/>
              </a:ext>
            </a:extLst>
          </p:cNvPr>
          <p:cNvSpPr>
            <a:spLocks xmlns:a="http://schemas.openxmlformats.org/drawingml/2006/main" noGrp="1"/>
          </p:cNvSpPr>
          <p:nvPr/>
        </p:nvSpPr>
        <p:spPr>
          <a:xfrm xmlns:a="http://schemas.openxmlformats.org/drawingml/2006/main">
            <a:off x="20669250" y="21755100"/>
            <a:ext cx="590550" cy="590550"/>
          </a:xfrm>
          <a:prstGeom xmlns:a="http://schemas.openxmlformats.org/drawingml/2006/main" prst="ellipse">
            <a:avLst/>
          </a:prstGeom>
          <a:solidFill xmlns:a="http://schemas.openxmlformats.org/drawingml/2006/main">
            <a:srgbClr val="C64758"/>
          </a:solidFill>
          <a:ln xmlns:a="http://schemas.openxmlformats.org/drawingml/2006/main" w="0">
            <a:solidFill>
              <a:srgbClr val="C64758"/>
            </a:solidFill>
            <a:prstDash val="solid"/>
          </a:ln>
        </p:spPr>
      </p:sp>
      <p:sp>
        <p:nvSpPr>
          <p:cNvPr id="62" name="safe-code">
            <a:extLst xmlns:a="http://schemas.openxmlformats.org/drawingml/2006/main">
              <a:ext uri="{FF2B5EF4-FFF2-40B4-BE49-F238E27FC236}">
                <a16:creationId xmlns:a16="http://schemas.microsoft.com/office/drawing/2014/main" id="{32165387-8718-400C-91AD-E389D9D67B3F}"/>
              </a:ext>
            </a:extLst>
          </p:cNvPr>
          <p:cNvSpPr>
            <a:spLocks xmlns:a="http://schemas.openxmlformats.org/drawingml/2006/main" noGrp="1"/>
          </p:cNvSpPr>
          <p:nvPr/>
        </p:nvSpPr>
        <p:spPr>
          <a:xfrm xmlns:a="http://schemas.openxmlformats.org/drawingml/2006/main">
            <a:off x="20669250" y="21783675"/>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C</a:t>
            </a:r>
          </a:p>
        </p:txBody>
      </p:sp>
      <p:sp>
        <p:nvSpPr>
          <p:cNvPr id="63" name="safe-title">
            <a:extLst xmlns:a="http://schemas.openxmlformats.org/drawingml/2006/main">
              <a:ext uri="{FF2B5EF4-FFF2-40B4-BE49-F238E27FC236}">
                <a16:creationId xmlns:a16="http://schemas.microsoft.com/office/drawing/2014/main" id="{0B5B0F23-FDD4-4DB4-A842-A4638EC4D5F5}"/>
              </a:ext>
            </a:extLst>
          </p:cNvPr>
          <p:cNvSpPr>
            <a:spLocks xmlns:a="http://schemas.openxmlformats.org/drawingml/2006/main" noGrp="1"/>
          </p:cNvSpPr>
          <p:nvPr/>
        </p:nvSpPr>
        <p:spPr>
          <a:xfrm xmlns:a="http://schemas.openxmlformats.org/drawingml/2006/main">
            <a:off x="21440775" y="21697950"/>
            <a:ext cx="718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Safe Outcome</a:t>
            </a:r>
          </a:p>
        </p:txBody>
      </p:sp>
      <p:sp>
        <p:nvSpPr>
          <p:cNvPr id="64" name="safe-detail">
            <a:extLst xmlns:a="http://schemas.openxmlformats.org/drawingml/2006/main">
              <a:ext uri="{FF2B5EF4-FFF2-40B4-BE49-F238E27FC236}">
                <a16:creationId xmlns:a16="http://schemas.microsoft.com/office/drawing/2014/main" id="{F63CFBE3-92EF-46A3-B11E-4C51055EF1FF}"/>
              </a:ext>
            </a:extLst>
          </p:cNvPr>
          <p:cNvSpPr>
            <a:spLocks xmlns:a="http://schemas.openxmlformats.org/drawingml/2006/main" noGrp="1"/>
          </p:cNvSpPr>
          <p:nvPr/>
        </p:nvSpPr>
        <p:spPr>
          <a:xfrm xmlns:a="http://schemas.openxmlformats.org/drawingml/2006/main">
            <a:off x="20678775" y="22317075"/>
            <a:ext cx="79438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Insufficient evidence or ambiguous target</a:t>
            </a:r>
          </a:p>
          <a:p xmlns:a="http://schemas.openxmlformats.org/drawingml/2006/main">
            <a:pPr algn="l">
              <a:defRPr sz="2850" b="0">
                <a:solidFill>
                  <a:srgbClr val="536A7F"/>
                </a:solidFill>
              </a:defRPr>
            </a:pPr>
            <a:r>
              <a:rPr sz="2850" b="0">
                <a:solidFill>
                  <a:srgbClr val="536A7F"/>
                </a:solidFill>
              </a:rPr>
              <a:t>Clarification or no-answer</a:t>
            </a:r>
          </a:p>
        </p:txBody>
      </p:sp>
      <p:cxnSp>
        <p:nvCxnSpPr>
          <p:cNvPr id="196" name=""/>
          <p:cNvCxnSpPr>
            <a:stCxn xmlns:a="http://schemas.openxmlformats.org/drawingml/2006/main" id="43" idx="2"/>
            <a:endCxn xmlns:a="http://schemas.openxmlformats.org/drawingml/2006/main" id="50" idx="0"/>
          </p:cNvCxnSpPr>
          <p:nvPr/>
        </p:nvCxnSpPr>
        <p:spPr>
          <a:xfrm xmlns:a="http://schemas.openxmlformats.org/drawingml/2006/main" flipH="1">
            <a:off x="5619750" y="21050250"/>
            <a:ext cx="14906625" cy="476250"/>
          </a:xfrm>
          <a:prstGeom xmlns:a="http://schemas.openxmlformats.org/drawingml/2006/main" prst="bentConnector4">
            <a:avLst>
              <a:gd name="adj1" fmla="val 0"/>
              <a:gd name="adj2" fmla="val 50000"/>
            </a:avLst>
          </a:prstGeom>
          <a:ln xmlns:a="http://schemas.openxmlformats.org/drawingml/2006/main" w="38100">
            <a:solidFill>
              <a:srgbClr val="158C76"/>
            </a:solidFill>
            <a:prstDash val="solid"/>
            <a:tailEnd type="arrow" w="med" len="med"/>
          </a:ln>
        </p:spPr>
      </p:cxnSp>
      <p:cxnSp>
        <p:nvCxnSpPr>
          <p:cNvPr id="197" name=""/>
          <p:cNvCxnSpPr>
            <a:stCxn xmlns:a="http://schemas.openxmlformats.org/drawingml/2006/main" id="43" idx="2"/>
            <a:endCxn xmlns:a="http://schemas.openxmlformats.org/drawingml/2006/main" id="55" idx="0"/>
          </p:cNvCxnSpPr>
          <p:nvPr/>
        </p:nvCxnSpPr>
        <p:spPr>
          <a:xfrm xmlns:a="http://schemas.openxmlformats.org/drawingml/2006/main" flipH="1">
            <a:off x="15135225" y="21050250"/>
            <a:ext cx="5391150" cy="476250"/>
          </a:xfrm>
          <a:prstGeom xmlns:a="http://schemas.openxmlformats.org/drawingml/2006/main" prst="bentConnector4">
            <a:avLst>
              <a:gd name="adj1" fmla="val 0"/>
              <a:gd name="adj2" fmla="val 50000"/>
            </a:avLst>
          </a:prstGeom>
          <a:ln xmlns:a="http://schemas.openxmlformats.org/drawingml/2006/main" w="38100">
            <a:solidFill>
              <a:srgbClr val="2787D9"/>
            </a:solidFill>
            <a:prstDash val="solid"/>
            <a:tailEnd type="arrow" w="med" len="med"/>
          </a:ln>
        </p:spPr>
      </p:cxnSp>
      <p:cxnSp>
        <p:nvCxnSpPr>
          <p:cNvPr id="198" name=""/>
          <p:cNvCxnSpPr>
            <a:stCxn xmlns:a="http://schemas.openxmlformats.org/drawingml/2006/main" id="43" idx="2"/>
            <a:endCxn xmlns:a="http://schemas.openxmlformats.org/drawingml/2006/main" id="60" idx="0"/>
          </p:cNvCxnSpPr>
          <p:nvPr/>
        </p:nvCxnSpPr>
        <p:spPr>
          <a:xfrm xmlns:a="http://schemas.openxmlformats.org/drawingml/2006/main">
            <a:off x="20526375" y="21050250"/>
            <a:ext cx="4124325" cy="476250"/>
          </a:xfrm>
          <a:prstGeom xmlns:a="http://schemas.openxmlformats.org/drawingml/2006/main" prst="bentConnector4">
            <a:avLst>
              <a:gd name="adj1" fmla="val 0"/>
              <a:gd name="adj2" fmla="val 50000"/>
            </a:avLst>
          </a:prstGeom>
          <a:ln xmlns:a="http://schemas.openxmlformats.org/drawingml/2006/main" w="38100">
            <a:solidFill>
              <a:srgbClr val="C64758"/>
            </a:solidFill>
            <a:prstDash val="solid"/>
            <a:tailEnd type="arrow" w="med" len="med"/>
          </a:ln>
        </p:spPr>
      </p:cxnSp>
      <p:sp>
        <p:nvSpPr>
          <p:cNvPr id="68" name="evidence-box">
            <a:extLst xmlns:a="http://schemas.openxmlformats.org/drawingml/2006/main">
              <a:ext uri="{FF2B5EF4-FFF2-40B4-BE49-F238E27FC236}">
                <a16:creationId xmlns:a16="http://schemas.microsoft.com/office/drawing/2014/main" id="{3101511D-7E44-4D0C-A1FB-D9E8D5A82CAC}"/>
              </a:ext>
            </a:extLst>
          </p:cNvPr>
          <p:cNvSpPr>
            <a:spLocks xmlns:a="http://schemas.openxmlformats.org/drawingml/2006/main" noGrp="1"/>
          </p:cNvSpPr>
          <p:nvPr/>
        </p:nvSpPr>
        <p:spPr>
          <a:xfrm xmlns:a="http://schemas.openxmlformats.org/drawingml/2006/main">
            <a:off x="1428750" y="23669625"/>
            <a:ext cx="752475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28575">
            <a:solidFill>
              <a:srgbClr val="158C76"/>
            </a:solidFill>
            <a:prstDash val="solid"/>
          </a:ln>
        </p:spPr>
      </p:sp>
      <p:sp>
        <p:nvSpPr>
          <p:cNvPr id="69" name="evidence-code-bg">
            <a:extLst xmlns:a="http://schemas.openxmlformats.org/drawingml/2006/main">
              <a:ext uri="{FF2B5EF4-FFF2-40B4-BE49-F238E27FC236}">
                <a16:creationId xmlns:a16="http://schemas.microsoft.com/office/drawing/2014/main" id="{150DA573-4A50-41B6-92AA-47BFC7786292}"/>
              </a:ext>
            </a:extLst>
          </p:cNvPr>
          <p:cNvSpPr>
            <a:spLocks xmlns:a="http://schemas.openxmlformats.org/drawingml/2006/main" noGrp="1"/>
          </p:cNvSpPr>
          <p:nvPr/>
        </p:nvSpPr>
        <p:spPr>
          <a:xfrm xmlns:a="http://schemas.openxmlformats.org/drawingml/2006/main">
            <a:off x="1638300" y="23898225"/>
            <a:ext cx="590550" cy="590550"/>
          </a:xfrm>
          <a:prstGeom xmlns:a="http://schemas.openxmlformats.org/drawingml/2006/main" prst="ellipse">
            <a:avLst/>
          </a:prstGeom>
          <a:solidFill xmlns:a="http://schemas.openxmlformats.org/drawingml/2006/main">
            <a:srgbClr val="158C76"/>
          </a:solidFill>
          <a:ln xmlns:a="http://schemas.openxmlformats.org/drawingml/2006/main" w="0">
            <a:solidFill>
              <a:srgbClr val="158C76"/>
            </a:solidFill>
            <a:prstDash val="solid"/>
          </a:ln>
        </p:spPr>
      </p:sp>
      <p:sp>
        <p:nvSpPr>
          <p:cNvPr id="70" name="evidence-code">
            <a:extLst xmlns:a="http://schemas.openxmlformats.org/drawingml/2006/main">
              <a:ext uri="{FF2B5EF4-FFF2-40B4-BE49-F238E27FC236}">
                <a16:creationId xmlns:a16="http://schemas.microsoft.com/office/drawing/2014/main" id="{9BB09AF5-7D85-43D8-9A30-14DF97801D4E}"/>
              </a:ext>
            </a:extLst>
          </p:cNvPr>
          <p:cNvSpPr>
            <a:spLocks xmlns:a="http://schemas.openxmlformats.org/drawingml/2006/main" noGrp="1"/>
          </p:cNvSpPr>
          <p:nvPr/>
        </p:nvSpPr>
        <p:spPr>
          <a:xfrm xmlns:a="http://schemas.openxmlformats.org/drawingml/2006/main">
            <a:off x="1638300" y="239268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6</a:t>
            </a:r>
          </a:p>
        </p:txBody>
      </p:sp>
      <p:sp>
        <p:nvSpPr>
          <p:cNvPr id="71" name="evidence-title">
            <a:extLst xmlns:a="http://schemas.openxmlformats.org/drawingml/2006/main">
              <a:ext uri="{FF2B5EF4-FFF2-40B4-BE49-F238E27FC236}">
                <a16:creationId xmlns:a16="http://schemas.microsoft.com/office/drawing/2014/main" id="{E1D0943E-2293-4C44-9606-EB9B370BD344}"/>
              </a:ext>
            </a:extLst>
          </p:cNvPr>
          <p:cNvSpPr>
            <a:spLocks xmlns:a="http://schemas.openxmlformats.org/drawingml/2006/main" noGrp="1"/>
          </p:cNvSpPr>
          <p:nvPr/>
        </p:nvSpPr>
        <p:spPr>
          <a:xfrm xmlns:a="http://schemas.openxmlformats.org/drawingml/2006/main">
            <a:off x="2409825" y="23841075"/>
            <a:ext cx="632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Evidence + Draft</a:t>
            </a:r>
          </a:p>
        </p:txBody>
      </p:sp>
      <p:sp>
        <p:nvSpPr>
          <p:cNvPr id="72" name="evidence-detail">
            <a:extLst xmlns:a="http://schemas.openxmlformats.org/drawingml/2006/main">
              <a:ext uri="{FF2B5EF4-FFF2-40B4-BE49-F238E27FC236}">
                <a16:creationId xmlns:a16="http://schemas.microsoft.com/office/drawing/2014/main" id="{157198F9-A821-480A-AFC8-679F803A0D76}"/>
              </a:ext>
            </a:extLst>
          </p:cNvPr>
          <p:cNvSpPr>
            <a:spLocks xmlns:a="http://schemas.openxmlformats.org/drawingml/2006/main" noGrp="1"/>
          </p:cNvSpPr>
          <p:nvPr/>
        </p:nvSpPr>
        <p:spPr>
          <a:xfrm xmlns:a="http://schemas.openxmlformats.org/drawingml/2006/main">
            <a:off x="1647825" y="24460200"/>
            <a:ext cx="7086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Attach sources and build a factual draft</a:t>
            </a:r>
          </a:p>
          <a:p xmlns:a="http://schemas.openxmlformats.org/drawingml/2006/main">
            <a:pPr algn="l">
              <a:defRPr sz="2850" b="0">
                <a:solidFill>
                  <a:srgbClr val="536A7F"/>
                </a:solidFill>
              </a:defRPr>
            </a:pPr>
            <a:r>
              <a:rPr sz="2850" b="0">
                <a:solidFill>
                  <a:srgbClr val="536A7F"/>
                </a:solidFill>
              </a:rPr>
              <a:t>The draft can skip LLM generation</a:t>
            </a:r>
          </a:p>
        </p:txBody>
      </p:sp>
      <p:sp>
        <p:nvSpPr>
          <p:cNvPr id="73" name="llm-gate-box">
            <a:extLst xmlns:a="http://schemas.openxmlformats.org/drawingml/2006/main">
              <a:ext uri="{FF2B5EF4-FFF2-40B4-BE49-F238E27FC236}">
                <a16:creationId xmlns:a16="http://schemas.microsoft.com/office/drawing/2014/main" id="{837B0935-EC16-4E96-A2EA-DB545A9CE444}"/>
              </a:ext>
            </a:extLst>
          </p:cNvPr>
          <p:cNvSpPr>
            <a:spLocks xmlns:a="http://schemas.openxmlformats.org/drawingml/2006/main" noGrp="1"/>
          </p:cNvSpPr>
          <p:nvPr/>
        </p:nvSpPr>
        <p:spPr>
          <a:xfrm xmlns:a="http://schemas.openxmlformats.org/drawingml/2006/main">
            <a:off x="9620250" y="23669625"/>
            <a:ext cx="4476750" cy="1714500"/>
          </a:xfrm>
          <a:prstGeom xmlns:a="http://schemas.openxmlformats.org/drawingml/2006/main" prst="roundRect">
            <a:avLst>
              <a:gd name="adj" fmla="val 6667"/>
            </a:avLst>
          </a:prstGeom>
          <a:solidFill xmlns:a="http://schemas.openxmlformats.org/drawingml/2006/main">
            <a:srgbClr val="FFF1E8"/>
          </a:solidFill>
          <a:ln xmlns:a="http://schemas.openxmlformats.org/drawingml/2006/main" w="28575">
            <a:solidFill>
              <a:srgbClr val="E86F22"/>
            </a:solidFill>
            <a:prstDash val="solid"/>
          </a:ln>
        </p:spPr>
      </p:sp>
      <p:sp>
        <p:nvSpPr>
          <p:cNvPr id="74" name="llm-gate-title">
            <a:extLst xmlns:a="http://schemas.openxmlformats.org/drawingml/2006/main">
              <a:ext uri="{FF2B5EF4-FFF2-40B4-BE49-F238E27FC236}">
                <a16:creationId xmlns:a16="http://schemas.microsoft.com/office/drawing/2014/main" id="{081E93D4-224E-4B05-AF57-A00FF3CCF7AB}"/>
              </a:ext>
            </a:extLst>
          </p:cNvPr>
          <p:cNvSpPr>
            <a:spLocks xmlns:a="http://schemas.openxmlformats.org/drawingml/2006/main" noGrp="1"/>
          </p:cNvSpPr>
          <p:nvPr/>
        </p:nvSpPr>
        <p:spPr>
          <a:xfrm xmlns:a="http://schemas.openxmlformats.org/drawingml/2006/main">
            <a:off x="9858375" y="2381250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225" b="1">
                <a:solidFill>
                  <a:srgbClr val="E86F22"/>
                </a:solidFill>
              </a:defRPr>
            </a:pPr>
            <a:r>
              <a:rPr sz="3225" b="1">
                <a:solidFill>
                  <a:srgbClr val="E86F22"/>
                </a:solidFill>
              </a:rPr>
              <a:t>OPTIONAL LLM GATE</a:t>
            </a:r>
          </a:p>
        </p:txBody>
      </p:sp>
      <p:sp>
        <p:nvSpPr>
          <p:cNvPr id="75" name="llm-gate-detail">
            <a:extLst xmlns:a="http://schemas.openxmlformats.org/drawingml/2006/main">
              <a:ext uri="{FF2B5EF4-FFF2-40B4-BE49-F238E27FC236}">
                <a16:creationId xmlns:a16="http://schemas.microsoft.com/office/drawing/2014/main" id="{FBEED874-D7BF-419A-B69A-E6468AC0FA62}"/>
              </a:ext>
            </a:extLst>
          </p:cNvPr>
          <p:cNvSpPr>
            <a:spLocks xmlns:a="http://schemas.openxmlformats.org/drawingml/2006/main" noGrp="1"/>
          </p:cNvSpPr>
          <p:nvPr/>
        </p:nvSpPr>
        <p:spPr>
          <a:xfrm xmlns:a="http://schemas.openxmlformats.org/drawingml/2006/main">
            <a:off x="9858375" y="24431625"/>
            <a:ext cx="400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850" b="0">
                <a:solidFill>
                  <a:srgbClr val="14283C"/>
                </a:solidFill>
              </a:defRPr>
            </a:pPr>
            <a:r>
              <a:rPr sz="2850" b="0">
                <a:solidFill>
                  <a:srgbClr val="14283C"/>
                </a:solidFill>
              </a:rPr>
              <a:t>Call the model only when it adds value within the deadline</a:t>
            </a:r>
          </a:p>
        </p:txBody>
      </p:sp>
      <p:sp>
        <p:nvSpPr>
          <p:cNvPr id="76" name="llm-box">
            <a:extLst xmlns:a="http://schemas.openxmlformats.org/drawingml/2006/main">
              <a:ext uri="{FF2B5EF4-FFF2-40B4-BE49-F238E27FC236}">
                <a16:creationId xmlns:a16="http://schemas.microsoft.com/office/drawing/2014/main" id="{16B3F2AD-C2D1-4122-B041-17D283D5C9EF}"/>
              </a:ext>
            </a:extLst>
          </p:cNvPr>
          <p:cNvSpPr>
            <a:spLocks xmlns:a="http://schemas.openxmlformats.org/drawingml/2006/main" noGrp="1"/>
          </p:cNvSpPr>
          <p:nvPr/>
        </p:nvSpPr>
        <p:spPr>
          <a:xfrm xmlns:a="http://schemas.openxmlformats.org/drawingml/2006/main">
            <a:off x="14763750" y="23669625"/>
            <a:ext cx="6191250" cy="1714500"/>
          </a:xfrm>
          <a:prstGeom xmlns:a="http://schemas.openxmlformats.org/drawingml/2006/main" prst="roundRect">
            <a:avLst>
              <a:gd name="adj" fmla="val 6667"/>
            </a:avLst>
          </a:prstGeom>
          <a:solidFill xmlns:a="http://schemas.openxmlformats.org/drawingml/2006/main">
            <a:srgbClr val="FFF1E8"/>
          </a:solidFill>
          <a:ln xmlns:a="http://schemas.openxmlformats.org/drawingml/2006/main" w="28575">
            <a:solidFill>
              <a:srgbClr val="E86F22"/>
            </a:solidFill>
            <a:prstDash val="solid"/>
          </a:ln>
        </p:spPr>
      </p:sp>
      <p:sp>
        <p:nvSpPr>
          <p:cNvPr id="77" name="llm-code-bg">
            <a:extLst xmlns:a="http://schemas.openxmlformats.org/drawingml/2006/main">
              <a:ext uri="{FF2B5EF4-FFF2-40B4-BE49-F238E27FC236}">
                <a16:creationId xmlns:a16="http://schemas.microsoft.com/office/drawing/2014/main" id="{A49C1180-EE3C-4D2D-B2F9-7E1E25A4B15A}"/>
              </a:ext>
            </a:extLst>
          </p:cNvPr>
          <p:cNvSpPr>
            <a:spLocks xmlns:a="http://schemas.openxmlformats.org/drawingml/2006/main" noGrp="1"/>
          </p:cNvSpPr>
          <p:nvPr/>
        </p:nvSpPr>
        <p:spPr>
          <a:xfrm xmlns:a="http://schemas.openxmlformats.org/drawingml/2006/main">
            <a:off x="14973300" y="23898225"/>
            <a:ext cx="590550" cy="590550"/>
          </a:xfrm>
          <a:prstGeom xmlns:a="http://schemas.openxmlformats.org/drawingml/2006/main" prst="ellipse">
            <a:avLst/>
          </a:prstGeom>
          <a:solidFill xmlns:a="http://schemas.openxmlformats.org/drawingml/2006/main">
            <a:srgbClr val="E86F22"/>
          </a:solidFill>
          <a:ln xmlns:a="http://schemas.openxmlformats.org/drawingml/2006/main" w="0">
            <a:solidFill>
              <a:srgbClr val="E86F22"/>
            </a:solidFill>
            <a:prstDash val="solid"/>
          </a:ln>
        </p:spPr>
      </p:sp>
      <p:sp>
        <p:nvSpPr>
          <p:cNvPr id="78" name="llm-code">
            <a:extLst xmlns:a="http://schemas.openxmlformats.org/drawingml/2006/main">
              <a:ext uri="{FF2B5EF4-FFF2-40B4-BE49-F238E27FC236}">
                <a16:creationId xmlns:a16="http://schemas.microsoft.com/office/drawing/2014/main" id="{CB59B34E-0ED3-4A01-96E6-F48AF1F58D2D}"/>
              </a:ext>
            </a:extLst>
          </p:cNvPr>
          <p:cNvSpPr>
            <a:spLocks xmlns:a="http://schemas.openxmlformats.org/drawingml/2006/main" noGrp="1"/>
          </p:cNvSpPr>
          <p:nvPr/>
        </p:nvSpPr>
        <p:spPr>
          <a:xfrm xmlns:a="http://schemas.openxmlformats.org/drawingml/2006/main">
            <a:off x="14973300" y="239268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7</a:t>
            </a:r>
          </a:p>
        </p:txBody>
      </p:sp>
      <p:sp>
        <p:nvSpPr>
          <p:cNvPr id="79" name="llm-title">
            <a:extLst xmlns:a="http://schemas.openxmlformats.org/drawingml/2006/main">
              <a:ext uri="{FF2B5EF4-FFF2-40B4-BE49-F238E27FC236}">
                <a16:creationId xmlns:a16="http://schemas.microsoft.com/office/drawing/2014/main" id="{63308E38-A9A4-4702-96FD-85DAAEC004F6}"/>
              </a:ext>
            </a:extLst>
          </p:cNvPr>
          <p:cNvSpPr>
            <a:spLocks xmlns:a="http://schemas.openxmlformats.org/drawingml/2006/main" noGrp="1"/>
          </p:cNvSpPr>
          <p:nvPr/>
        </p:nvSpPr>
        <p:spPr>
          <a:xfrm xmlns:a="http://schemas.openxmlformats.org/drawingml/2006/main">
            <a:off x="15744825" y="23841075"/>
            <a:ext cx="499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Local LLM Assist</a:t>
            </a:r>
          </a:p>
        </p:txBody>
      </p:sp>
      <p:sp>
        <p:nvSpPr>
          <p:cNvPr id="80" name="llm-detail">
            <a:extLst xmlns:a="http://schemas.openxmlformats.org/drawingml/2006/main">
              <a:ext uri="{FF2B5EF4-FFF2-40B4-BE49-F238E27FC236}">
                <a16:creationId xmlns:a16="http://schemas.microsoft.com/office/drawing/2014/main" id="{AFC66C80-6828-4988-A009-6245077E9803}"/>
              </a:ext>
            </a:extLst>
          </p:cNvPr>
          <p:cNvSpPr>
            <a:spLocks xmlns:a="http://schemas.openxmlformats.org/drawingml/2006/main" noGrp="1"/>
          </p:cNvSpPr>
          <p:nvPr/>
        </p:nvSpPr>
        <p:spPr>
          <a:xfrm xmlns:a="http://schemas.openxmlformats.org/drawingml/2006/main">
            <a:off x="14982825" y="24460200"/>
            <a:ext cx="57531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Intent review, query planner, tool router</a:t>
            </a:r>
          </a:p>
          <a:p xmlns:a="http://schemas.openxmlformats.org/drawingml/2006/main">
            <a:pPr algn="l">
              <a:defRPr sz="2850" b="0">
                <a:solidFill>
                  <a:srgbClr val="536A7F"/>
                </a:solidFill>
              </a:defRPr>
            </a:pPr>
            <a:r>
              <a:rPr sz="2850" b="0">
                <a:solidFill>
                  <a:srgbClr val="536A7F"/>
                </a:solidFill>
              </a:rPr>
              <a:t>and evidence-constrained composer</a:t>
            </a:r>
          </a:p>
        </p:txBody>
      </p:sp>
      <p:sp>
        <p:nvSpPr>
          <p:cNvPr id="81" name="validate-box">
            <a:extLst xmlns:a="http://schemas.openxmlformats.org/drawingml/2006/main">
              <a:ext uri="{FF2B5EF4-FFF2-40B4-BE49-F238E27FC236}">
                <a16:creationId xmlns:a16="http://schemas.microsoft.com/office/drawing/2014/main" id="{B2F5121A-FEB4-4B90-9E75-3F258B241CDD}"/>
              </a:ext>
            </a:extLst>
          </p:cNvPr>
          <p:cNvSpPr>
            <a:spLocks xmlns:a="http://schemas.openxmlformats.org/drawingml/2006/main" noGrp="1"/>
          </p:cNvSpPr>
          <p:nvPr/>
        </p:nvSpPr>
        <p:spPr>
          <a:xfrm xmlns:a="http://schemas.openxmlformats.org/drawingml/2006/main">
            <a:off x="21621750" y="23669625"/>
            <a:ext cx="7219950" cy="1714500"/>
          </a:xfrm>
          <a:prstGeom xmlns:a="http://schemas.openxmlformats.org/drawingml/2006/main" prst="roundRect">
            <a:avLst>
              <a:gd name="adj" fmla="val 6667"/>
            </a:avLst>
          </a:prstGeom>
          <a:solidFill xmlns:a="http://schemas.openxmlformats.org/drawingml/2006/main">
            <a:srgbClr val="FFF0F2"/>
          </a:solidFill>
          <a:ln xmlns:a="http://schemas.openxmlformats.org/drawingml/2006/main" w="28575">
            <a:solidFill>
              <a:srgbClr val="C64758"/>
            </a:solidFill>
            <a:prstDash val="solid"/>
          </a:ln>
        </p:spPr>
      </p:sp>
      <p:sp>
        <p:nvSpPr>
          <p:cNvPr id="82" name="validate-code-bg">
            <a:extLst xmlns:a="http://schemas.openxmlformats.org/drawingml/2006/main">
              <a:ext uri="{FF2B5EF4-FFF2-40B4-BE49-F238E27FC236}">
                <a16:creationId xmlns:a16="http://schemas.microsoft.com/office/drawing/2014/main" id="{00B003DD-7A08-40D8-80F4-AFD31C5EB42A}"/>
              </a:ext>
            </a:extLst>
          </p:cNvPr>
          <p:cNvSpPr>
            <a:spLocks xmlns:a="http://schemas.openxmlformats.org/drawingml/2006/main" noGrp="1"/>
          </p:cNvSpPr>
          <p:nvPr/>
        </p:nvSpPr>
        <p:spPr>
          <a:xfrm xmlns:a="http://schemas.openxmlformats.org/drawingml/2006/main">
            <a:off x="21831300" y="23898225"/>
            <a:ext cx="590550" cy="590550"/>
          </a:xfrm>
          <a:prstGeom xmlns:a="http://schemas.openxmlformats.org/drawingml/2006/main" prst="ellipse">
            <a:avLst/>
          </a:prstGeom>
          <a:solidFill xmlns:a="http://schemas.openxmlformats.org/drawingml/2006/main">
            <a:srgbClr val="C64758"/>
          </a:solidFill>
          <a:ln xmlns:a="http://schemas.openxmlformats.org/drawingml/2006/main" w="0">
            <a:solidFill>
              <a:srgbClr val="C64758"/>
            </a:solidFill>
            <a:prstDash val="solid"/>
          </a:ln>
        </p:spPr>
      </p:sp>
      <p:sp>
        <p:nvSpPr>
          <p:cNvPr id="83" name="validate-code">
            <a:extLst xmlns:a="http://schemas.openxmlformats.org/drawingml/2006/main">
              <a:ext uri="{FF2B5EF4-FFF2-40B4-BE49-F238E27FC236}">
                <a16:creationId xmlns:a16="http://schemas.microsoft.com/office/drawing/2014/main" id="{8CB908F8-4894-450C-B802-346772326568}"/>
              </a:ext>
            </a:extLst>
          </p:cNvPr>
          <p:cNvSpPr>
            <a:spLocks xmlns:a="http://schemas.openxmlformats.org/drawingml/2006/main" noGrp="1"/>
          </p:cNvSpPr>
          <p:nvPr/>
        </p:nvSpPr>
        <p:spPr>
          <a:xfrm xmlns:a="http://schemas.openxmlformats.org/drawingml/2006/main">
            <a:off x="21831300" y="2392680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8</a:t>
            </a:r>
          </a:p>
        </p:txBody>
      </p:sp>
      <p:sp>
        <p:nvSpPr>
          <p:cNvPr id="84" name="validate-title">
            <a:extLst xmlns:a="http://schemas.openxmlformats.org/drawingml/2006/main">
              <a:ext uri="{FF2B5EF4-FFF2-40B4-BE49-F238E27FC236}">
                <a16:creationId xmlns:a16="http://schemas.microsoft.com/office/drawing/2014/main" id="{B4455A46-4D41-4DEB-ADBC-FABCAAE2E32A}"/>
              </a:ext>
            </a:extLst>
          </p:cNvPr>
          <p:cNvSpPr>
            <a:spLocks xmlns:a="http://schemas.openxmlformats.org/drawingml/2006/main" noGrp="1"/>
          </p:cNvSpPr>
          <p:nvPr/>
        </p:nvSpPr>
        <p:spPr>
          <a:xfrm xmlns:a="http://schemas.openxmlformats.org/drawingml/2006/main">
            <a:off x="22602825" y="23841075"/>
            <a:ext cx="601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75" b="1">
                <a:solidFill>
                  <a:srgbClr val="14283C"/>
                </a:solidFill>
              </a:defRPr>
            </a:pPr>
            <a:r>
              <a:rPr sz="3375" b="1">
                <a:solidFill>
                  <a:srgbClr val="14283C"/>
                </a:solidFill>
              </a:rPr>
              <a:t>Validate + Repair + Veto</a:t>
            </a:r>
          </a:p>
        </p:txBody>
      </p:sp>
      <p:sp>
        <p:nvSpPr>
          <p:cNvPr id="85" name="validate-detail">
            <a:extLst xmlns:a="http://schemas.openxmlformats.org/drawingml/2006/main">
              <a:ext uri="{FF2B5EF4-FFF2-40B4-BE49-F238E27FC236}">
                <a16:creationId xmlns:a16="http://schemas.microsoft.com/office/drawing/2014/main" id="{02C25F60-9BCF-4439-A202-C1C83353171F}"/>
              </a:ext>
            </a:extLst>
          </p:cNvPr>
          <p:cNvSpPr>
            <a:spLocks xmlns:a="http://schemas.openxmlformats.org/drawingml/2006/main" noGrp="1"/>
          </p:cNvSpPr>
          <p:nvPr/>
        </p:nvSpPr>
        <p:spPr>
          <a:xfrm xmlns:a="http://schemas.openxmlformats.org/drawingml/2006/main">
            <a:off x="21840825" y="24460200"/>
            <a:ext cx="6781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536A7F"/>
                </a:solidFill>
              </a:defRPr>
            </a:pPr>
            <a:r>
              <a:rPr sz="2850" b="0">
                <a:solidFill>
                  <a:srgbClr val="536A7F"/>
                </a:solidFill>
              </a:rPr>
              <a:t>Check target, source, claim and contract</a:t>
            </a:r>
          </a:p>
          <a:p xmlns:a="http://schemas.openxmlformats.org/drawingml/2006/main">
            <a:pPr algn="l">
              <a:defRPr sz="2850" b="0">
                <a:solidFill>
                  <a:srgbClr val="536A7F"/>
                </a:solidFill>
              </a:defRPr>
            </a:pPr>
            <a:r>
              <a:rPr sz="2850" b="0">
                <a:solidFill>
                  <a:srgbClr val="536A7F"/>
                </a:solidFill>
              </a:rPr>
              <a:t>Bounded repair; unsafe answers are blocked</a:t>
            </a:r>
          </a:p>
        </p:txBody>
      </p:sp>
      <p:cxnSp>
        <p:nvCxnSpPr>
          <p:cNvPr id="217" name=""/>
          <p:cNvCxnSpPr>
            <a:stCxn xmlns:a="http://schemas.openxmlformats.org/drawingml/2006/main" id="50" idx="2"/>
            <a:endCxn xmlns:a="http://schemas.openxmlformats.org/drawingml/2006/main" id="68" idx="0"/>
          </p:cNvCxnSpPr>
          <p:nvPr/>
        </p:nvCxnSpPr>
        <p:spPr>
          <a:xfrm xmlns:a="http://schemas.openxmlformats.org/drawingml/2006/main" flipH="1">
            <a:off x="5191125" y="23193375"/>
            <a:ext cx="428625" cy="476250"/>
          </a:xfrm>
          <a:prstGeom xmlns:a="http://schemas.openxmlformats.org/drawingml/2006/main" prst="straightConnector1">
            <a:avLst/>
          </a:prstGeom>
          <a:ln xmlns:a="http://schemas.openxmlformats.org/drawingml/2006/main" w="38100">
            <a:solidFill>
              <a:srgbClr val="158C76"/>
            </a:solidFill>
            <a:prstDash val="solid"/>
            <a:tailEnd type="arrow" w="med" len="med"/>
          </a:ln>
        </p:spPr>
      </p:cxnSp>
      <p:cxnSp>
        <p:nvCxnSpPr>
          <p:cNvPr id="218" name=""/>
          <p:cNvCxnSpPr>
            <a:stCxn xmlns:a="http://schemas.openxmlformats.org/drawingml/2006/main" id="55" idx="2"/>
            <a:endCxn xmlns:a="http://schemas.openxmlformats.org/drawingml/2006/main" id="68" idx="0"/>
          </p:cNvCxnSpPr>
          <p:nvPr/>
        </p:nvCxnSpPr>
        <p:spPr>
          <a:xfrm xmlns:a="http://schemas.openxmlformats.org/drawingml/2006/main" flipH="1">
            <a:off x="5191125" y="23193375"/>
            <a:ext cx="9944100" cy="476250"/>
          </a:xfrm>
          <a:prstGeom xmlns:a="http://schemas.openxmlformats.org/drawingml/2006/main" prst="bentConnector4">
            <a:avLst>
              <a:gd name="adj1" fmla="val 0"/>
              <a:gd name="adj2" fmla="val 50000"/>
            </a:avLst>
          </a:prstGeom>
          <a:ln xmlns:a="http://schemas.openxmlformats.org/drawingml/2006/main" w="38100">
            <a:solidFill>
              <a:srgbClr val="2787D9"/>
            </a:solidFill>
            <a:prstDash val="solid"/>
            <a:tailEnd type="arrow" w="med" len="med"/>
          </a:ln>
        </p:spPr>
      </p:cxnSp>
      <p:cxnSp>
        <p:nvCxnSpPr>
          <p:cNvPr id="219" name=""/>
          <p:cNvCxnSpPr>
            <a:stCxn xmlns:a="http://schemas.openxmlformats.org/drawingml/2006/main" id="60" idx="2"/>
            <a:endCxn xmlns:a="http://schemas.openxmlformats.org/drawingml/2006/main" id="81" idx="0"/>
          </p:cNvCxnSpPr>
          <p:nvPr/>
        </p:nvCxnSpPr>
        <p:spPr>
          <a:xfrm xmlns:a="http://schemas.openxmlformats.org/drawingml/2006/main">
            <a:off x="24650700" y="23193375"/>
            <a:ext cx="581025" cy="476250"/>
          </a:xfrm>
          <a:prstGeom xmlns:a="http://schemas.openxmlformats.org/drawingml/2006/main" prst="straightConnector1">
            <a:avLst/>
          </a:prstGeom>
          <a:ln xmlns:a="http://schemas.openxmlformats.org/drawingml/2006/main" w="38100">
            <a:solidFill>
              <a:srgbClr val="C64758"/>
            </a:solidFill>
            <a:prstDash val="solid"/>
            <a:tailEnd type="arrow" w="med" len="med"/>
          </a:ln>
        </p:spPr>
      </p:cxnSp>
      <p:cxnSp>
        <p:nvCxnSpPr>
          <p:cNvPr id="220" name=""/>
          <p:cNvCxnSpPr>
            <a:stCxn xmlns:a="http://schemas.openxmlformats.org/drawingml/2006/main" id="68" idx="3"/>
            <a:endCxn xmlns:a="http://schemas.openxmlformats.org/drawingml/2006/main" id="73" idx="1"/>
          </p:cNvCxnSpPr>
          <p:nvPr/>
        </p:nvCxnSpPr>
        <p:spPr>
          <a:xfrm xmlns:a="http://schemas.openxmlformats.org/drawingml/2006/main">
            <a:off x="8953500" y="24526875"/>
            <a:ext cx="666750" cy="0"/>
          </a:xfrm>
          <a:prstGeom xmlns:a="http://schemas.openxmlformats.org/drawingml/2006/main" prst="straightConnector1">
            <a:avLst/>
          </a:prstGeom>
          <a:ln xmlns:a="http://schemas.openxmlformats.org/drawingml/2006/main" w="38100">
            <a:solidFill>
              <a:srgbClr val="E86F22"/>
            </a:solidFill>
            <a:prstDash val="solid"/>
            <a:tailEnd type="arrow" w="med" len="med"/>
          </a:ln>
        </p:spPr>
      </p:cxnSp>
      <p:cxnSp>
        <p:nvCxnSpPr>
          <p:cNvPr id="221" name=""/>
          <p:cNvCxnSpPr>
            <a:stCxn xmlns:a="http://schemas.openxmlformats.org/drawingml/2006/main" id="73" idx="3"/>
            <a:endCxn xmlns:a="http://schemas.openxmlformats.org/drawingml/2006/main" id="76" idx="1"/>
          </p:cNvCxnSpPr>
          <p:nvPr/>
        </p:nvCxnSpPr>
        <p:spPr>
          <a:xfrm xmlns:a="http://schemas.openxmlformats.org/drawingml/2006/main">
            <a:off x="14097000" y="24526875"/>
            <a:ext cx="666750" cy="0"/>
          </a:xfrm>
          <a:prstGeom xmlns:a="http://schemas.openxmlformats.org/drawingml/2006/main" prst="straightConnector1">
            <a:avLst/>
          </a:prstGeom>
          <a:ln xmlns:a="http://schemas.openxmlformats.org/drawingml/2006/main" w="38100">
            <a:solidFill>
              <a:srgbClr val="E86F22"/>
            </a:solidFill>
            <a:prstDash val="solid"/>
            <a:tailEnd type="arrow" w="med" len="med"/>
          </a:ln>
        </p:spPr>
      </p:cxnSp>
      <p:cxnSp>
        <p:nvCxnSpPr>
          <p:cNvPr id="222" name=""/>
          <p:cNvCxnSpPr>
            <a:stCxn xmlns:a="http://schemas.openxmlformats.org/drawingml/2006/main" id="76" idx="3"/>
            <a:endCxn xmlns:a="http://schemas.openxmlformats.org/drawingml/2006/main" id="81" idx="1"/>
          </p:cNvCxnSpPr>
          <p:nvPr/>
        </p:nvCxnSpPr>
        <p:spPr>
          <a:xfrm xmlns:a="http://schemas.openxmlformats.org/drawingml/2006/main">
            <a:off x="20955000" y="24526875"/>
            <a:ext cx="666750" cy="0"/>
          </a:xfrm>
          <a:prstGeom xmlns:a="http://schemas.openxmlformats.org/drawingml/2006/main" prst="straightConnector1">
            <a:avLst/>
          </a:prstGeom>
          <a:ln xmlns:a="http://schemas.openxmlformats.org/drawingml/2006/main" w="38100">
            <a:solidFill>
              <a:srgbClr val="E86F22"/>
            </a:solidFill>
            <a:prstDash val="solid"/>
            <a:tailEnd type="arrow" w="med" len="med"/>
          </a:ln>
        </p:spPr>
      </p:cxnSp>
      <p:sp>
        <p:nvSpPr>
          <p:cNvPr id="92" name="final-answer">
            <a:extLst xmlns:a="http://schemas.openxmlformats.org/drawingml/2006/main">
              <a:ext uri="{FF2B5EF4-FFF2-40B4-BE49-F238E27FC236}">
                <a16:creationId xmlns:a16="http://schemas.microsoft.com/office/drawing/2014/main" id="{126B777F-BB66-44E4-9FFE-4623AB0C7A4F}"/>
              </a:ext>
            </a:extLst>
          </p:cNvPr>
          <p:cNvSpPr>
            <a:spLocks xmlns:a="http://schemas.openxmlformats.org/drawingml/2006/main" noGrp="1"/>
          </p:cNvSpPr>
          <p:nvPr/>
        </p:nvSpPr>
        <p:spPr>
          <a:xfrm xmlns:a="http://schemas.openxmlformats.org/drawingml/2006/main">
            <a:off x="6381750" y="26022300"/>
            <a:ext cx="17526000" cy="1123950"/>
          </a:xfrm>
          <a:prstGeom xmlns:a="http://schemas.openxmlformats.org/drawingml/2006/main" prst="roundRect">
            <a:avLst>
              <a:gd name="adj" fmla="val 10169"/>
            </a:avLst>
          </a:prstGeom>
          <a:solidFill xmlns:a="http://schemas.openxmlformats.org/drawingml/2006/main">
            <a:srgbClr val="0A2342"/>
          </a:solidFill>
          <a:ln xmlns:a="http://schemas.openxmlformats.org/drawingml/2006/main" w="0">
            <a:solidFill>
              <a:srgbClr val="0A2342"/>
            </a:solidFill>
            <a:prstDash val="solid"/>
          </a:ln>
        </p:spPr>
      </p:sp>
      <p:sp>
        <p:nvSpPr>
          <p:cNvPr id="93" name="final-answer-title">
            <a:extLst xmlns:a="http://schemas.openxmlformats.org/drawingml/2006/main">
              <a:ext uri="{FF2B5EF4-FFF2-40B4-BE49-F238E27FC236}">
                <a16:creationId xmlns:a16="http://schemas.microsoft.com/office/drawing/2014/main" id="{CADD8109-100B-4680-93C0-62840B77D0DB}"/>
              </a:ext>
            </a:extLst>
          </p:cNvPr>
          <p:cNvSpPr>
            <a:spLocks xmlns:a="http://schemas.openxmlformats.org/drawingml/2006/main" noGrp="1"/>
          </p:cNvSpPr>
          <p:nvPr/>
        </p:nvSpPr>
        <p:spPr>
          <a:xfrm xmlns:a="http://schemas.openxmlformats.org/drawingml/2006/main">
            <a:off x="6858000" y="26165175"/>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75" b="1">
                <a:solidFill>
                  <a:srgbClr val="FFFFFF"/>
                </a:solidFill>
              </a:defRPr>
            </a:pPr>
            <a:r>
              <a:rPr sz="3675" b="1">
                <a:solidFill>
                  <a:srgbClr val="FFFFFF"/>
                </a:solidFill>
              </a:rPr>
              <a:t>9   FINAL ANSWER</a:t>
            </a:r>
          </a:p>
        </p:txBody>
      </p:sp>
      <p:sp>
        <p:nvSpPr>
          <p:cNvPr id="94" name="final-answer-body">
            <a:extLst xmlns:a="http://schemas.openxmlformats.org/drawingml/2006/main">
              <a:ext uri="{FF2B5EF4-FFF2-40B4-BE49-F238E27FC236}">
                <a16:creationId xmlns:a16="http://schemas.microsoft.com/office/drawing/2014/main" id="{A05D7141-8FE9-4A3D-B636-20D140E202E3}"/>
              </a:ext>
            </a:extLst>
          </p:cNvPr>
          <p:cNvSpPr>
            <a:spLocks xmlns:a="http://schemas.openxmlformats.org/drawingml/2006/main" noGrp="1"/>
          </p:cNvSpPr>
          <p:nvPr/>
        </p:nvSpPr>
        <p:spPr>
          <a:xfrm xmlns:a="http://schemas.openxmlformats.org/drawingml/2006/main">
            <a:off x="14573250" y="26165175"/>
            <a:ext cx="885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925" b="0">
                <a:solidFill>
                  <a:srgbClr val="D8E9FA"/>
                </a:solidFill>
              </a:defRPr>
            </a:pPr>
            <a:r>
              <a:rPr sz="2925" b="0">
                <a:solidFill>
                  <a:srgbClr val="D8E9FA"/>
                </a:solidFill>
              </a:rPr>
              <a:t>Answer-first JSON response -&gt; rendered on the website with Request ID for traceability</a:t>
            </a:r>
          </a:p>
        </p:txBody>
      </p:sp>
      <p:cxnSp>
        <p:nvCxnSpPr>
          <p:cNvPr id="226" name=""/>
          <p:cNvCxnSpPr>
            <a:stCxn xmlns:a="http://schemas.openxmlformats.org/drawingml/2006/main" id="81" idx="2"/>
            <a:endCxn xmlns:a="http://schemas.openxmlformats.org/drawingml/2006/main" id="92" idx="0"/>
          </p:cNvCxnSpPr>
          <p:nvPr/>
        </p:nvCxnSpPr>
        <p:spPr>
          <a:xfrm xmlns:a="http://schemas.openxmlformats.org/drawingml/2006/main" flipH="1">
            <a:off x="15144750" y="25384125"/>
            <a:ext cx="10086975" cy="638175"/>
          </a:xfrm>
          <a:prstGeom xmlns:a="http://schemas.openxmlformats.org/drawingml/2006/main" prst="bentConnector4">
            <a:avLst>
              <a:gd name="adj1" fmla="val 0"/>
              <a:gd name="adj2" fmla="val 50000"/>
            </a:avLst>
          </a:prstGeom>
          <a:ln xmlns:a="http://schemas.openxmlformats.org/drawingml/2006/main" w="38100">
            <a:solidFill>
              <a:srgbClr val="0A2342"/>
            </a:solidFill>
            <a:prstDash val="solid"/>
            <a:tailEnd type="arrow" w="med" len="med"/>
          </a:ln>
        </p:spPr>
      </p:cxnSp>
      <p:sp>
        <p:nvSpPr>
          <p:cNvPr id="96" name="methodology-text">
            <a:extLst xmlns:a="http://schemas.openxmlformats.org/drawingml/2006/main">
              <a:ext uri="{FF2B5EF4-FFF2-40B4-BE49-F238E27FC236}">
                <a16:creationId xmlns:a16="http://schemas.microsoft.com/office/drawing/2014/main" id="{A32BA693-79D1-4051-B6D6-F2EC9343997F}"/>
              </a:ext>
            </a:extLst>
          </p:cNvPr>
          <p:cNvSpPr>
            <a:spLocks xmlns:a="http://schemas.openxmlformats.org/drawingml/2006/main" noGrp="1"/>
          </p:cNvSpPr>
          <p:nvPr/>
        </p:nvSpPr>
        <p:spPr>
          <a:xfrm xmlns:a="http://schemas.openxmlformats.org/drawingml/2006/main">
            <a:off x="1428750" y="27479625"/>
            <a:ext cx="11430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0A2342"/>
                </a:solidFill>
              </a:defRPr>
            </a:pPr>
            <a:r>
              <a:rPr sz="4350" b="1">
                <a:solidFill>
                  <a:srgbClr val="0A2342"/>
                </a:solidFill>
              </a:rPr>
              <a:t>Methodology</a:t>
            </a:r>
          </a:p>
        </p:txBody>
      </p:sp>
      <p:sp>
        <p:nvSpPr>
          <p:cNvPr id="97" name="methodology-line">
            <a:extLst xmlns:a="http://schemas.openxmlformats.org/drawingml/2006/main">
              <a:ext uri="{FF2B5EF4-FFF2-40B4-BE49-F238E27FC236}">
                <a16:creationId xmlns:a16="http://schemas.microsoft.com/office/drawing/2014/main" id="{35290B44-6806-49DF-9695-C1AD2170E52C}"/>
              </a:ext>
            </a:extLst>
          </p:cNvPr>
          <p:cNvSpPr>
            <a:spLocks xmlns:a="http://schemas.openxmlformats.org/drawingml/2006/main" noGrp="1"/>
          </p:cNvSpPr>
          <p:nvPr/>
        </p:nvSpPr>
        <p:spPr>
          <a:xfrm xmlns:a="http://schemas.openxmlformats.org/drawingml/2006/main">
            <a:off x="1428750" y="28146375"/>
            <a:ext cx="4762500" cy="76200"/>
          </a:xfrm>
          <a:prstGeom xmlns:a="http://schemas.openxmlformats.org/drawingml/2006/main" prst="rect">
            <a:avLst/>
          </a:prstGeom>
          <a:solidFill xmlns:a="http://schemas.openxmlformats.org/drawingml/2006/main">
            <a:srgbClr val="E86F22"/>
          </a:solidFill>
          <a:ln xmlns:a="http://schemas.openxmlformats.org/drawingml/2006/main" w="0">
            <a:solidFill>
              <a:srgbClr val="E86F22"/>
            </a:solidFill>
            <a:prstDash val="solid"/>
          </a:ln>
        </p:spPr>
      </p:sp>
      <p:sp>
        <p:nvSpPr>
          <p:cNvPr id="98" name="method-fast-bar">
            <a:extLst xmlns:a="http://schemas.openxmlformats.org/drawingml/2006/main">
              <a:ext uri="{FF2B5EF4-FFF2-40B4-BE49-F238E27FC236}">
                <a16:creationId xmlns:a16="http://schemas.microsoft.com/office/drawing/2014/main" id="{AA320CB1-86EC-4F7C-9D42-CDFD31EB24B6}"/>
              </a:ext>
            </a:extLst>
          </p:cNvPr>
          <p:cNvSpPr>
            <a:spLocks xmlns:a="http://schemas.openxmlformats.org/drawingml/2006/main" noGrp="1"/>
          </p:cNvSpPr>
          <p:nvPr/>
        </p:nvSpPr>
        <p:spPr>
          <a:xfrm xmlns:a="http://schemas.openxmlformats.org/drawingml/2006/main">
            <a:off x="1428750" y="28384500"/>
            <a:ext cx="114300" cy="2857500"/>
          </a:xfrm>
          <a:prstGeom xmlns:a="http://schemas.openxmlformats.org/drawingml/2006/main" prst="rect">
            <a:avLst/>
          </a:prstGeom>
          <a:solidFill xmlns:a="http://schemas.openxmlformats.org/drawingml/2006/main">
            <a:srgbClr val="158C76"/>
          </a:solidFill>
          <a:ln xmlns:a="http://schemas.openxmlformats.org/drawingml/2006/main" w="0">
            <a:solidFill>
              <a:srgbClr val="158C76"/>
            </a:solidFill>
            <a:prstDash val="solid"/>
          </a:ln>
        </p:spPr>
      </p:sp>
      <p:sp>
        <p:nvSpPr>
          <p:cNvPr id="99" name="method-fast-title">
            <a:extLst xmlns:a="http://schemas.openxmlformats.org/drawingml/2006/main">
              <a:ext uri="{FF2B5EF4-FFF2-40B4-BE49-F238E27FC236}">
                <a16:creationId xmlns:a16="http://schemas.microsoft.com/office/drawing/2014/main" id="{93F41A14-E1F2-4762-8897-FD8553160219}"/>
              </a:ext>
            </a:extLst>
          </p:cNvPr>
          <p:cNvSpPr>
            <a:spLocks xmlns:a="http://schemas.openxmlformats.org/drawingml/2006/main" noGrp="1"/>
          </p:cNvSpPr>
          <p:nvPr/>
        </p:nvSpPr>
        <p:spPr>
          <a:xfrm xmlns:a="http://schemas.openxmlformats.org/drawingml/2006/main">
            <a:off x="1714500" y="2838450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25" b="1">
                <a:solidFill>
                  <a:srgbClr val="158C76"/>
                </a:solidFill>
              </a:defRPr>
            </a:pPr>
            <a:r>
              <a:rPr sz="3525" b="1">
                <a:solidFill>
                  <a:srgbClr val="158C76"/>
                </a:solidFill>
              </a:rPr>
              <a:t>Deterministic Backbone</a:t>
            </a:r>
          </a:p>
        </p:txBody>
      </p:sp>
      <p:sp>
        <p:nvSpPr>
          <p:cNvPr id="100" name="method-fast-body">
            <a:extLst xmlns:a="http://schemas.openxmlformats.org/drawingml/2006/main">
              <a:ext uri="{FF2B5EF4-FFF2-40B4-BE49-F238E27FC236}">
                <a16:creationId xmlns:a16="http://schemas.microsoft.com/office/drawing/2014/main" id="{15D01BBA-E720-4C37-AB03-8621B548D43B}"/>
              </a:ext>
            </a:extLst>
          </p:cNvPr>
          <p:cNvSpPr>
            <a:spLocks xmlns:a="http://schemas.openxmlformats.org/drawingml/2006/main" noGrp="1"/>
          </p:cNvSpPr>
          <p:nvPr/>
        </p:nvSpPr>
        <p:spPr>
          <a:xfrm xmlns:a="http://schemas.openxmlformats.org/drawingml/2006/main">
            <a:off x="1714500" y="29070300"/>
            <a:ext cx="60483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14283C"/>
                </a:solidFill>
              </a:defRPr>
            </a:pPr>
            <a:r>
              <a:rPr sz="2850" b="0">
                <a:solidFill>
                  <a:srgbClr val="14283C"/>
                </a:solidFill>
              </a:rPr>
              <a:t>Fast intent patterns route exact questions to structured tools. Facts such as games, prices, zones and equipment are returned without model generation.</a:t>
            </a:r>
          </a:p>
        </p:txBody>
      </p:sp>
      <p:sp>
        <p:nvSpPr>
          <p:cNvPr id="101" name="method-rag-bar">
            <a:extLst xmlns:a="http://schemas.openxmlformats.org/drawingml/2006/main">
              <a:ext uri="{FF2B5EF4-FFF2-40B4-BE49-F238E27FC236}">
                <a16:creationId xmlns:a16="http://schemas.microsoft.com/office/drawing/2014/main" id="{18126AC1-DE1E-4406-A3A8-881BA2A1A96A}"/>
              </a:ext>
            </a:extLst>
          </p:cNvPr>
          <p:cNvSpPr>
            <a:spLocks xmlns:a="http://schemas.openxmlformats.org/drawingml/2006/main" noGrp="1"/>
          </p:cNvSpPr>
          <p:nvPr/>
        </p:nvSpPr>
        <p:spPr>
          <a:xfrm xmlns:a="http://schemas.openxmlformats.org/drawingml/2006/main">
            <a:off x="8334375" y="28384500"/>
            <a:ext cx="114300" cy="2857500"/>
          </a:xfrm>
          <a:prstGeom xmlns:a="http://schemas.openxmlformats.org/drawingml/2006/main" prst="rect">
            <a:avLst/>
          </a:prstGeom>
          <a:solidFill xmlns:a="http://schemas.openxmlformats.org/drawingml/2006/main">
            <a:srgbClr val="2787D9"/>
          </a:solidFill>
          <a:ln xmlns:a="http://schemas.openxmlformats.org/drawingml/2006/main" w="0">
            <a:solidFill>
              <a:srgbClr val="2787D9"/>
            </a:solidFill>
            <a:prstDash val="solid"/>
          </a:ln>
        </p:spPr>
      </p:sp>
      <p:sp>
        <p:nvSpPr>
          <p:cNvPr id="102" name="method-rag-title">
            <a:extLst xmlns:a="http://schemas.openxmlformats.org/drawingml/2006/main">
              <a:ext uri="{FF2B5EF4-FFF2-40B4-BE49-F238E27FC236}">
                <a16:creationId xmlns:a16="http://schemas.microsoft.com/office/drawing/2014/main" id="{644BCC0F-6E93-4256-BE40-87D929CB2933}"/>
              </a:ext>
            </a:extLst>
          </p:cNvPr>
          <p:cNvSpPr>
            <a:spLocks xmlns:a="http://schemas.openxmlformats.org/drawingml/2006/main" noGrp="1"/>
          </p:cNvSpPr>
          <p:nvPr/>
        </p:nvSpPr>
        <p:spPr>
          <a:xfrm xmlns:a="http://schemas.openxmlformats.org/drawingml/2006/main">
            <a:off x="8620125" y="2838450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25" b="1">
                <a:solidFill>
                  <a:srgbClr val="2787D9"/>
                </a:solidFill>
              </a:defRPr>
            </a:pPr>
            <a:r>
              <a:rPr sz="3525" b="1">
                <a:solidFill>
                  <a:srgbClr val="2787D9"/>
                </a:solidFill>
              </a:rPr>
              <a:t>Semantic Retrieval</a:t>
            </a:r>
          </a:p>
        </p:txBody>
      </p:sp>
      <p:sp>
        <p:nvSpPr>
          <p:cNvPr id="103" name="method-rag-body">
            <a:extLst xmlns:a="http://schemas.openxmlformats.org/drawingml/2006/main">
              <a:ext uri="{FF2B5EF4-FFF2-40B4-BE49-F238E27FC236}">
                <a16:creationId xmlns:a16="http://schemas.microsoft.com/office/drawing/2014/main" id="{85A22F5C-D85C-478A-9649-98EC041B4D92}"/>
              </a:ext>
            </a:extLst>
          </p:cNvPr>
          <p:cNvSpPr>
            <a:spLocks xmlns:a="http://schemas.openxmlformats.org/drawingml/2006/main" noGrp="1"/>
          </p:cNvSpPr>
          <p:nvPr/>
        </p:nvSpPr>
        <p:spPr>
          <a:xfrm xmlns:a="http://schemas.openxmlformats.org/drawingml/2006/main">
            <a:off x="8620125" y="29070300"/>
            <a:ext cx="60483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14283C"/>
                </a:solidFill>
              </a:defRPr>
            </a:pPr>
            <a:r>
              <a:rPr sz="2850" b="0">
                <a:solidFill>
                  <a:srgbClr val="14283C"/>
                </a:solidFill>
              </a:rPr>
              <a:t>BGE-M3 embeds the question and retrieves relevant documents. Optional reranking and source guards keep only evidence that matches the target.</a:t>
            </a:r>
          </a:p>
        </p:txBody>
      </p:sp>
      <p:sp>
        <p:nvSpPr>
          <p:cNvPr id="104" name="method-llm-bar">
            <a:extLst xmlns:a="http://schemas.openxmlformats.org/drawingml/2006/main">
              <a:ext uri="{FF2B5EF4-FFF2-40B4-BE49-F238E27FC236}">
                <a16:creationId xmlns:a16="http://schemas.microsoft.com/office/drawing/2014/main" id="{FB9449B8-A327-481D-A8EC-788DFE958BAE}"/>
              </a:ext>
            </a:extLst>
          </p:cNvPr>
          <p:cNvSpPr>
            <a:spLocks xmlns:a="http://schemas.openxmlformats.org/drawingml/2006/main" noGrp="1"/>
          </p:cNvSpPr>
          <p:nvPr/>
        </p:nvSpPr>
        <p:spPr>
          <a:xfrm xmlns:a="http://schemas.openxmlformats.org/drawingml/2006/main">
            <a:off x="15240000" y="28384500"/>
            <a:ext cx="114300" cy="2857500"/>
          </a:xfrm>
          <a:prstGeom xmlns:a="http://schemas.openxmlformats.org/drawingml/2006/main" prst="rect">
            <a:avLst/>
          </a:prstGeom>
          <a:solidFill xmlns:a="http://schemas.openxmlformats.org/drawingml/2006/main">
            <a:srgbClr val="E86F22"/>
          </a:solidFill>
          <a:ln xmlns:a="http://schemas.openxmlformats.org/drawingml/2006/main" w="0">
            <a:solidFill>
              <a:srgbClr val="E86F22"/>
            </a:solidFill>
            <a:prstDash val="solid"/>
          </a:ln>
        </p:spPr>
      </p:sp>
      <p:sp>
        <p:nvSpPr>
          <p:cNvPr id="105" name="method-llm-title">
            <a:extLst xmlns:a="http://schemas.openxmlformats.org/drawingml/2006/main">
              <a:ext uri="{FF2B5EF4-FFF2-40B4-BE49-F238E27FC236}">
                <a16:creationId xmlns:a16="http://schemas.microsoft.com/office/drawing/2014/main" id="{B34BADEF-9AAE-47F8-BDFE-B60416CB62DA}"/>
              </a:ext>
            </a:extLst>
          </p:cNvPr>
          <p:cNvSpPr>
            <a:spLocks xmlns:a="http://schemas.openxmlformats.org/drawingml/2006/main" noGrp="1"/>
          </p:cNvSpPr>
          <p:nvPr/>
        </p:nvSpPr>
        <p:spPr>
          <a:xfrm xmlns:a="http://schemas.openxmlformats.org/drawingml/2006/main">
            <a:off x="15525750" y="2838450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25" b="1">
                <a:solidFill>
                  <a:srgbClr val="E86F22"/>
                </a:solidFill>
              </a:defRPr>
            </a:pPr>
            <a:r>
              <a:rPr sz="3525" b="1">
                <a:solidFill>
                  <a:srgbClr val="E86F22"/>
                </a:solidFill>
              </a:rPr>
              <a:t>Gated Local LLM</a:t>
            </a:r>
          </a:p>
        </p:txBody>
      </p:sp>
      <p:sp>
        <p:nvSpPr>
          <p:cNvPr id="106" name="method-llm-body">
            <a:extLst xmlns:a="http://schemas.openxmlformats.org/drawingml/2006/main">
              <a:ext uri="{FF2B5EF4-FFF2-40B4-BE49-F238E27FC236}">
                <a16:creationId xmlns:a16="http://schemas.microsoft.com/office/drawing/2014/main" id="{06BFDBF7-499C-4354-B1C3-E5FFC003C07D}"/>
              </a:ext>
            </a:extLst>
          </p:cNvPr>
          <p:cNvSpPr>
            <a:spLocks xmlns:a="http://schemas.openxmlformats.org/drawingml/2006/main" noGrp="1"/>
          </p:cNvSpPr>
          <p:nvPr/>
        </p:nvSpPr>
        <p:spPr>
          <a:xfrm xmlns:a="http://schemas.openxmlformats.org/drawingml/2006/main">
            <a:off x="15525750" y="29070300"/>
            <a:ext cx="60483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14283C"/>
                </a:solidFill>
              </a:defRPr>
            </a:pPr>
            <a:r>
              <a:rPr sz="2850" b="0">
                <a:solidFill>
                  <a:srgbClr val="14283C"/>
                </a:solidFill>
              </a:rPr>
              <a:t>Typhoon2.5 Qwen3 4B reviews uncertain intent, plans dependent tasks, routes tools and rewrites only from Evidence + Draft. Maximum: 2 calls/request.</a:t>
            </a:r>
          </a:p>
        </p:txBody>
      </p:sp>
      <p:sp>
        <p:nvSpPr>
          <p:cNvPr id="107" name="method-safety-bar">
            <a:extLst xmlns:a="http://schemas.openxmlformats.org/drawingml/2006/main">
              <a:ext uri="{FF2B5EF4-FFF2-40B4-BE49-F238E27FC236}">
                <a16:creationId xmlns:a16="http://schemas.microsoft.com/office/drawing/2014/main" id="{73EAF9E6-779D-4DFE-91D5-C42626203966}"/>
              </a:ext>
            </a:extLst>
          </p:cNvPr>
          <p:cNvSpPr>
            <a:spLocks xmlns:a="http://schemas.openxmlformats.org/drawingml/2006/main" noGrp="1"/>
          </p:cNvSpPr>
          <p:nvPr/>
        </p:nvSpPr>
        <p:spPr>
          <a:xfrm xmlns:a="http://schemas.openxmlformats.org/drawingml/2006/main">
            <a:off x="22145625" y="28384500"/>
            <a:ext cx="114300" cy="2857500"/>
          </a:xfrm>
          <a:prstGeom xmlns:a="http://schemas.openxmlformats.org/drawingml/2006/main" prst="rect">
            <a:avLst/>
          </a:prstGeom>
          <a:solidFill xmlns:a="http://schemas.openxmlformats.org/drawingml/2006/main">
            <a:srgbClr val="C64758"/>
          </a:solidFill>
          <a:ln xmlns:a="http://schemas.openxmlformats.org/drawingml/2006/main" w="0">
            <a:solidFill>
              <a:srgbClr val="C64758"/>
            </a:solidFill>
            <a:prstDash val="solid"/>
          </a:ln>
        </p:spPr>
      </p:sp>
      <p:sp>
        <p:nvSpPr>
          <p:cNvPr id="108" name="method-safety-title">
            <a:extLst xmlns:a="http://schemas.openxmlformats.org/drawingml/2006/main">
              <a:ext uri="{FF2B5EF4-FFF2-40B4-BE49-F238E27FC236}">
                <a16:creationId xmlns:a16="http://schemas.microsoft.com/office/drawing/2014/main" id="{9D441D5D-5ABD-4A80-A372-CAAC4B6DF10F}"/>
              </a:ext>
            </a:extLst>
          </p:cNvPr>
          <p:cNvSpPr>
            <a:spLocks xmlns:a="http://schemas.openxmlformats.org/drawingml/2006/main" noGrp="1"/>
          </p:cNvSpPr>
          <p:nvPr/>
        </p:nvSpPr>
        <p:spPr>
          <a:xfrm xmlns:a="http://schemas.openxmlformats.org/drawingml/2006/main">
            <a:off x="22431375" y="28384500"/>
            <a:ext cx="6315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25" b="1">
                <a:solidFill>
                  <a:srgbClr val="C64758"/>
                </a:solidFill>
              </a:defRPr>
            </a:pPr>
            <a:r>
              <a:rPr sz="3525" b="1">
                <a:solidFill>
                  <a:srgbClr val="C64758"/>
                </a:solidFill>
              </a:rPr>
              <a:t>Answer Safety</a:t>
            </a:r>
          </a:p>
        </p:txBody>
      </p:sp>
      <p:sp>
        <p:nvSpPr>
          <p:cNvPr id="109" name="method-safety-body">
            <a:extLst xmlns:a="http://schemas.openxmlformats.org/drawingml/2006/main">
              <a:ext uri="{FF2B5EF4-FFF2-40B4-BE49-F238E27FC236}">
                <a16:creationId xmlns:a16="http://schemas.microsoft.com/office/drawing/2014/main" id="{37EE29F5-47D9-4534-B16D-E80AECF136D3}"/>
              </a:ext>
            </a:extLst>
          </p:cNvPr>
          <p:cNvSpPr>
            <a:spLocks xmlns:a="http://schemas.openxmlformats.org/drawingml/2006/main" noGrp="1"/>
          </p:cNvSpPr>
          <p:nvPr/>
        </p:nvSpPr>
        <p:spPr>
          <a:xfrm xmlns:a="http://schemas.openxmlformats.org/drawingml/2006/main">
            <a:off x="22431375" y="29070300"/>
            <a:ext cx="62674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14283C"/>
                </a:solidFill>
              </a:defRPr>
            </a:pPr>
            <a:r>
              <a:rPr sz="2850" b="0">
                <a:solidFill>
                  <a:srgbClr val="14283C"/>
                </a:solidFill>
              </a:rPr>
              <a:t>Boundary and Ambiguity Gates prevent wrong-domain or guessed targets. Answer Contract, Bounded Repair and Final Hard Veto block unsupported output.</a:t>
            </a:r>
          </a:p>
        </p:txBody>
      </p:sp>
      <p:sp>
        <p:nvSpPr>
          <p:cNvPr id="110" name="results-text">
            <a:extLst xmlns:a="http://schemas.openxmlformats.org/drawingml/2006/main">
              <a:ext uri="{FF2B5EF4-FFF2-40B4-BE49-F238E27FC236}">
                <a16:creationId xmlns:a16="http://schemas.microsoft.com/office/drawing/2014/main" id="{070E29B1-388E-4596-98F4-054E22C5ADA9}"/>
              </a:ext>
            </a:extLst>
          </p:cNvPr>
          <p:cNvSpPr>
            <a:spLocks xmlns:a="http://schemas.openxmlformats.org/drawingml/2006/main" noGrp="1"/>
          </p:cNvSpPr>
          <p:nvPr/>
        </p:nvSpPr>
        <p:spPr>
          <a:xfrm xmlns:a="http://schemas.openxmlformats.org/drawingml/2006/main">
            <a:off x="1428750" y="31718250"/>
            <a:ext cx="8096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0A2342"/>
                </a:solidFill>
              </a:defRPr>
            </a:pPr>
            <a:r>
              <a:rPr sz="4350" b="1">
                <a:solidFill>
                  <a:srgbClr val="0A2342"/>
                </a:solidFill>
              </a:rPr>
              <a:t>Results</a:t>
            </a:r>
          </a:p>
        </p:txBody>
      </p:sp>
      <p:sp>
        <p:nvSpPr>
          <p:cNvPr id="111" name="results-line">
            <a:extLst xmlns:a="http://schemas.openxmlformats.org/drawingml/2006/main">
              <a:ext uri="{FF2B5EF4-FFF2-40B4-BE49-F238E27FC236}">
                <a16:creationId xmlns:a16="http://schemas.microsoft.com/office/drawing/2014/main" id="{DF264E16-6A87-4C9C-9648-CEB2A9B458DE}"/>
              </a:ext>
            </a:extLst>
          </p:cNvPr>
          <p:cNvSpPr>
            <a:spLocks xmlns:a="http://schemas.openxmlformats.org/drawingml/2006/main" noGrp="1"/>
          </p:cNvSpPr>
          <p:nvPr/>
        </p:nvSpPr>
        <p:spPr>
          <a:xfrm xmlns:a="http://schemas.openxmlformats.org/drawingml/2006/main">
            <a:off x="1428750" y="32385000"/>
            <a:ext cx="4762500" cy="76200"/>
          </a:xfrm>
          <a:prstGeom xmlns:a="http://schemas.openxmlformats.org/drawingml/2006/main" prst="rect">
            <a:avLst/>
          </a:prstGeom>
          <a:solidFill xmlns:a="http://schemas.openxmlformats.org/drawingml/2006/main">
            <a:srgbClr val="158C76"/>
          </a:solidFill>
          <a:ln xmlns:a="http://schemas.openxmlformats.org/drawingml/2006/main" w="0">
            <a:solidFill>
              <a:srgbClr val="158C76"/>
            </a:solidFill>
            <a:prstDash val="solid"/>
          </a:ln>
        </p:spPr>
      </p:sp>
      <p:sp>
        <p:nvSpPr>
          <p:cNvPr id="112" name="metric-value-0">
            <a:extLst xmlns:a="http://schemas.openxmlformats.org/drawingml/2006/main">
              <a:ext uri="{FF2B5EF4-FFF2-40B4-BE49-F238E27FC236}">
                <a16:creationId xmlns:a16="http://schemas.microsoft.com/office/drawing/2014/main" id="{E5A034A8-4A54-472B-834B-9197E926DC72}"/>
              </a:ext>
            </a:extLst>
          </p:cNvPr>
          <p:cNvSpPr>
            <a:spLocks xmlns:a="http://schemas.openxmlformats.org/drawingml/2006/main" noGrp="1"/>
          </p:cNvSpPr>
          <p:nvPr/>
        </p:nvSpPr>
        <p:spPr>
          <a:xfrm xmlns:a="http://schemas.openxmlformats.org/drawingml/2006/main">
            <a:off x="1428750" y="32527875"/>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250" b="1">
                <a:solidFill>
                  <a:srgbClr val="1B67B2"/>
                </a:solidFill>
              </a:defRPr>
            </a:pPr>
            <a:r>
              <a:rPr sz="5250" b="1">
                <a:solidFill>
                  <a:srgbClr val="1B67B2"/>
                </a:solidFill>
              </a:rPr>
              <a:t>1,600+</a:t>
            </a:r>
          </a:p>
        </p:txBody>
      </p:sp>
      <p:sp>
        <p:nvSpPr>
          <p:cNvPr id="113" name="metric-label-0">
            <a:extLst xmlns:a="http://schemas.openxmlformats.org/drawingml/2006/main">
              <a:ext uri="{FF2B5EF4-FFF2-40B4-BE49-F238E27FC236}">
                <a16:creationId xmlns:a16="http://schemas.microsoft.com/office/drawing/2014/main" id="{BFC01B36-EE5B-43FD-AB29-40BABDB389C7}"/>
              </a:ext>
            </a:extLst>
          </p:cNvPr>
          <p:cNvSpPr>
            <a:spLocks xmlns:a="http://schemas.openxmlformats.org/drawingml/2006/main" noGrp="1"/>
          </p:cNvSpPr>
          <p:nvPr/>
        </p:nvSpPr>
        <p:spPr>
          <a:xfrm xmlns:a="http://schemas.openxmlformats.org/drawingml/2006/main">
            <a:off x="1428750" y="33385125"/>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0">
                <a:solidFill>
                  <a:srgbClr val="536A7F"/>
                </a:solidFill>
              </a:defRPr>
            </a:pPr>
            <a:r>
              <a:rPr sz="3000" b="0">
                <a:solidFill>
                  <a:srgbClr val="536A7F"/>
                </a:solidFill>
              </a:rPr>
              <a:t>evaluation cases</a:t>
            </a:r>
          </a:p>
        </p:txBody>
      </p:sp>
      <p:sp>
        <p:nvSpPr>
          <p:cNvPr id="114" name="metric-value-1">
            <a:extLst xmlns:a="http://schemas.openxmlformats.org/drawingml/2006/main">
              <a:ext uri="{FF2B5EF4-FFF2-40B4-BE49-F238E27FC236}">
                <a16:creationId xmlns:a16="http://schemas.microsoft.com/office/drawing/2014/main" id="{F12AE507-16AA-4173-8303-8EF316E56B1A}"/>
              </a:ext>
            </a:extLst>
          </p:cNvPr>
          <p:cNvSpPr>
            <a:spLocks xmlns:a="http://schemas.openxmlformats.org/drawingml/2006/main" noGrp="1"/>
          </p:cNvSpPr>
          <p:nvPr/>
        </p:nvSpPr>
        <p:spPr>
          <a:xfrm xmlns:a="http://schemas.openxmlformats.org/drawingml/2006/main">
            <a:off x="8286750" y="32527875"/>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250" b="1">
                <a:solidFill>
                  <a:srgbClr val="158C76"/>
                </a:solidFill>
              </a:defRPr>
            </a:pPr>
            <a:r>
              <a:rPr sz="5250" b="1">
                <a:solidFill>
                  <a:srgbClr val="158C76"/>
                </a:solidFill>
              </a:rPr>
              <a:t>94.75%</a:t>
            </a:r>
          </a:p>
        </p:txBody>
      </p:sp>
      <p:sp>
        <p:nvSpPr>
          <p:cNvPr id="115" name="metric-label-1">
            <a:extLst xmlns:a="http://schemas.openxmlformats.org/drawingml/2006/main">
              <a:ext uri="{FF2B5EF4-FFF2-40B4-BE49-F238E27FC236}">
                <a16:creationId xmlns:a16="http://schemas.microsoft.com/office/drawing/2014/main" id="{A0640838-7F7E-4900-A373-1BA2081A47B2}"/>
              </a:ext>
            </a:extLst>
          </p:cNvPr>
          <p:cNvSpPr>
            <a:spLocks xmlns:a="http://schemas.openxmlformats.org/drawingml/2006/main" noGrp="1"/>
          </p:cNvSpPr>
          <p:nvPr/>
        </p:nvSpPr>
        <p:spPr>
          <a:xfrm xmlns:a="http://schemas.openxmlformats.org/drawingml/2006/main">
            <a:off x="8286750" y="33385125"/>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0">
                <a:solidFill>
                  <a:srgbClr val="536A7F"/>
                </a:solidFill>
              </a:defRPr>
            </a:pPr>
            <a:r>
              <a:rPr sz="3000" b="0">
                <a:solidFill>
                  <a:srgbClr val="536A7F"/>
                </a:solidFill>
              </a:rPr>
              <a:t>pass rate</a:t>
            </a:r>
          </a:p>
        </p:txBody>
      </p:sp>
      <p:sp>
        <p:nvSpPr>
          <p:cNvPr id="116" name="metric-value-2">
            <a:extLst xmlns:a="http://schemas.openxmlformats.org/drawingml/2006/main">
              <a:ext uri="{FF2B5EF4-FFF2-40B4-BE49-F238E27FC236}">
                <a16:creationId xmlns:a16="http://schemas.microsoft.com/office/drawing/2014/main" id="{B16D2941-FB55-4103-BCEA-2DD29E18FFB0}"/>
              </a:ext>
            </a:extLst>
          </p:cNvPr>
          <p:cNvSpPr>
            <a:spLocks xmlns:a="http://schemas.openxmlformats.org/drawingml/2006/main" noGrp="1"/>
          </p:cNvSpPr>
          <p:nvPr/>
        </p:nvSpPr>
        <p:spPr>
          <a:xfrm xmlns:a="http://schemas.openxmlformats.org/drawingml/2006/main">
            <a:off x="15144750" y="32527875"/>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250" b="1">
                <a:solidFill>
                  <a:srgbClr val="E86F22"/>
                </a:solidFill>
              </a:defRPr>
            </a:pPr>
            <a:r>
              <a:rPr sz="5250" b="1">
                <a:solidFill>
                  <a:srgbClr val="E86F22"/>
                </a:solidFill>
              </a:rPr>
              <a:t>2.31 s</a:t>
            </a:r>
          </a:p>
        </p:txBody>
      </p:sp>
      <p:sp>
        <p:nvSpPr>
          <p:cNvPr id="117" name="metric-label-2">
            <a:extLst xmlns:a="http://schemas.openxmlformats.org/drawingml/2006/main">
              <a:ext uri="{FF2B5EF4-FFF2-40B4-BE49-F238E27FC236}">
                <a16:creationId xmlns:a16="http://schemas.microsoft.com/office/drawing/2014/main" id="{F164ED91-48D4-4A37-8DBB-5960B6F004B4}"/>
              </a:ext>
            </a:extLst>
          </p:cNvPr>
          <p:cNvSpPr>
            <a:spLocks xmlns:a="http://schemas.openxmlformats.org/drawingml/2006/main" noGrp="1"/>
          </p:cNvSpPr>
          <p:nvPr/>
        </p:nvSpPr>
        <p:spPr>
          <a:xfrm xmlns:a="http://schemas.openxmlformats.org/drawingml/2006/main">
            <a:off x="15144750" y="33385125"/>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0">
                <a:solidFill>
                  <a:srgbClr val="536A7F"/>
                </a:solidFill>
              </a:defRPr>
            </a:pPr>
            <a:r>
              <a:rPr sz="3000" b="0">
                <a:solidFill>
                  <a:srgbClr val="536A7F"/>
                </a:solidFill>
              </a:rPr>
              <a:t>average latency</a:t>
            </a:r>
          </a:p>
        </p:txBody>
      </p:sp>
      <p:sp>
        <p:nvSpPr>
          <p:cNvPr id="118" name="metric-value-3">
            <a:extLst xmlns:a="http://schemas.openxmlformats.org/drawingml/2006/main">
              <a:ext uri="{FF2B5EF4-FFF2-40B4-BE49-F238E27FC236}">
                <a16:creationId xmlns:a16="http://schemas.microsoft.com/office/drawing/2014/main" id="{060BC4CE-B0BB-48EF-BFC9-D1F4160B03D1}"/>
              </a:ext>
            </a:extLst>
          </p:cNvPr>
          <p:cNvSpPr>
            <a:spLocks xmlns:a="http://schemas.openxmlformats.org/drawingml/2006/main" noGrp="1"/>
          </p:cNvSpPr>
          <p:nvPr/>
        </p:nvSpPr>
        <p:spPr>
          <a:xfrm xmlns:a="http://schemas.openxmlformats.org/drawingml/2006/main">
            <a:off x="22002750" y="32527875"/>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250" b="1">
                <a:solidFill>
                  <a:srgbClr val="C64758"/>
                </a:solidFill>
              </a:defRPr>
            </a:pPr>
            <a:r>
              <a:rPr sz="5250" b="1">
                <a:solidFill>
                  <a:srgbClr val="C64758"/>
                </a:solidFill>
              </a:rPr>
              <a:t>12.53 s</a:t>
            </a:r>
          </a:p>
        </p:txBody>
      </p:sp>
      <p:sp>
        <p:nvSpPr>
          <p:cNvPr id="119" name="metric-label-3">
            <a:extLst xmlns:a="http://schemas.openxmlformats.org/drawingml/2006/main">
              <a:ext uri="{FF2B5EF4-FFF2-40B4-BE49-F238E27FC236}">
                <a16:creationId xmlns:a16="http://schemas.microsoft.com/office/drawing/2014/main" id="{A7146A1C-52D4-409A-9CDA-133A61F2656E}"/>
              </a:ext>
            </a:extLst>
          </p:cNvPr>
          <p:cNvSpPr>
            <a:spLocks xmlns:a="http://schemas.openxmlformats.org/drawingml/2006/main" noGrp="1"/>
          </p:cNvSpPr>
          <p:nvPr/>
        </p:nvSpPr>
        <p:spPr>
          <a:xfrm xmlns:a="http://schemas.openxmlformats.org/drawingml/2006/main">
            <a:off x="22002750" y="33385125"/>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0">
                <a:solidFill>
                  <a:srgbClr val="536A7F"/>
                </a:solidFill>
              </a:defRPr>
            </a:pPr>
            <a:r>
              <a:rPr sz="3000" b="0">
                <a:solidFill>
                  <a:srgbClr val="536A7F"/>
                </a:solidFill>
              </a:rPr>
              <a:t>P95 latency</a:t>
            </a:r>
          </a:p>
        </p:txBody>
      </p:sp>
      <p:sp>
        <p:nvSpPr>
          <p:cNvPr id="120" name="result-insight-bg">
            <a:extLst xmlns:a="http://schemas.openxmlformats.org/drawingml/2006/main">
              <a:ext uri="{FF2B5EF4-FFF2-40B4-BE49-F238E27FC236}">
                <a16:creationId xmlns:a16="http://schemas.microsoft.com/office/drawing/2014/main" id="{C9AD54B7-BF75-473C-96AF-821547DE4963}"/>
              </a:ext>
            </a:extLst>
          </p:cNvPr>
          <p:cNvSpPr>
            <a:spLocks xmlns:a="http://schemas.openxmlformats.org/drawingml/2006/main" noGrp="1"/>
          </p:cNvSpPr>
          <p:nvPr/>
        </p:nvSpPr>
        <p:spPr>
          <a:xfrm xmlns:a="http://schemas.openxmlformats.org/drawingml/2006/main">
            <a:off x="1428750" y="34099500"/>
            <a:ext cx="27412950" cy="1047750"/>
          </a:xfrm>
          <a:prstGeom xmlns:a="http://schemas.openxmlformats.org/drawingml/2006/main" prst="roundRect">
            <a:avLst>
              <a:gd name="adj" fmla="val 10909"/>
            </a:avLst>
          </a:prstGeom>
          <a:solidFill xmlns:a="http://schemas.openxmlformats.org/drawingml/2006/main">
            <a:srgbClr val="F8FAFC"/>
          </a:solidFill>
          <a:ln xmlns:a="http://schemas.openxmlformats.org/drawingml/2006/main" w="19050">
            <a:solidFill>
              <a:srgbClr val="C8D6E4"/>
            </a:solidFill>
            <a:prstDash val="solid"/>
          </a:ln>
        </p:spPr>
      </p:sp>
      <p:sp>
        <p:nvSpPr>
          <p:cNvPr id="121" name="result-insight">
            <a:extLst xmlns:a="http://schemas.openxmlformats.org/drawingml/2006/main">
              <a:ext uri="{FF2B5EF4-FFF2-40B4-BE49-F238E27FC236}">
                <a16:creationId xmlns:a16="http://schemas.microsoft.com/office/drawing/2014/main" id="{7F2EDB64-CD36-43A2-B717-E66892D0F4FC}"/>
              </a:ext>
            </a:extLst>
          </p:cNvPr>
          <p:cNvSpPr>
            <a:spLocks xmlns:a="http://schemas.openxmlformats.org/drawingml/2006/main" noGrp="1"/>
          </p:cNvSpPr>
          <p:nvPr/>
        </p:nvSpPr>
        <p:spPr>
          <a:xfrm xmlns:a="http://schemas.openxmlformats.org/drawingml/2006/main">
            <a:off x="1809750" y="34232850"/>
            <a:ext cx="2665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14283C"/>
                </a:solidFill>
              </a:defRPr>
            </a:pPr>
            <a:r>
              <a:rPr sz="3150" b="1">
                <a:solidFill>
                  <a:srgbClr val="14283C"/>
                </a:solidFill>
              </a:rPr>
              <a:t>KEY FINDING   Average latency is within the 10-second goal, but P95 remains above target. Tail latency and concurrent-user queueing are the primary production risks.</a:t>
            </a:r>
          </a:p>
        </p:txBody>
      </p:sp>
      <p:sp>
        <p:nvSpPr>
          <p:cNvPr id="122" name="conclusion-text">
            <a:extLst xmlns:a="http://schemas.openxmlformats.org/drawingml/2006/main">
              <a:ext uri="{FF2B5EF4-FFF2-40B4-BE49-F238E27FC236}">
                <a16:creationId xmlns:a16="http://schemas.microsoft.com/office/drawing/2014/main" id="{93B2C14F-3D64-4DCF-AF7E-E08FAE4EB424}"/>
              </a:ext>
            </a:extLst>
          </p:cNvPr>
          <p:cNvSpPr>
            <a:spLocks xmlns:a="http://schemas.openxmlformats.org/drawingml/2006/main" noGrp="1"/>
          </p:cNvSpPr>
          <p:nvPr/>
        </p:nvSpPr>
        <p:spPr>
          <a:xfrm xmlns:a="http://schemas.openxmlformats.org/drawingml/2006/main">
            <a:off x="1428750" y="35623500"/>
            <a:ext cx="8858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0A2342"/>
                </a:solidFill>
              </a:defRPr>
            </a:pPr>
            <a:r>
              <a:rPr sz="4350" b="1">
                <a:solidFill>
                  <a:srgbClr val="0A2342"/>
                </a:solidFill>
              </a:rPr>
              <a:t>Conclusion</a:t>
            </a:r>
          </a:p>
        </p:txBody>
      </p:sp>
      <p:sp>
        <p:nvSpPr>
          <p:cNvPr id="123" name="conclusion-line">
            <a:extLst xmlns:a="http://schemas.openxmlformats.org/drawingml/2006/main">
              <a:ext uri="{FF2B5EF4-FFF2-40B4-BE49-F238E27FC236}">
                <a16:creationId xmlns:a16="http://schemas.microsoft.com/office/drawing/2014/main" id="{D885F8BA-7955-4706-BAAA-9C6888C66D22}"/>
              </a:ext>
            </a:extLst>
          </p:cNvPr>
          <p:cNvSpPr>
            <a:spLocks xmlns:a="http://schemas.openxmlformats.org/drawingml/2006/main" noGrp="1"/>
          </p:cNvSpPr>
          <p:nvPr/>
        </p:nvSpPr>
        <p:spPr>
          <a:xfrm xmlns:a="http://schemas.openxmlformats.org/drawingml/2006/main">
            <a:off x="1428750" y="36290250"/>
            <a:ext cx="4762500" cy="76200"/>
          </a:xfrm>
          <a:prstGeom xmlns:a="http://schemas.openxmlformats.org/drawingml/2006/main" prst="rect">
            <a:avLst/>
          </a:prstGeom>
          <a:solidFill xmlns:a="http://schemas.openxmlformats.org/drawingml/2006/main">
            <a:srgbClr val="1B67B2"/>
          </a:solidFill>
          <a:ln xmlns:a="http://schemas.openxmlformats.org/drawingml/2006/main" w="0">
            <a:solidFill>
              <a:srgbClr val="1B67B2"/>
            </a:solidFill>
            <a:prstDash val="solid"/>
          </a:ln>
        </p:spPr>
      </p:sp>
      <p:sp>
        <p:nvSpPr>
          <p:cNvPr id="124" name="conclusion-body">
            <a:extLst xmlns:a="http://schemas.openxmlformats.org/drawingml/2006/main">
              <a:ext uri="{FF2B5EF4-FFF2-40B4-BE49-F238E27FC236}">
                <a16:creationId xmlns:a16="http://schemas.microsoft.com/office/drawing/2014/main" id="{17C03D6A-7ABE-43A9-ABE7-097A4E40C9C7}"/>
              </a:ext>
            </a:extLst>
          </p:cNvPr>
          <p:cNvSpPr>
            <a:spLocks xmlns:a="http://schemas.openxmlformats.org/drawingml/2006/main" noGrp="1"/>
          </p:cNvSpPr>
          <p:nvPr/>
        </p:nvSpPr>
        <p:spPr>
          <a:xfrm xmlns:a="http://schemas.openxmlformats.org/drawingml/2006/main">
            <a:off x="1428750" y="36480750"/>
            <a:ext cx="9525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0">
                <a:solidFill>
                  <a:srgbClr val="14283C"/>
                </a:solidFill>
              </a:defRPr>
            </a:pPr>
            <a:r>
              <a:rPr sz="3000" b="0">
                <a:solidFill>
                  <a:srgbClr val="14283C"/>
                </a:solidFill>
              </a:rPr>
              <a:t>The multi-route hybrid design preserves speed and correctness by using deterministic paths first, semantic retrieval for unstructured knowledge, and local LLM assistance only when it adds value. Every answer remains constrained by evidence and final validation.</a:t>
            </a:r>
          </a:p>
        </p:txBody>
      </p:sp>
      <p:sp>
        <p:nvSpPr>
          <p:cNvPr id="125" name="future-work-text">
            <a:extLst xmlns:a="http://schemas.openxmlformats.org/drawingml/2006/main">
              <a:ext uri="{FF2B5EF4-FFF2-40B4-BE49-F238E27FC236}">
                <a16:creationId xmlns:a16="http://schemas.microsoft.com/office/drawing/2014/main" id="{2108A650-C0C9-478E-97D2-A8DA377B552A}"/>
              </a:ext>
            </a:extLst>
          </p:cNvPr>
          <p:cNvSpPr>
            <a:spLocks xmlns:a="http://schemas.openxmlformats.org/drawingml/2006/main" noGrp="1"/>
          </p:cNvSpPr>
          <p:nvPr/>
        </p:nvSpPr>
        <p:spPr>
          <a:xfrm xmlns:a="http://schemas.openxmlformats.org/drawingml/2006/main">
            <a:off x="11620500" y="35623500"/>
            <a:ext cx="8096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0A2342"/>
                </a:solidFill>
              </a:defRPr>
            </a:pPr>
            <a:r>
              <a:rPr sz="4350" b="1">
                <a:solidFill>
                  <a:srgbClr val="0A2342"/>
                </a:solidFill>
              </a:rPr>
              <a:t>Future Work</a:t>
            </a:r>
          </a:p>
        </p:txBody>
      </p:sp>
      <p:sp>
        <p:nvSpPr>
          <p:cNvPr id="126" name="future-work-line">
            <a:extLst xmlns:a="http://schemas.openxmlformats.org/drawingml/2006/main">
              <a:ext uri="{FF2B5EF4-FFF2-40B4-BE49-F238E27FC236}">
                <a16:creationId xmlns:a16="http://schemas.microsoft.com/office/drawing/2014/main" id="{D6DEA16D-DC26-4206-BEC5-6199F354FBC1}"/>
              </a:ext>
            </a:extLst>
          </p:cNvPr>
          <p:cNvSpPr>
            <a:spLocks xmlns:a="http://schemas.openxmlformats.org/drawingml/2006/main" noGrp="1"/>
          </p:cNvSpPr>
          <p:nvPr/>
        </p:nvSpPr>
        <p:spPr>
          <a:xfrm xmlns:a="http://schemas.openxmlformats.org/drawingml/2006/main">
            <a:off x="11620500" y="36290250"/>
            <a:ext cx="4762500" cy="76200"/>
          </a:xfrm>
          <a:prstGeom xmlns:a="http://schemas.openxmlformats.org/drawingml/2006/main" prst="rect">
            <a:avLst/>
          </a:prstGeom>
          <a:solidFill xmlns:a="http://schemas.openxmlformats.org/drawingml/2006/main">
            <a:srgbClr val="E86F22"/>
          </a:solidFill>
          <a:ln xmlns:a="http://schemas.openxmlformats.org/drawingml/2006/main" w="0">
            <a:solidFill>
              <a:srgbClr val="E86F22"/>
            </a:solidFill>
            <a:prstDash val="solid"/>
          </a:ln>
        </p:spPr>
      </p:sp>
      <p:sp>
        <p:nvSpPr>
          <p:cNvPr id="127" name="future-body">
            <a:extLst xmlns:a="http://schemas.openxmlformats.org/drawingml/2006/main">
              <a:ext uri="{FF2B5EF4-FFF2-40B4-BE49-F238E27FC236}">
                <a16:creationId xmlns:a16="http://schemas.microsoft.com/office/drawing/2014/main" id="{571321C2-E117-48B8-898A-0E9AF5039777}"/>
              </a:ext>
            </a:extLst>
          </p:cNvPr>
          <p:cNvSpPr>
            <a:spLocks xmlns:a="http://schemas.openxmlformats.org/drawingml/2006/main" noGrp="1"/>
          </p:cNvSpPr>
          <p:nvPr/>
        </p:nvSpPr>
        <p:spPr>
          <a:xfrm xmlns:a="http://schemas.openxmlformats.org/drawingml/2006/main">
            <a:off x="11620500" y="36480750"/>
            <a:ext cx="8572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0">
                <a:solidFill>
                  <a:srgbClr val="14283C"/>
                </a:solidFill>
              </a:defRPr>
            </a:pPr>
            <a:r>
              <a:rPr sz="3000" b="0">
                <a:solidFill>
                  <a:srgbClr val="14283C"/>
                </a:solidFill>
              </a:rPr>
              <a:t>• Reduce P95 below 10 seconds</a:t>
            </a:r>
          </a:p>
          <a:p xmlns:a="http://schemas.openxmlformats.org/drawingml/2006/main">
            <a:pPr algn="l">
              <a:defRPr sz="3000" b="0">
                <a:solidFill>
                  <a:srgbClr val="14283C"/>
                </a:solidFill>
              </a:defRPr>
            </a:pPr>
            <a:r>
              <a:rPr sz="3000" b="0">
                <a:solidFill>
                  <a:srgbClr val="14283C"/>
                </a:solidFill>
              </a:rPr>
              <a:t>• Run multi-user load and session-isolation tests</a:t>
            </a:r>
          </a:p>
          <a:p xmlns:a="http://schemas.openxmlformats.org/drawingml/2006/main">
            <a:pPr algn="l">
              <a:defRPr sz="3000" b="0">
                <a:solidFill>
                  <a:srgbClr val="14283C"/>
                </a:solidFill>
              </a:defRPr>
            </a:pPr>
            <a:r>
              <a:rPr sz="3000" b="0">
                <a:solidFill>
                  <a:srgbClr val="14283C"/>
                </a:solidFill>
              </a:rPr>
              <a:t>• Design a shared queue / worker layer</a:t>
            </a:r>
          </a:p>
          <a:p xmlns:a="http://schemas.openxmlformats.org/drawingml/2006/main">
            <a:pPr algn="l">
              <a:defRPr sz="3000" b="0">
                <a:solidFill>
                  <a:srgbClr val="14283C"/>
                </a:solidFill>
              </a:defRPr>
            </a:pPr>
            <a:r>
              <a:rPr sz="3000" b="0">
                <a:solidFill>
                  <a:srgbClr val="14283C"/>
                </a:solidFill>
              </a:rPr>
              <a:t>• Connect the WordPress slot API</a:t>
            </a:r>
          </a:p>
          <a:p xmlns:a="http://schemas.openxmlformats.org/drawingml/2006/main">
            <a:pPr algn="l">
              <a:defRPr sz="3000" b="0">
                <a:solidFill>
                  <a:srgbClr val="14283C"/>
                </a:solidFill>
              </a:defRPr>
            </a:pPr>
            <a:r>
              <a:rPr sz="3000" b="0">
                <a:solidFill>
                  <a:srgbClr val="14283C"/>
                </a:solidFill>
              </a:rPr>
              <a:t>• Add dual-publish admin content workflow</a:t>
            </a:r>
          </a:p>
        </p:txBody>
      </p:sp>
      <p:sp>
        <p:nvSpPr>
          <p:cNvPr id="128" name="references-text">
            <a:extLst xmlns:a="http://schemas.openxmlformats.org/drawingml/2006/main">
              <a:ext uri="{FF2B5EF4-FFF2-40B4-BE49-F238E27FC236}">
                <a16:creationId xmlns:a16="http://schemas.microsoft.com/office/drawing/2014/main" id="{1C1A61FF-2768-4572-AE4C-FD9923186C5E}"/>
              </a:ext>
            </a:extLst>
          </p:cNvPr>
          <p:cNvSpPr>
            <a:spLocks xmlns:a="http://schemas.openxmlformats.org/drawingml/2006/main" noGrp="1"/>
          </p:cNvSpPr>
          <p:nvPr/>
        </p:nvSpPr>
        <p:spPr>
          <a:xfrm xmlns:a="http://schemas.openxmlformats.org/drawingml/2006/main">
            <a:off x="20859750" y="35623500"/>
            <a:ext cx="7981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0A2342"/>
                </a:solidFill>
              </a:defRPr>
            </a:pPr>
            <a:r>
              <a:rPr sz="4350" b="1">
                <a:solidFill>
                  <a:srgbClr val="0A2342"/>
                </a:solidFill>
              </a:rPr>
              <a:t>References</a:t>
            </a:r>
          </a:p>
        </p:txBody>
      </p:sp>
      <p:sp>
        <p:nvSpPr>
          <p:cNvPr id="129" name="references-line">
            <a:extLst xmlns:a="http://schemas.openxmlformats.org/drawingml/2006/main">
              <a:ext uri="{FF2B5EF4-FFF2-40B4-BE49-F238E27FC236}">
                <a16:creationId xmlns:a16="http://schemas.microsoft.com/office/drawing/2014/main" id="{0477F3FE-B1C6-410A-9639-03082C63519D}"/>
              </a:ext>
            </a:extLst>
          </p:cNvPr>
          <p:cNvSpPr>
            <a:spLocks xmlns:a="http://schemas.openxmlformats.org/drawingml/2006/main" noGrp="1"/>
          </p:cNvSpPr>
          <p:nvPr/>
        </p:nvSpPr>
        <p:spPr>
          <a:xfrm xmlns:a="http://schemas.openxmlformats.org/drawingml/2006/main">
            <a:off x="20859750" y="36290250"/>
            <a:ext cx="4762500" cy="76200"/>
          </a:xfrm>
          <a:prstGeom xmlns:a="http://schemas.openxmlformats.org/drawingml/2006/main" prst="rect">
            <a:avLst/>
          </a:prstGeom>
          <a:solidFill xmlns:a="http://schemas.openxmlformats.org/drawingml/2006/main">
            <a:srgbClr val="6858B8"/>
          </a:solidFill>
          <a:ln xmlns:a="http://schemas.openxmlformats.org/drawingml/2006/main" w="0">
            <a:solidFill>
              <a:srgbClr val="6858B8"/>
            </a:solidFill>
            <a:prstDash val="solid"/>
          </a:ln>
        </p:spPr>
      </p:sp>
      <p:sp>
        <p:nvSpPr>
          <p:cNvPr id="130" name="references-body">
            <a:extLst xmlns:a="http://schemas.openxmlformats.org/drawingml/2006/main">
              <a:ext uri="{FF2B5EF4-FFF2-40B4-BE49-F238E27FC236}">
                <a16:creationId xmlns:a16="http://schemas.microsoft.com/office/drawing/2014/main" id="{FB9C8745-C82C-447E-862E-E3236B29A028}"/>
              </a:ext>
            </a:extLst>
          </p:cNvPr>
          <p:cNvSpPr>
            <a:spLocks xmlns:a="http://schemas.openxmlformats.org/drawingml/2006/main" noGrp="1"/>
          </p:cNvSpPr>
          <p:nvPr/>
        </p:nvSpPr>
        <p:spPr>
          <a:xfrm xmlns:a="http://schemas.openxmlformats.org/drawingml/2006/main">
            <a:off x="20859750" y="36480750"/>
            <a:ext cx="79819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0">
                <a:solidFill>
                  <a:srgbClr val="14283C"/>
                </a:solidFill>
              </a:defRPr>
            </a:pPr>
            <a:r>
              <a:rPr sz="2850" b="0">
                <a:solidFill>
                  <a:srgbClr val="14283C"/>
                </a:solidFill>
              </a:rPr>
              <a:t>[1] PSU Esports Studio - Phuket, official website.</a:t>
            </a:r>
          </a:p>
          <a:p xmlns:a="http://schemas.openxmlformats.org/drawingml/2006/main">
            <a:pPr algn="l">
              <a:defRPr sz="2850" b="0">
                <a:solidFill>
                  <a:srgbClr val="14283C"/>
                </a:solidFill>
              </a:defRPr>
            </a:pPr>
            <a:r>
              <a:rPr sz="2850" b="0">
                <a:solidFill>
                  <a:srgbClr val="14283C"/>
                </a:solidFill>
              </a:rPr>
              <a:t>[2] Typhoon AI, typhoon2.5-qwen3-4b model card.</a:t>
            </a:r>
          </a:p>
          <a:p xmlns:a="http://schemas.openxmlformats.org/drawingml/2006/main">
            <a:pPr algn="l">
              <a:defRPr sz="2850" b="0">
                <a:solidFill>
                  <a:srgbClr val="14283C"/>
                </a:solidFill>
              </a:defRPr>
            </a:pPr>
            <a:r>
              <a:rPr sz="2850" b="0">
                <a:solidFill>
                  <a:srgbClr val="14283C"/>
                </a:solidFill>
              </a:rPr>
              <a:t>[3] Chen et al., BGE M3-Embedding, arXiv:2402.03216.</a:t>
            </a:r>
          </a:p>
          <a:p xmlns:a="http://schemas.openxmlformats.org/drawingml/2006/main">
            <a:pPr algn="l">
              <a:defRPr sz="2850" b="0">
                <a:solidFill>
                  <a:srgbClr val="14283C"/>
                </a:solidFill>
              </a:defRPr>
            </a:pPr>
            <a:r>
              <a:rPr sz="2850" b="0">
                <a:solidFill>
                  <a:srgbClr val="14283C"/>
                </a:solidFill>
              </a:rPr>
              <a:t>[4] Project Flow 43 and evaluation logs, Aug 2026.</a:t>
            </a:r>
          </a:p>
        </p:txBody>
      </p:sp>
      <p:sp>
        <p:nvSpPr>
          <p:cNvPr id="131" name="scope-status">
            <a:extLst xmlns:a="http://schemas.openxmlformats.org/drawingml/2006/main">
              <a:ext uri="{FF2B5EF4-FFF2-40B4-BE49-F238E27FC236}">
                <a16:creationId xmlns:a16="http://schemas.microsoft.com/office/drawing/2014/main" id="{E828A14F-C444-4305-A1E2-E789B35A7EC9}"/>
              </a:ext>
            </a:extLst>
          </p:cNvPr>
          <p:cNvSpPr>
            <a:spLocks xmlns:a="http://schemas.openxmlformats.org/drawingml/2006/main" noGrp="1"/>
          </p:cNvSpPr>
          <p:nvPr/>
        </p:nvSpPr>
        <p:spPr>
          <a:xfrm xmlns:a="http://schemas.openxmlformats.org/drawingml/2006/main">
            <a:off x="20859750" y="38766750"/>
            <a:ext cx="7981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850" b="1">
                <a:solidFill>
                  <a:srgbClr val="C64758"/>
                </a:solidFill>
              </a:defRPr>
            </a:pPr>
            <a:r>
              <a:rPr sz="2850" b="1">
                <a:solidFill>
                  <a:srgbClr val="C64758"/>
                </a:solidFill>
              </a:rPr>
              <a:t>CURRENT SCOPE   FAQ ready  |  Check Slot awaiting WP API  |  Admin Input designed  |  Booking future</a:t>
            </a:r>
          </a:p>
        </p:txBody>
      </p:sp>
    </p:spTree>
    <p:extLst>
      <p:ext uri="{BB962C8B-B14F-4D97-AF65-F5344CB8AC3E}">
        <p14:creationId xmlns:p14="http://schemas.microsoft.com/office/powerpoint/2010/main" val="822557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2026-08-27T13:44:15.4840000Z</dcterms:created>
  <dcterms:modified xsi:type="dcterms:W3CDTF">2026-08-27T13:44:15.4840000Z</dcterms:modified>
</coreProperties>
</file>